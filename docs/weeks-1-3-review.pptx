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of a 90-day plan. Week 1: concepts and conventions. Week 2: the first two services. Week 3: the Order Service, cross-service calls and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the gateway, auth and observability are all later weeks. Weeks 1-3 built the three solid boxes and their three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tests = 24 user + 21 product + 70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summary: microservices trade code complexity for operational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 context from DDD. Each service has its own model of the world; the words mean slightly different things on either side of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Postgres containers in Compose, not three schemas in one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are in README.md under "Conventions shared by every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layering in three languages. Names differ, responsibilities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gives you generated OpenAPI docs for free at /docs. The layering is hand-made, which is why every folder has a single stated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Initializr sets the parent POM version so all starters agree. Flyway plus validate is the production-shaped choice; the User Service has not caught up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project referencing nothing is what lets the same rules be driven by a Kafka consumer in week 4 with no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can only keep one slide from week 2, keep this one: it is the Rosetta stone for the three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services show the same principle in two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uniform error envelope is what lets the gateway and the Angular app handle failures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Probes and config are the two things that decide whether the service can be operated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of the 70 tests are on the aggregate and the state machine, and they need no framework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explains why the rest of week 3 is about network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ordering: cheap checks and pure domain rules first, side effects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layers, outermost first. The innermost berry box is the actual network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slide from week 3 survives, it is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ExceptionHandlingMiddleware in the Api project is the single mapping point, so no endpoint invents its own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unverified Compose stack; it is the first thing to fix once Docker is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gaps is part of the exercise: an interim position you can describe is engineering, one you cannot is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four questions. Everything else in the deck is evidence for these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433"/>
        </a:solidFill>
      </p:bgPr>
    </p:bg>
    <p:spTree>
      <p:nvGrpSpPr>
        <p:cNvPr id="1" name=""/>
        <p:cNvGrpSpPr/>
        <p:nvPr/>
      </p:nvGrpSpPr>
      <p:grpSpPr>
        <a:xfrm>
          <a:off x="0" y="0"/>
          <a:ext cx="0" cy="0"/>
          <a:chOff x="0" y="0"/>
          <a:chExt cx="0" cy="0"/>
        </a:xfrm>
      </p:grpSpPr>
      <p:sp>
        <p:nvSpPr>
          <p:cNvPr id="2" name="Text 0"/>
          <p:cNvSpPr txBox="1"/>
          <p:nvPr/>
        </p:nvSpPr>
        <p:spPr>
          <a:xfrm>
            <a:off x="548640" y="1325880"/>
            <a:ext cx="11094415" cy="274320"/>
          </a:xfrm>
          <a:prstGeom prst="rect">
            <a:avLst/>
          </a:prstGeom>
          <a:noFill/>
          <a:ln/>
        </p:spPr>
        <p:txBody>
          <a:bodyPr wrap="square" lIns="0" tIns="0" rIns="0" bIns="0" rtlCol="0" anchor="t"/>
          <a:lstStyle/>
          <a:p>
            <a:pPr algn="l" indent="0" marL="0">
              <a:lnSpc>
                <a:spcPct val="112000"/>
              </a:lnSpc>
              <a:buNone/>
            </a:pPr>
            <a:r>
              <a:rPr lang="en-US" sz="1200" b="1" spc="300" kern="0" dirty="0">
                <a:solidFill>
                  <a:srgbClr val="7FD8B8"/>
                </a:solidFill>
                <a:latin typeface="Calibri" pitchFamily="34" charset="0"/>
                <a:ea typeface="Calibri" pitchFamily="34" charset="-122"/>
                <a:cs typeface="Calibri" pitchFamily="34" charset="-120"/>
              </a:rPr>
              <a:t>90-DAY PLAN   ·   WEEKS 1-3 REVIEW</a:t>
            </a:r>
            <a:endParaRPr lang="en-US" sz="1200" dirty="0"/>
          </a:p>
        </p:txBody>
      </p:sp>
      <p:sp>
        <p:nvSpPr>
          <p:cNvPr id="3" name="Text 1"/>
          <p:cNvSpPr txBox="1"/>
          <p:nvPr/>
        </p:nvSpPr>
        <p:spPr>
          <a:xfrm>
            <a:off x="548640" y="1691640"/>
            <a:ext cx="10058400" cy="868680"/>
          </a:xfrm>
          <a:prstGeom prst="rect">
            <a:avLst/>
          </a:prstGeom>
          <a:noFill/>
          <a:ln/>
        </p:spPr>
        <p:txBody>
          <a:bodyPr wrap="square" lIns="0" tIns="0" rIns="0" bIns="0" rtlCol="0" anchor="t"/>
          <a:lstStyle/>
          <a:p>
            <a:pPr algn="l" indent="0" marL="0">
              <a:lnSpc>
                <a:spcPct val="112000"/>
              </a:lnSpc>
              <a:buNone/>
            </a:pPr>
            <a:r>
              <a:rPr lang="en-US" sz="4400" b="1" dirty="0">
                <a:solidFill>
                  <a:srgbClr val="FFFFFF"/>
                </a:solidFill>
                <a:latin typeface="Cambria" pitchFamily="34" charset="0"/>
                <a:ea typeface="Cambria" pitchFamily="34" charset="-122"/>
                <a:cs typeface="Cambria" pitchFamily="34" charset="-120"/>
              </a:rPr>
              <a:t>Online Shop Microservices</a:t>
            </a:r>
            <a:endParaRPr lang="en-US" sz="4400" dirty="0"/>
          </a:p>
        </p:txBody>
      </p:sp>
      <p:sp>
        <p:nvSpPr>
          <p:cNvPr id="4" name="Text 2"/>
          <p:cNvSpPr txBox="1"/>
          <p:nvPr/>
        </p:nvSpPr>
        <p:spPr>
          <a:xfrm>
            <a:off x="548640" y="2633472"/>
            <a:ext cx="9144000" cy="822960"/>
          </a:xfrm>
          <a:prstGeom prst="rect">
            <a:avLst/>
          </a:prstGeom>
          <a:noFill/>
          <a:ln/>
        </p:spPr>
        <p:txBody>
          <a:bodyPr wrap="square" lIns="0" tIns="0" rIns="0" bIns="0" rtlCol="0" anchor="t"/>
          <a:lstStyle/>
          <a:p>
            <a:pPr algn="l" indent="0" marL="0">
              <a:lnSpc>
                <a:spcPct val="125000"/>
              </a:lnSpc>
              <a:buNone/>
            </a:pPr>
            <a:r>
              <a:rPr lang="en-US" sz="1700" i="1" dirty="0">
                <a:solidFill>
                  <a:srgbClr val="C7D2DE"/>
                </a:solidFill>
                <a:latin typeface="Calibri" pitchFamily="34" charset="0"/>
                <a:ea typeface="Calibri" pitchFamily="34" charset="-122"/>
                <a:cs typeface="Calibri" pitchFamily="34" charset="-120"/>
              </a:rPr>
              <a:t>Basic concepts, the shape of the repository, and how three services</a:t>
            </a:r>
            <a:endParaRPr lang="en-US" sz="1700" dirty="0"/>
          </a:p>
          <a:p>
            <a:pPr algn="l" indent="0" marL="0">
              <a:lnSpc>
                <a:spcPct val="125000"/>
              </a:lnSpc>
              <a:buNone/>
            </a:pPr>
            <a:r>
              <a:rPr lang="en-US" sz="1700" i="1" dirty="0">
                <a:solidFill>
                  <a:srgbClr val="C7D2DE"/>
                </a:solidFill>
                <a:latin typeface="Calibri" pitchFamily="34" charset="0"/>
                <a:ea typeface="Calibri" pitchFamily="34" charset="-122"/>
                <a:cs typeface="Calibri" pitchFamily="34" charset="-120"/>
              </a:rPr>
              <a:t>in three different stacks were initialised</a:t>
            </a:r>
            <a:endParaRPr lang="en-US" sz="1700" dirty="0"/>
          </a:p>
        </p:txBody>
      </p:sp>
      <p:sp>
        <p:nvSpPr>
          <p:cNvPr id="5" name="Shape 3"/>
          <p:cNvSpPr/>
          <p:nvPr/>
        </p:nvSpPr>
        <p:spPr>
          <a:xfrm>
            <a:off x="548640" y="3794760"/>
            <a:ext cx="3456432" cy="1417320"/>
          </a:xfrm>
          <a:prstGeom prst="roundRect">
            <a:avLst>
              <a:gd name="adj" fmla="val 4516"/>
            </a:avLst>
          </a:prstGeom>
          <a:solidFill>
            <a:srgbClr val="2A3442"/>
          </a:solidFill>
          <a:ln/>
        </p:spPr>
      </p:sp>
      <p:sp>
        <p:nvSpPr>
          <p:cNvPr id="6" name="Shape 4"/>
          <p:cNvSpPr/>
          <p:nvPr/>
        </p:nvSpPr>
        <p:spPr>
          <a:xfrm>
            <a:off x="804672" y="4059936"/>
            <a:ext cx="566928" cy="566928"/>
          </a:xfrm>
          <a:prstGeom prst="ellipse">
            <a:avLst/>
          </a:prstGeom>
          <a:solidFill>
            <a:srgbClr val="3FB3AC"/>
          </a:solidFill>
          <a:ln/>
        </p:spPr>
      </p:sp>
      <p:sp>
        <p:nvSpPr>
          <p:cNvPr id="7" name="Text 5"/>
          <p:cNvSpPr txBox="1"/>
          <p:nvPr/>
        </p:nvSpPr>
        <p:spPr>
          <a:xfrm>
            <a:off x="804672" y="4059936"/>
            <a:ext cx="566928" cy="566928"/>
          </a:xfrm>
          <a:prstGeom prst="rect">
            <a:avLst/>
          </a:prstGeom>
          <a:noFill/>
          <a:ln/>
        </p:spPr>
        <p:txBody>
          <a:bodyPr wrap="square" lIns="0" tIns="0" rIns="0" bIns="0" rtlCol="0" anchor="ctr"/>
          <a:lstStyle/>
          <a:p>
            <a:pPr algn="ctr" indent="0" marL="0">
              <a:buNone/>
            </a:pPr>
            <a:r>
              <a:rPr lang="en-US" sz="1500" b="1" dirty="0">
                <a:solidFill>
                  <a:srgbClr val="1D2433"/>
                </a:solidFill>
                <a:latin typeface="Calibri" pitchFamily="34" charset="0"/>
                <a:ea typeface="Calibri" pitchFamily="34" charset="-122"/>
                <a:cs typeface="Calibri" pitchFamily="34" charset="-120"/>
              </a:rPr>
              <a:t>Py</a:t>
            </a:r>
            <a:endParaRPr lang="en-US" sz="1500" dirty="0"/>
          </a:p>
        </p:txBody>
      </p:sp>
      <p:sp>
        <p:nvSpPr>
          <p:cNvPr id="8" name="Text 6"/>
          <p:cNvSpPr txBox="1"/>
          <p:nvPr/>
        </p:nvSpPr>
        <p:spPr>
          <a:xfrm>
            <a:off x="1517904" y="4078224"/>
            <a:ext cx="2267712" cy="274320"/>
          </a:xfrm>
          <a:prstGeom prst="rect">
            <a:avLst/>
          </a:prstGeom>
          <a:noFill/>
          <a:ln/>
        </p:spPr>
        <p:txBody>
          <a:bodyPr wrap="square" lIns="0" tIns="0" rIns="0" bIns="0" rtlCol="0" anchor="t"/>
          <a:lstStyle/>
          <a:p>
            <a:pPr algn="l" indent="0" marL="0">
              <a:lnSpc>
                <a:spcPct val="112000"/>
              </a:lnSpc>
              <a:buNone/>
            </a:pPr>
            <a:r>
              <a:rPr lang="en-US" sz="1550" b="1" dirty="0">
                <a:solidFill>
                  <a:srgbClr val="FFFFFF"/>
                </a:solidFill>
                <a:latin typeface="Calibri" pitchFamily="34" charset="0"/>
                <a:ea typeface="Calibri" pitchFamily="34" charset="-122"/>
                <a:cs typeface="Calibri" pitchFamily="34" charset="-120"/>
              </a:rPr>
              <a:t>User Service</a:t>
            </a:r>
            <a:endParaRPr lang="en-US" sz="1550" dirty="0"/>
          </a:p>
        </p:txBody>
      </p:sp>
      <p:sp>
        <p:nvSpPr>
          <p:cNvPr id="9" name="Text 7"/>
          <p:cNvSpPr txBox="1"/>
          <p:nvPr/>
        </p:nvSpPr>
        <p:spPr>
          <a:xfrm>
            <a:off x="1517904" y="4370832"/>
            <a:ext cx="2267712" cy="256032"/>
          </a:xfrm>
          <a:prstGeom prst="rect">
            <a:avLst/>
          </a:prstGeom>
          <a:noFill/>
          <a:ln/>
        </p:spPr>
        <p:txBody>
          <a:bodyPr wrap="square" lIns="0" tIns="0" rIns="0" bIns="0" rtlCol="0" anchor="t"/>
          <a:lstStyle/>
          <a:p>
            <a:pPr algn="l" indent="0" marL="0">
              <a:lnSpc>
                <a:spcPct val="112000"/>
              </a:lnSpc>
              <a:buNone/>
            </a:pPr>
            <a:r>
              <a:rPr lang="en-US" sz="1150" dirty="0">
                <a:solidFill>
                  <a:srgbClr val="9FB0C1"/>
                </a:solidFill>
                <a:latin typeface="Calibri" pitchFamily="34" charset="0"/>
                <a:ea typeface="Calibri" pitchFamily="34" charset="-122"/>
                <a:cs typeface="Calibri" pitchFamily="34" charset="-120"/>
              </a:rPr>
              <a:t>FastAPI  ·  Python 3</a:t>
            </a:r>
            <a:endParaRPr lang="en-US" sz="1150" dirty="0"/>
          </a:p>
        </p:txBody>
      </p:sp>
      <p:sp>
        <p:nvSpPr>
          <p:cNvPr id="10" name="Text 8"/>
          <p:cNvSpPr txBox="1"/>
          <p:nvPr/>
        </p:nvSpPr>
        <p:spPr>
          <a:xfrm>
            <a:off x="804672" y="4791456"/>
            <a:ext cx="2944368" cy="274320"/>
          </a:xfrm>
          <a:prstGeom prst="rect">
            <a:avLst/>
          </a:prstGeom>
          <a:noFill/>
          <a:ln/>
        </p:spPr>
        <p:txBody>
          <a:bodyPr wrap="square" lIns="0" tIns="0" rIns="0" bIns="0" rtlCol="0" anchor="t"/>
          <a:lstStyle/>
          <a:p>
            <a:pPr algn="l" indent="0" marL="0">
              <a:lnSpc>
                <a:spcPct val="112000"/>
              </a:lnSpc>
              <a:buNone/>
            </a:pPr>
            <a:r>
              <a:rPr lang="en-US" sz="1150" dirty="0">
                <a:solidFill>
                  <a:srgbClr val="3FB3AC"/>
                </a:solidFill>
                <a:latin typeface="Calibri" pitchFamily="34" charset="0"/>
                <a:ea typeface="Calibri" pitchFamily="34" charset="-122"/>
                <a:cs typeface="Calibri" pitchFamily="34" charset="-120"/>
              </a:rPr>
              <a:t>24 tests  ·  port 8000</a:t>
            </a:r>
            <a:endParaRPr lang="en-US" sz="1150" dirty="0"/>
          </a:p>
        </p:txBody>
      </p:sp>
      <p:sp>
        <p:nvSpPr>
          <p:cNvPr id="11" name="Shape 9"/>
          <p:cNvSpPr/>
          <p:nvPr/>
        </p:nvSpPr>
        <p:spPr>
          <a:xfrm>
            <a:off x="4370832" y="3794760"/>
            <a:ext cx="3456432" cy="1417320"/>
          </a:xfrm>
          <a:prstGeom prst="roundRect">
            <a:avLst>
              <a:gd name="adj" fmla="val 4516"/>
            </a:avLst>
          </a:prstGeom>
          <a:solidFill>
            <a:srgbClr val="2A3442"/>
          </a:solidFill>
          <a:ln/>
        </p:spPr>
      </p:sp>
      <p:sp>
        <p:nvSpPr>
          <p:cNvPr id="12" name="Shape 10"/>
          <p:cNvSpPr/>
          <p:nvPr/>
        </p:nvSpPr>
        <p:spPr>
          <a:xfrm>
            <a:off x="4626864" y="4059936"/>
            <a:ext cx="566928" cy="566928"/>
          </a:xfrm>
          <a:prstGeom prst="ellipse">
            <a:avLst/>
          </a:prstGeom>
          <a:solidFill>
            <a:srgbClr val="8FB861"/>
          </a:solidFill>
          <a:ln/>
        </p:spPr>
      </p:sp>
      <p:sp>
        <p:nvSpPr>
          <p:cNvPr id="13" name="Text 11"/>
          <p:cNvSpPr txBox="1"/>
          <p:nvPr/>
        </p:nvSpPr>
        <p:spPr>
          <a:xfrm>
            <a:off x="4626864" y="4059936"/>
            <a:ext cx="566928" cy="566928"/>
          </a:xfrm>
          <a:prstGeom prst="rect">
            <a:avLst/>
          </a:prstGeom>
          <a:noFill/>
          <a:ln/>
        </p:spPr>
        <p:txBody>
          <a:bodyPr wrap="square" lIns="0" tIns="0" rIns="0" bIns="0" rtlCol="0" anchor="ctr"/>
          <a:lstStyle/>
          <a:p>
            <a:pPr algn="ctr" indent="0" marL="0">
              <a:buNone/>
            </a:pPr>
            <a:r>
              <a:rPr lang="en-US" sz="1500" b="1" dirty="0">
                <a:solidFill>
                  <a:srgbClr val="1D2433"/>
                </a:solidFill>
                <a:latin typeface="Calibri" pitchFamily="34" charset="0"/>
                <a:ea typeface="Calibri" pitchFamily="34" charset="-122"/>
                <a:cs typeface="Calibri" pitchFamily="34" charset="-120"/>
              </a:rPr>
              <a:t>Jv</a:t>
            </a:r>
            <a:endParaRPr lang="en-US" sz="1500" dirty="0"/>
          </a:p>
        </p:txBody>
      </p:sp>
      <p:sp>
        <p:nvSpPr>
          <p:cNvPr id="14" name="Text 12"/>
          <p:cNvSpPr txBox="1"/>
          <p:nvPr/>
        </p:nvSpPr>
        <p:spPr>
          <a:xfrm>
            <a:off x="5340096" y="4078224"/>
            <a:ext cx="2267712" cy="274320"/>
          </a:xfrm>
          <a:prstGeom prst="rect">
            <a:avLst/>
          </a:prstGeom>
          <a:noFill/>
          <a:ln/>
        </p:spPr>
        <p:txBody>
          <a:bodyPr wrap="square" lIns="0" tIns="0" rIns="0" bIns="0" rtlCol="0" anchor="t"/>
          <a:lstStyle/>
          <a:p>
            <a:pPr algn="l" indent="0" marL="0">
              <a:lnSpc>
                <a:spcPct val="112000"/>
              </a:lnSpc>
              <a:buNone/>
            </a:pPr>
            <a:r>
              <a:rPr lang="en-US" sz="1550" b="1" dirty="0">
                <a:solidFill>
                  <a:srgbClr val="FFFFFF"/>
                </a:solidFill>
                <a:latin typeface="Calibri" pitchFamily="34" charset="0"/>
                <a:ea typeface="Calibri" pitchFamily="34" charset="-122"/>
                <a:cs typeface="Calibri" pitchFamily="34" charset="-120"/>
              </a:rPr>
              <a:t>Product Service</a:t>
            </a:r>
            <a:endParaRPr lang="en-US" sz="1550" dirty="0"/>
          </a:p>
        </p:txBody>
      </p:sp>
      <p:sp>
        <p:nvSpPr>
          <p:cNvPr id="15" name="Text 13"/>
          <p:cNvSpPr txBox="1"/>
          <p:nvPr/>
        </p:nvSpPr>
        <p:spPr>
          <a:xfrm>
            <a:off x="5340096" y="4370832"/>
            <a:ext cx="2267712" cy="256032"/>
          </a:xfrm>
          <a:prstGeom prst="rect">
            <a:avLst/>
          </a:prstGeom>
          <a:noFill/>
          <a:ln/>
        </p:spPr>
        <p:txBody>
          <a:bodyPr wrap="square" lIns="0" tIns="0" rIns="0" bIns="0" rtlCol="0" anchor="t"/>
          <a:lstStyle/>
          <a:p>
            <a:pPr algn="l" indent="0" marL="0">
              <a:lnSpc>
                <a:spcPct val="112000"/>
              </a:lnSpc>
              <a:buNone/>
            </a:pPr>
            <a:r>
              <a:rPr lang="en-US" sz="1150" dirty="0">
                <a:solidFill>
                  <a:srgbClr val="9FB0C1"/>
                </a:solidFill>
                <a:latin typeface="Calibri" pitchFamily="34" charset="0"/>
                <a:ea typeface="Calibri" pitchFamily="34" charset="-122"/>
                <a:cs typeface="Calibri" pitchFamily="34" charset="-120"/>
              </a:rPr>
              <a:t>Spring Boot 3  ·  Java 21</a:t>
            </a:r>
            <a:endParaRPr lang="en-US" sz="1150" dirty="0"/>
          </a:p>
        </p:txBody>
      </p:sp>
      <p:sp>
        <p:nvSpPr>
          <p:cNvPr id="16" name="Text 14"/>
          <p:cNvSpPr txBox="1"/>
          <p:nvPr/>
        </p:nvSpPr>
        <p:spPr>
          <a:xfrm>
            <a:off x="4626864" y="4791456"/>
            <a:ext cx="2944368" cy="274320"/>
          </a:xfrm>
          <a:prstGeom prst="rect">
            <a:avLst/>
          </a:prstGeom>
          <a:noFill/>
          <a:ln/>
        </p:spPr>
        <p:txBody>
          <a:bodyPr wrap="square" lIns="0" tIns="0" rIns="0" bIns="0" rtlCol="0" anchor="t"/>
          <a:lstStyle/>
          <a:p>
            <a:pPr algn="l" indent="0" marL="0">
              <a:lnSpc>
                <a:spcPct val="112000"/>
              </a:lnSpc>
              <a:buNone/>
            </a:pPr>
            <a:r>
              <a:rPr lang="en-US" sz="1150" dirty="0">
                <a:solidFill>
                  <a:srgbClr val="8FB861"/>
                </a:solidFill>
                <a:latin typeface="Calibri" pitchFamily="34" charset="0"/>
                <a:ea typeface="Calibri" pitchFamily="34" charset="-122"/>
                <a:cs typeface="Calibri" pitchFamily="34" charset="-120"/>
              </a:rPr>
              <a:t>21 tests  ·  port 8081</a:t>
            </a:r>
            <a:endParaRPr lang="en-US" sz="1150" dirty="0"/>
          </a:p>
        </p:txBody>
      </p:sp>
      <p:sp>
        <p:nvSpPr>
          <p:cNvPr id="17" name="Shape 15"/>
          <p:cNvSpPr/>
          <p:nvPr/>
        </p:nvSpPr>
        <p:spPr>
          <a:xfrm>
            <a:off x="8193024" y="3794760"/>
            <a:ext cx="3456432" cy="1417320"/>
          </a:xfrm>
          <a:prstGeom prst="roundRect">
            <a:avLst>
              <a:gd name="adj" fmla="val 4516"/>
            </a:avLst>
          </a:prstGeom>
          <a:solidFill>
            <a:srgbClr val="2A3442"/>
          </a:solidFill>
          <a:ln/>
        </p:spPr>
      </p:sp>
      <p:sp>
        <p:nvSpPr>
          <p:cNvPr id="18" name="Shape 16"/>
          <p:cNvSpPr/>
          <p:nvPr/>
        </p:nvSpPr>
        <p:spPr>
          <a:xfrm>
            <a:off x="8449056" y="4059936"/>
            <a:ext cx="566928" cy="566928"/>
          </a:xfrm>
          <a:prstGeom prst="ellipse">
            <a:avLst/>
          </a:prstGeom>
          <a:solidFill>
            <a:srgbClr val="C98A9B"/>
          </a:solidFill>
          <a:ln/>
        </p:spPr>
      </p:sp>
      <p:sp>
        <p:nvSpPr>
          <p:cNvPr id="19" name="Text 17"/>
          <p:cNvSpPr txBox="1"/>
          <p:nvPr/>
        </p:nvSpPr>
        <p:spPr>
          <a:xfrm>
            <a:off x="8449056" y="4059936"/>
            <a:ext cx="566928" cy="566928"/>
          </a:xfrm>
          <a:prstGeom prst="rect">
            <a:avLst/>
          </a:prstGeom>
          <a:noFill/>
          <a:ln/>
        </p:spPr>
        <p:txBody>
          <a:bodyPr wrap="square" lIns="0" tIns="0" rIns="0" bIns="0" rtlCol="0" anchor="ctr"/>
          <a:lstStyle/>
          <a:p>
            <a:pPr algn="ctr" indent="0" marL="0">
              <a:buNone/>
            </a:pPr>
            <a:r>
              <a:rPr lang="en-US" sz="1500" b="1" dirty="0">
                <a:solidFill>
                  <a:srgbClr val="1D2433"/>
                </a:solidFill>
                <a:latin typeface="Calibri" pitchFamily="34" charset="0"/>
                <a:ea typeface="Calibri" pitchFamily="34" charset="-122"/>
                <a:cs typeface="Calibri" pitchFamily="34" charset="-120"/>
              </a:rPr>
              <a:t>C#</a:t>
            </a:r>
            <a:endParaRPr lang="en-US" sz="1500" dirty="0"/>
          </a:p>
        </p:txBody>
      </p:sp>
      <p:sp>
        <p:nvSpPr>
          <p:cNvPr id="20" name="Text 18"/>
          <p:cNvSpPr txBox="1"/>
          <p:nvPr/>
        </p:nvSpPr>
        <p:spPr>
          <a:xfrm>
            <a:off x="9162288" y="4078224"/>
            <a:ext cx="2267712" cy="274320"/>
          </a:xfrm>
          <a:prstGeom prst="rect">
            <a:avLst/>
          </a:prstGeom>
          <a:noFill/>
          <a:ln/>
        </p:spPr>
        <p:txBody>
          <a:bodyPr wrap="square" lIns="0" tIns="0" rIns="0" bIns="0" rtlCol="0" anchor="t"/>
          <a:lstStyle/>
          <a:p>
            <a:pPr algn="l" indent="0" marL="0">
              <a:lnSpc>
                <a:spcPct val="112000"/>
              </a:lnSpc>
              <a:buNone/>
            </a:pPr>
            <a:r>
              <a:rPr lang="en-US" sz="1550" b="1" dirty="0">
                <a:solidFill>
                  <a:srgbClr val="FFFFFF"/>
                </a:solidFill>
                <a:latin typeface="Calibri" pitchFamily="34" charset="0"/>
                <a:ea typeface="Calibri" pitchFamily="34" charset="-122"/>
                <a:cs typeface="Calibri" pitchFamily="34" charset="-120"/>
              </a:rPr>
              <a:t>Order Service</a:t>
            </a:r>
            <a:endParaRPr lang="en-US" sz="1550" dirty="0"/>
          </a:p>
        </p:txBody>
      </p:sp>
      <p:sp>
        <p:nvSpPr>
          <p:cNvPr id="21" name="Text 19"/>
          <p:cNvSpPr txBox="1"/>
          <p:nvPr/>
        </p:nvSpPr>
        <p:spPr>
          <a:xfrm>
            <a:off x="9162288" y="4370832"/>
            <a:ext cx="2267712" cy="256032"/>
          </a:xfrm>
          <a:prstGeom prst="rect">
            <a:avLst/>
          </a:prstGeom>
          <a:noFill/>
          <a:ln/>
        </p:spPr>
        <p:txBody>
          <a:bodyPr wrap="square" lIns="0" tIns="0" rIns="0" bIns="0" rtlCol="0" anchor="t"/>
          <a:lstStyle/>
          <a:p>
            <a:pPr algn="l" indent="0" marL="0">
              <a:lnSpc>
                <a:spcPct val="112000"/>
              </a:lnSpc>
              <a:buNone/>
            </a:pPr>
            <a:r>
              <a:rPr lang="en-US" sz="1150" dirty="0">
                <a:solidFill>
                  <a:srgbClr val="9FB0C1"/>
                </a:solidFill>
                <a:latin typeface="Calibri" pitchFamily="34" charset="0"/>
                <a:ea typeface="Calibri" pitchFamily="34" charset="-122"/>
                <a:cs typeface="Calibri" pitchFamily="34" charset="-120"/>
              </a:rPr>
              <a:t>.NET 8  ·  C#</a:t>
            </a:r>
            <a:endParaRPr lang="en-US" sz="1150" dirty="0"/>
          </a:p>
        </p:txBody>
      </p:sp>
      <p:sp>
        <p:nvSpPr>
          <p:cNvPr id="22" name="Text 20"/>
          <p:cNvSpPr txBox="1"/>
          <p:nvPr/>
        </p:nvSpPr>
        <p:spPr>
          <a:xfrm>
            <a:off x="8449056" y="4791456"/>
            <a:ext cx="2944368" cy="274320"/>
          </a:xfrm>
          <a:prstGeom prst="rect">
            <a:avLst/>
          </a:prstGeom>
          <a:noFill/>
          <a:ln/>
        </p:spPr>
        <p:txBody>
          <a:bodyPr wrap="square" lIns="0" tIns="0" rIns="0" bIns="0" rtlCol="0" anchor="t"/>
          <a:lstStyle/>
          <a:p>
            <a:pPr algn="l" indent="0" marL="0">
              <a:lnSpc>
                <a:spcPct val="112000"/>
              </a:lnSpc>
              <a:buNone/>
            </a:pPr>
            <a:r>
              <a:rPr lang="en-US" sz="1150" dirty="0">
                <a:solidFill>
                  <a:srgbClr val="C98A9B"/>
                </a:solidFill>
                <a:latin typeface="Calibri" pitchFamily="34" charset="0"/>
                <a:ea typeface="Calibri" pitchFamily="34" charset="-122"/>
                <a:cs typeface="Calibri" pitchFamily="34" charset="-120"/>
              </a:rPr>
              <a:t>70 tests  ·  port 8082</a:t>
            </a:r>
            <a:endParaRPr lang="en-US" sz="1150" dirty="0"/>
          </a:p>
        </p:txBody>
      </p:sp>
      <p:sp>
        <p:nvSpPr>
          <p:cNvPr id="23" name="Text 21"/>
          <p:cNvSpPr txBox="1"/>
          <p:nvPr/>
        </p:nvSpPr>
        <p:spPr>
          <a:xfrm>
            <a:off x="548640" y="5715000"/>
            <a:ext cx="11094415" cy="274320"/>
          </a:xfrm>
          <a:prstGeom prst="rect">
            <a:avLst/>
          </a:prstGeom>
          <a:noFill/>
          <a:ln/>
        </p:spPr>
        <p:txBody>
          <a:bodyPr wrap="square" lIns="0" tIns="0" rIns="0" bIns="0" rtlCol="0" anchor="t"/>
          <a:lstStyle/>
          <a:p>
            <a:pPr algn="l" indent="0" marL="0">
              <a:lnSpc>
                <a:spcPct val="112000"/>
              </a:lnSpc>
              <a:buNone/>
            </a:pPr>
            <a:r>
              <a:rPr lang="en-US" sz="1150" dirty="0">
                <a:solidFill>
                  <a:srgbClr val="8494A5"/>
                </a:solidFill>
                <a:latin typeface="Calibri" pitchFamily="34" charset="0"/>
                <a:ea typeface="Calibri" pitchFamily="34" charset="-122"/>
                <a:cs typeface="Calibri" pitchFamily="34" charset="-120"/>
              </a:rPr>
              <a:t>3 services   ·   3 PostgreSQL databases   ·   115 tests passing   ·   Docker Compose stack   ·   branch  week3</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TARGET ARCHITECTURE</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What the platform looks like end to end</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Solid = built in weeks 1-3.   Dashed = scheduled for weeks 4-12.</a:t>
            </a:r>
            <a:endParaRPr lang="en-US" sz="1350" dirty="0"/>
          </a:p>
        </p:txBody>
      </p:sp>
      <p:sp>
        <p:nvSpPr>
          <p:cNvPr id="5" name="Shape 3"/>
          <p:cNvSpPr/>
          <p:nvPr/>
        </p:nvSpPr>
        <p:spPr>
          <a:xfrm>
            <a:off x="4078224" y="1600200"/>
            <a:ext cx="4023360" cy="420624"/>
          </a:xfrm>
          <a:prstGeom prst="roundRect">
            <a:avLst>
              <a:gd name="adj" fmla="val 15217"/>
            </a:avLst>
          </a:prstGeom>
          <a:solidFill>
            <a:srgbClr val="FFFFFF"/>
          </a:solidFill>
          <a:ln w="12700">
            <a:solidFill>
              <a:srgbClr val="D5DDE5"/>
            </a:solidFill>
            <a:prstDash val="dash"/>
          </a:ln>
        </p:spPr>
      </p:sp>
      <p:sp>
        <p:nvSpPr>
          <p:cNvPr id="6" name="Text 4"/>
          <p:cNvSpPr txBox="1"/>
          <p:nvPr/>
        </p:nvSpPr>
        <p:spPr>
          <a:xfrm>
            <a:off x="4078224" y="1600200"/>
            <a:ext cx="4023360" cy="420624"/>
          </a:xfrm>
          <a:prstGeom prst="rect">
            <a:avLst/>
          </a:prstGeom>
          <a:noFill/>
          <a:ln/>
        </p:spPr>
        <p:txBody>
          <a:bodyPr wrap="square" lIns="0" tIns="0" rIns="0" bIns="0" rtlCol="0" anchor="ctr"/>
          <a:lstStyle/>
          <a:p>
            <a:pPr algn="ctr" indent="0" marL="0">
              <a:lnSpc>
                <a:spcPct val="112000"/>
              </a:lnSpc>
              <a:buNone/>
            </a:pPr>
            <a:r>
              <a:rPr lang="en-US" sz="1200" dirty="0">
                <a:solidFill>
                  <a:srgbClr val="6B7A8D"/>
                </a:solidFill>
                <a:latin typeface="Calibri" pitchFamily="34" charset="0"/>
                <a:ea typeface="Calibri" pitchFamily="34" charset="-122"/>
                <a:cs typeface="Calibri" pitchFamily="34" charset="-120"/>
              </a:rPr>
              <a:t>Angular frontend   (week 12)</a:t>
            </a:r>
            <a:endParaRPr lang="en-US" sz="1200" dirty="0"/>
          </a:p>
        </p:txBody>
      </p:sp>
      <p:sp>
        <p:nvSpPr>
          <p:cNvPr id="7" name="Shape 5"/>
          <p:cNvSpPr/>
          <p:nvPr/>
        </p:nvSpPr>
        <p:spPr>
          <a:xfrm>
            <a:off x="6089904" y="2020824"/>
            <a:ext cx="0" cy="219456"/>
          </a:xfrm>
          <a:prstGeom prst="line">
            <a:avLst/>
          </a:prstGeom>
          <a:noFill/>
          <a:ln w="15875">
            <a:solidFill>
              <a:srgbClr val="D5DDE5"/>
            </a:solidFill>
            <a:prstDash val="solid"/>
          </a:ln>
        </p:spPr>
      </p:sp>
      <p:sp>
        <p:nvSpPr>
          <p:cNvPr id="8" name="Shape 6"/>
          <p:cNvSpPr/>
          <p:nvPr/>
        </p:nvSpPr>
        <p:spPr>
          <a:xfrm>
            <a:off x="4078224" y="2240280"/>
            <a:ext cx="4023360" cy="420624"/>
          </a:xfrm>
          <a:prstGeom prst="roundRect">
            <a:avLst>
              <a:gd name="adj" fmla="val 15217"/>
            </a:avLst>
          </a:prstGeom>
          <a:solidFill>
            <a:srgbClr val="FFFFFF"/>
          </a:solidFill>
          <a:ln w="12700">
            <a:solidFill>
              <a:srgbClr val="D5DDE5"/>
            </a:solidFill>
            <a:prstDash val="dash"/>
          </a:ln>
        </p:spPr>
      </p:sp>
      <p:sp>
        <p:nvSpPr>
          <p:cNvPr id="9" name="Text 7"/>
          <p:cNvSpPr txBox="1"/>
          <p:nvPr/>
        </p:nvSpPr>
        <p:spPr>
          <a:xfrm>
            <a:off x="4078224" y="2240280"/>
            <a:ext cx="4023360" cy="420624"/>
          </a:xfrm>
          <a:prstGeom prst="rect">
            <a:avLst/>
          </a:prstGeom>
          <a:noFill/>
          <a:ln/>
        </p:spPr>
        <p:txBody>
          <a:bodyPr wrap="square" lIns="0" tIns="0" rIns="0" bIns="0" rtlCol="0" anchor="ctr"/>
          <a:lstStyle/>
          <a:p>
            <a:pPr algn="ctr" indent="0" marL="0">
              <a:lnSpc>
                <a:spcPct val="112000"/>
              </a:lnSpc>
              <a:buNone/>
            </a:pPr>
            <a:r>
              <a:rPr lang="en-US" sz="1200" dirty="0">
                <a:solidFill>
                  <a:srgbClr val="6B7A8D"/>
                </a:solidFill>
                <a:latin typeface="Calibri" pitchFamily="34" charset="0"/>
                <a:ea typeface="Calibri" pitchFamily="34" charset="-122"/>
                <a:cs typeface="Calibri" pitchFamily="34" charset="-120"/>
              </a:rPr>
              <a:t>API Gateway   (week 5)</a:t>
            </a:r>
            <a:endParaRPr lang="en-US" sz="1200" dirty="0"/>
          </a:p>
        </p:txBody>
      </p:sp>
      <p:sp>
        <p:nvSpPr>
          <p:cNvPr id="10" name="Shape 8"/>
          <p:cNvSpPr/>
          <p:nvPr/>
        </p:nvSpPr>
        <p:spPr>
          <a:xfrm>
            <a:off x="6089904" y="2660904"/>
            <a:ext cx="0" cy="219456"/>
          </a:xfrm>
          <a:prstGeom prst="line">
            <a:avLst/>
          </a:prstGeom>
          <a:noFill/>
          <a:ln w="15875">
            <a:solidFill>
              <a:srgbClr val="D5DDE5"/>
            </a:solidFill>
            <a:prstDash val="solid"/>
          </a:ln>
        </p:spPr>
      </p:sp>
      <p:sp>
        <p:nvSpPr>
          <p:cNvPr id="11" name="Shape 9"/>
          <p:cNvSpPr/>
          <p:nvPr/>
        </p:nvSpPr>
        <p:spPr>
          <a:xfrm>
            <a:off x="1554480" y="2880360"/>
            <a:ext cx="9070848" cy="0"/>
          </a:xfrm>
          <a:prstGeom prst="line">
            <a:avLst/>
          </a:prstGeom>
          <a:noFill/>
          <a:ln w="15875">
            <a:solidFill>
              <a:srgbClr val="D5DDE5"/>
            </a:solidFill>
            <a:prstDash val="solid"/>
          </a:ln>
        </p:spPr>
      </p:sp>
      <p:sp>
        <p:nvSpPr>
          <p:cNvPr id="12" name="Shape 10"/>
          <p:cNvSpPr/>
          <p:nvPr/>
        </p:nvSpPr>
        <p:spPr>
          <a:xfrm>
            <a:off x="1554480" y="2880360"/>
            <a:ext cx="0" cy="182880"/>
          </a:xfrm>
          <a:prstGeom prst="line">
            <a:avLst/>
          </a:prstGeom>
          <a:noFill/>
          <a:ln w="15875">
            <a:solidFill>
              <a:srgbClr val="D5DDE5"/>
            </a:solidFill>
            <a:prstDash val="solid"/>
          </a:ln>
        </p:spPr>
      </p:sp>
      <p:sp>
        <p:nvSpPr>
          <p:cNvPr id="13" name="Shape 11"/>
          <p:cNvSpPr/>
          <p:nvPr/>
        </p:nvSpPr>
        <p:spPr>
          <a:xfrm>
            <a:off x="548640" y="3063240"/>
            <a:ext cx="2011680" cy="841248"/>
          </a:xfrm>
          <a:prstGeom prst="roundRect">
            <a:avLst>
              <a:gd name="adj" fmla="val 7609"/>
            </a:avLst>
          </a:prstGeom>
          <a:solidFill>
            <a:srgbClr val="E6F1F2"/>
          </a:solidFill>
          <a:ln/>
        </p:spPr>
      </p:sp>
      <p:sp>
        <p:nvSpPr>
          <p:cNvPr id="14" name="Text 12"/>
          <p:cNvSpPr txBox="1"/>
          <p:nvPr/>
        </p:nvSpPr>
        <p:spPr>
          <a:xfrm>
            <a:off x="548640" y="3191256"/>
            <a:ext cx="2011680" cy="256032"/>
          </a:xfrm>
          <a:prstGeom prst="rect">
            <a:avLst/>
          </a:prstGeom>
          <a:noFill/>
          <a:ln/>
        </p:spPr>
        <p:txBody>
          <a:bodyPr wrap="square" lIns="0" tIns="0" rIns="0" bIns="0" rtlCol="0" anchor="t"/>
          <a:lstStyle/>
          <a:p>
            <a:pPr algn="ctr" indent="0" marL="0">
              <a:lnSpc>
                <a:spcPct val="112000"/>
              </a:lnSpc>
              <a:buNone/>
            </a:pPr>
            <a:r>
              <a:rPr lang="en-US" sz="1450" b="1" dirty="0">
                <a:solidFill>
                  <a:srgbClr val="028090"/>
                </a:solidFill>
                <a:latin typeface="Calibri" pitchFamily="34" charset="0"/>
                <a:ea typeface="Calibri" pitchFamily="34" charset="-122"/>
                <a:cs typeface="Calibri" pitchFamily="34" charset="-120"/>
              </a:rPr>
              <a:t>User</a:t>
            </a:r>
            <a:endParaRPr lang="en-US" sz="1450" dirty="0"/>
          </a:p>
        </p:txBody>
      </p:sp>
      <p:sp>
        <p:nvSpPr>
          <p:cNvPr id="15" name="Text 13"/>
          <p:cNvSpPr txBox="1"/>
          <p:nvPr/>
        </p:nvSpPr>
        <p:spPr>
          <a:xfrm>
            <a:off x="548640" y="3483864"/>
            <a:ext cx="2011680" cy="237744"/>
          </a:xfrm>
          <a:prstGeom prst="rect">
            <a:avLst/>
          </a:prstGeom>
          <a:noFill/>
          <a:ln/>
        </p:spPr>
        <p:txBody>
          <a:bodyPr wrap="square" lIns="0" tIns="0" rIns="0" bIns="0" rtlCol="0" anchor="t"/>
          <a:lstStyle/>
          <a:p>
            <a:pPr algn="ctr" indent="0" marL="0">
              <a:lnSpc>
                <a:spcPct val="112000"/>
              </a:lnSpc>
              <a:buNone/>
            </a:pPr>
            <a:r>
              <a:rPr lang="en-US" sz="1100" dirty="0">
                <a:solidFill>
                  <a:srgbClr val="36454F"/>
                </a:solidFill>
                <a:latin typeface="Calibri" pitchFamily="34" charset="0"/>
                <a:ea typeface="Calibri" pitchFamily="34" charset="-122"/>
                <a:cs typeface="Calibri" pitchFamily="34" charset="-120"/>
              </a:rPr>
              <a:t>FastAPI</a:t>
            </a:r>
            <a:endParaRPr lang="en-US" sz="1100" dirty="0"/>
          </a:p>
        </p:txBody>
      </p:sp>
      <p:sp>
        <p:nvSpPr>
          <p:cNvPr id="16" name="Shape 14"/>
          <p:cNvSpPr/>
          <p:nvPr/>
        </p:nvSpPr>
        <p:spPr>
          <a:xfrm>
            <a:off x="1554480" y="3904488"/>
            <a:ext cx="0" cy="201168"/>
          </a:xfrm>
          <a:prstGeom prst="line">
            <a:avLst/>
          </a:prstGeom>
          <a:noFill/>
          <a:ln w="15875">
            <a:solidFill>
              <a:srgbClr val="D5DDE5"/>
            </a:solidFill>
            <a:prstDash val="solid"/>
          </a:ln>
        </p:spPr>
      </p:sp>
      <p:sp>
        <p:nvSpPr>
          <p:cNvPr id="17" name="Shape 15"/>
          <p:cNvSpPr/>
          <p:nvPr/>
        </p:nvSpPr>
        <p:spPr>
          <a:xfrm>
            <a:off x="749808" y="4105656"/>
            <a:ext cx="1609344" cy="384048"/>
          </a:xfrm>
          <a:prstGeom prst="roundRect">
            <a:avLst>
              <a:gd name="adj" fmla="val 16667"/>
            </a:avLst>
          </a:prstGeom>
          <a:solidFill>
            <a:srgbClr val="EDF1F5"/>
          </a:solidFill>
          <a:ln/>
        </p:spPr>
      </p:sp>
      <p:sp>
        <p:nvSpPr>
          <p:cNvPr id="18" name="Text 16"/>
          <p:cNvSpPr txBox="1"/>
          <p:nvPr/>
        </p:nvSpPr>
        <p:spPr>
          <a:xfrm>
            <a:off x="749808" y="4105656"/>
            <a:ext cx="1609344" cy="384048"/>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user_db</a:t>
            </a:r>
            <a:endParaRPr lang="en-US" sz="1050" dirty="0"/>
          </a:p>
        </p:txBody>
      </p:sp>
      <p:sp>
        <p:nvSpPr>
          <p:cNvPr id="19" name="Shape 17"/>
          <p:cNvSpPr/>
          <p:nvPr/>
        </p:nvSpPr>
        <p:spPr>
          <a:xfrm>
            <a:off x="3822192" y="2880360"/>
            <a:ext cx="0" cy="182880"/>
          </a:xfrm>
          <a:prstGeom prst="line">
            <a:avLst/>
          </a:prstGeom>
          <a:noFill/>
          <a:ln w="15875">
            <a:solidFill>
              <a:srgbClr val="D5DDE5"/>
            </a:solidFill>
            <a:prstDash val="solid"/>
          </a:ln>
        </p:spPr>
      </p:sp>
      <p:sp>
        <p:nvSpPr>
          <p:cNvPr id="20" name="Shape 18"/>
          <p:cNvSpPr/>
          <p:nvPr/>
        </p:nvSpPr>
        <p:spPr>
          <a:xfrm>
            <a:off x="2816352" y="3063240"/>
            <a:ext cx="2011680" cy="841248"/>
          </a:xfrm>
          <a:prstGeom prst="roundRect">
            <a:avLst>
              <a:gd name="adj" fmla="val 7609"/>
            </a:avLst>
          </a:prstGeom>
          <a:solidFill>
            <a:srgbClr val="EDF2E7"/>
          </a:solidFill>
          <a:ln/>
        </p:spPr>
      </p:sp>
      <p:sp>
        <p:nvSpPr>
          <p:cNvPr id="21" name="Text 19"/>
          <p:cNvSpPr txBox="1"/>
          <p:nvPr/>
        </p:nvSpPr>
        <p:spPr>
          <a:xfrm>
            <a:off x="2816352" y="3191256"/>
            <a:ext cx="2011680" cy="256032"/>
          </a:xfrm>
          <a:prstGeom prst="rect">
            <a:avLst/>
          </a:prstGeom>
          <a:noFill/>
          <a:ln/>
        </p:spPr>
        <p:txBody>
          <a:bodyPr wrap="square" lIns="0" tIns="0" rIns="0" bIns="0" rtlCol="0" anchor="t"/>
          <a:lstStyle/>
          <a:p>
            <a:pPr algn="ctr" indent="0" marL="0">
              <a:lnSpc>
                <a:spcPct val="112000"/>
              </a:lnSpc>
              <a:buNone/>
            </a:pPr>
            <a:r>
              <a:rPr lang="en-US" sz="1450" b="1" dirty="0">
                <a:solidFill>
                  <a:srgbClr val="3A6B2E"/>
                </a:solidFill>
                <a:latin typeface="Calibri" pitchFamily="34" charset="0"/>
                <a:ea typeface="Calibri" pitchFamily="34" charset="-122"/>
                <a:cs typeface="Calibri" pitchFamily="34" charset="-120"/>
              </a:rPr>
              <a:t>Product</a:t>
            </a:r>
            <a:endParaRPr lang="en-US" sz="1450" dirty="0"/>
          </a:p>
        </p:txBody>
      </p:sp>
      <p:sp>
        <p:nvSpPr>
          <p:cNvPr id="22" name="Text 20"/>
          <p:cNvSpPr txBox="1"/>
          <p:nvPr/>
        </p:nvSpPr>
        <p:spPr>
          <a:xfrm>
            <a:off x="2816352" y="3483864"/>
            <a:ext cx="2011680" cy="237744"/>
          </a:xfrm>
          <a:prstGeom prst="rect">
            <a:avLst/>
          </a:prstGeom>
          <a:noFill/>
          <a:ln/>
        </p:spPr>
        <p:txBody>
          <a:bodyPr wrap="square" lIns="0" tIns="0" rIns="0" bIns="0" rtlCol="0" anchor="t"/>
          <a:lstStyle/>
          <a:p>
            <a:pPr algn="ctr" indent="0" marL="0">
              <a:lnSpc>
                <a:spcPct val="112000"/>
              </a:lnSpc>
              <a:buNone/>
            </a:pPr>
            <a:r>
              <a:rPr lang="en-US" sz="1100" dirty="0">
                <a:solidFill>
                  <a:srgbClr val="36454F"/>
                </a:solidFill>
                <a:latin typeface="Calibri" pitchFamily="34" charset="0"/>
                <a:ea typeface="Calibri" pitchFamily="34" charset="-122"/>
                <a:cs typeface="Calibri" pitchFamily="34" charset="-120"/>
              </a:rPr>
              <a:t>Spring Boot</a:t>
            </a:r>
            <a:endParaRPr lang="en-US" sz="1100" dirty="0"/>
          </a:p>
        </p:txBody>
      </p:sp>
      <p:sp>
        <p:nvSpPr>
          <p:cNvPr id="23" name="Shape 21"/>
          <p:cNvSpPr/>
          <p:nvPr/>
        </p:nvSpPr>
        <p:spPr>
          <a:xfrm>
            <a:off x="3822192" y="3904488"/>
            <a:ext cx="0" cy="201168"/>
          </a:xfrm>
          <a:prstGeom prst="line">
            <a:avLst/>
          </a:prstGeom>
          <a:noFill/>
          <a:ln w="15875">
            <a:solidFill>
              <a:srgbClr val="D5DDE5"/>
            </a:solidFill>
            <a:prstDash val="solid"/>
          </a:ln>
        </p:spPr>
      </p:sp>
      <p:sp>
        <p:nvSpPr>
          <p:cNvPr id="24" name="Shape 22"/>
          <p:cNvSpPr/>
          <p:nvPr/>
        </p:nvSpPr>
        <p:spPr>
          <a:xfrm>
            <a:off x="3017520" y="4105656"/>
            <a:ext cx="1609344" cy="384048"/>
          </a:xfrm>
          <a:prstGeom prst="roundRect">
            <a:avLst>
              <a:gd name="adj" fmla="val 16667"/>
            </a:avLst>
          </a:prstGeom>
          <a:solidFill>
            <a:srgbClr val="EDF1F5"/>
          </a:solidFill>
          <a:ln/>
        </p:spPr>
      </p:sp>
      <p:sp>
        <p:nvSpPr>
          <p:cNvPr id="25" name="Text 23"/>
          <p:cNvSpPr txBox="1"/>
          <p:nvPr/>
        </p:nvSpPr>
        <p:spPr>
          <a:xfrm>
            <a:off x="3017520" y="4105656"/>
            <a:ext cx="1609344" cy="384048"/>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product_db</a:t>
            </a:r>
            <a:endParaRPr lang="en-US" sz="1050" dirty="0"/>
          </a:p>
        </p:txBody>
      </p:sp>
      <p:sp>
        <p:nvSpPr>
          <p:cNvPr id="26" name="Shape 24"/>
          <p:cNvSpPr/>
          <p:nvPr/>
        </p:nvSpPr>
        <p:spPr>
          <a:xfrm>
            <a:off x="6089904" y="2880360"/>
            <a:ext cx="0" cy="182880"/>
          </a:xfrm>
          <a:prstGeom prst="line">
            <a:avLst/>
          </a:prstGeom>
          <a:noFill/>
          <a:ln w="15875">
            <a:solidFill>
              <a:srgbClr val="D5DDE5"/>
            </a:solidFill>
            <a:prstDash val="solid"/>
          </a:ln>
        </p:spPr>
      </p:sp>
      <p:sp>
        <p:nvSpPr>
          <p:cNvPr id="27" name="Shape 25"/>
          <p:cNvSpPr/>
          <p:nvPr/>
        </p:nvSpPr>
        <p:spPr>
          <a:xfrm>
            <a:off x="5084064" y="3063240"/>
            <a:ext cx="2011680" cy="841248"/>
          </a:xfrm>
          <a:prstGeom prst="roundRect">
            <a:avLst>
              <a:gd name="adj" fmla="val 7609"/>
            </a:avLst>
          </a:prstGeom>
          <a:solidFill>
            <a:srgbClr val="F6EAEE"/>
          </a:solidFill>
          <a:ln/>
        </p:spPr>
      </p:sp>
      <p:sp>
        <p:nvSpPr>
          <p:cNvPr id="28" name="Text 26"/>
          <p:cNvSpPr txBox="1"/>
          <p:nvPr/>
        </p:nvSpPr>
        <p:spPr>
          <a:xfrm>
            <a:off x="5084064" y="3191256"/>
            <a:ext cx="2011680" cy="256032"/>
          </a:xfrm>
          <a:prstGeom prst="rect">
            <a:avLst/>
          </a:prstGeom>
          <a:noFill/>
          <a:ln/>
        </p:spPr>
        <p:txBody>
          <a:bodyPr wrap="square" lIns="0" tIns="0" rIns="0" bIns="0" rtlCol="0" anchor="t"/>
          <a:lstStyle/>
          <a:p>
            <a:pPr algn="ctr" indent="0" marL="0">
              <a:lnSpc>
                <a:spcPct val="112000"/>
              </a:lnSpc>
              <a:buNone/>
            </a:pPr>
            <a:r>
              <a:rPr lang="en-US" sz="1450" b="1" dirty="0">
                <a:solidFill>
                  <a:srgbClr val="6D2E46"/>
                </a:solidFill>
                <a:latin typeface="Calibri" pitchFamily="34" charset="0"/>
                <a:ea typeface="Calibri" pitchFamily="34" charset="-122"/>
                <a:cs typeface="Calibri" pitchFamily="34" charset="-120"/>
              </a:rPr>
              <a:t>Order</a:t>
            </a:r>
            <a:endParaRPr lang="en-US" sz="1450" dirty="0"/>
          </a:p>
        </p:txBody>
      </p:sp>
      <p:sp>
        <p:nvSpPr>
          <p:cNvPr id="29" name="Text 27"/>
          <p:cNvSpPr txBox="1"/>
          <p:nvPr/>
        </p:nvSpPr>
        <p:spPr>
          <a:xfrm>
            <a:off x="5084064" y="3483864"/>
            <a:ext cx="2011680" cy="237744"/>
          </a:xfrm>
          <a:prstGeom prst="rect">
            <a:avLst/>
          </a:prstGeom>
          <a:noFill/>
          <a:ln/>
        </p:spPr>
        <p:txBody>
          <a:bodyPr wrap="square" lIns="0" tIns="0" rIns="0" bIns="0" rtlCol="0" anchor="t"/>
          <a:lstStyle/>
          <a:p>
            <a:pPr algn="ctr" indent="0" marL="0">
              <a:lnSpc>
                <a:spcPct val="112000"/>
              </a:lnSpc>
              <a:buNone/>
            </a:pPr>
            <a:r>
              <a:rPr lang="en-US" sz="1100" dirty="0">
                <a:solidFill>
                  <a:srgbClr val="36454F"/>
                </a:solidFill>
                <a:latin typeface="Calibri" pitchFamily="34" charset="0"/>
                <a:ea typeface="Calibri" pitchFamily="34" charset="-122"/>
                <a:cs typeface="Calibri" pitchFamily="34" charset="-120"/>
              </a:rPr>
              <a:t>.NET 8</a:t>
            </a:r>
            <a:endParaRPr lang="en-US" sz="1100" dirty="0"/>
          </a:p>
        </p:txBody>
      </p:sp>
      <p:sp>
        <p:nvSpPr>
          <p:cNvPr id="30" name="Shape 28"/>
          <p:cNvSpPr/>
          <p:nvPr/>
        </p:nvSpPr>
        <p:spPr>
          <a:xfrm>
            <a:off x="6089904" y="3904488"/>
            <a:ext cx="0" cy="201168"/>
          </a:xfrm>
          <a:prstGeom prst="line">
            <a:avLst/>
          </a:prstGeom>
          <a:noFill/>
          <a:ln w="15875">
            <a:solidFill>
              <a:srgbClr val="D5DDE5"/>
            </a:solidFill>
            <a:prstDash val="solid"/>
          </a:ln>
        </p:spPr>
      </p:sp>
      <p:sp>
        <p:nvSpPr>
          <p:cNvPr id="31" name="Shape 29"/>
          <p:cNvSpPr/>
          <p:nvPr/>
        </p:nvSpPr>
        <p:spPr>
          <a:xfrm>
            <a:off x="5285232" y="4105656"/>
            <a:ext cx="1609344" cy="384048"/>
          </a:xfrm>
          <a:prstGeom prst="roundRect">
            <a:avLst>
              <a:gd name="adj" fmla="val 16667"/>
            </a:avLst>
          </a:prstGeom>
          <a:solidFill>
            <a:srgbClr val="EDF1F5"/>
          </a:solidFill>
          <a:ln/>
        </p:spPr>
      </p:sp>
      <p:sp>
        <p:nvSpPr>
          <p:cNvPr id="32" name="Text 30"/>
          <p:cNvSpPr txBox="1"/>
          <p:nvPr/>
        </p:nvSpPr>
        <p:spPr>
          <a:xfrm>
            <a:off x="5285232" y="4105656"/>
            <a:ext cx="1609344" cy="384048"/>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order_db</a:t>
            </a:r>
            <a:endParaRPr lang="en-US" sz="1050" dirty="0"/>
          </a:p>
        </p:txBody>
      </p:sp>
      <p:sp>
        <p:nvSpPr>
          <p:cNvPr id="33" name="Shape 31"/>
          <p:cNvSpPr/>
          <p:nvPr/>
        </p:nvSpPr>
        <p:spPr>
          <a:xfrm>
            <a:off x="8357616" y="2880360"/>
            <a:ext cx="0" cy="182880"/>
          </a:xfrm>
          <a:prstGeom prst="line">
            <a:avLst/>
          </a:prstGeom>
          <a:noFill/>
          <a:ln w="15875">
            <a:solidFill>
              <a:srgbClr val="D5DDE5"/>
            </a:solidFill>
            <a:prstDash val="solid"/>
          </a:ln>
        </p:spPr>
      </p:sp>
      <p:sp>
        <p:nvSpPr>
          <p:cNvPr id="34" name="Shape 32"/>
          <p:cNvSpPr/>
          <p:nvPr/>
        </p:nvSpPr>
        <p:spPr>
          <a:xfrm>
            <a:off x="7351776" y="3063240"/>
            <a:ext cx="2011680" cy="841248"/>
          </a:xfrm>
          <a:prstGeom prst="roundRect">
            <a:avLst>
              <a:gd name="adj" fmla="val 7609"/>
            </a:avLst>
          </a:prstGeom>
          <a:solidFill>
            <a:srgbClr val="FFFFFF"/>
          </a:solidFill>
          <a:ln w="12700">
            <a:solidFill>
              <a:srgbClr val="D5DDE5"/>
            </a:solidFill>
            <a:prstDash val="dash"/>
          </a:ln>
        </p:spPr>
      </p:sp>
      <p:sp>
        <p:nvSpPr>
          <p:cNvPr id="35" name="Text 33"/>
          <p:cNvSpPr txBox="1"/>
          <p:nvPr/>
        </p:nvSpPr>
        <p:spPr>
          <a:xfrm>
            <a:off x="7351776" y="3191256"/>
            <a:ext cx="2011680" cy="256032"/>
          </a:xfrm>
          <a:prstGeom prst="rect">
            <a:avLst/>
          </a:prstGeom>
          <a:noFill/>
          <a:ln/>
        </p:spPr>
        <p:txBody>
          <a:bodyPr wrap="square" lIns="0" tIns="0" rIns="0" bIns="0" rtlCol="0" anchor="t"/>
          <a:lstStyle/>
          <a:p>
            <a:pPr algn="ctr" indent="0" marL="0">
              <a:lnSpc>
                <a:spcPct val="112000"/>
              </a:lnSpc>
              <a:buNone/>
            </a:pPr>
            <a:r>
              <a:rPr lang="en-US" sz="1450" b="1" dirty="0">
                <a:solidFill>
                  <a:srgbClr val="6B7A8D"/>
                </a:solidFill>
                <a:latin typeface="Calibri" pitchFamily="34" charset="0"/>
                <a:ea typeface="Calibri" pitchFamily="34" charset="-122"/>
                <a:cs typeface="Calibri" pitchFamily="34" charset="-120"/>
              </a:rPr>
              <a:t>Payment</a:t>
            </a:r>
            <a:endParaRPr lang="en-US" sz="1450" dirty="0"/>
          </a:p>
        </p:txBody>
      </p:sp>
      <p:sp>
        <p:nvSpPr>
          <p:cNvPr id="36" name="Text 34"/>
          <p:cNvSpPr txBox="1"/>
          <p:nvPr/>
        </p:nvSpPr>
        <p:spPr>
          <a:xfrm>
            <a:off x="7351776" y="3483864"/>
            <a:ext cx="2011680" cy="237744"/>
          </a:xfrm>
          <a:prstGeom prst="rect">
            <a:avLst/>
          </a:prstGeom>
          <a:noFill/>
          <a:ln/>
        </p:spPr>
        <p:txBody>
          <a:bodyPr wrap="square" lIns="0" tIns="0" rIns="0" bIns="0" rtlCol="0" anchor="t"/>
          <a:lstStyle/>
          <a:p>
            <a:pPr algn="ctr" indent="0" marL="0">
              <a:lnSpc>
                <a:spcPct val="112000"/>
              </a:lnSpc>
              <a:buNone/>
            </a:pPr>
            <a:r>
              <a:rPr lang="en-US" sz="1100" dirty="0">
                <a:solidFill>
                  <a:srgbClr val="6B7A8D"/>
                </a:solidFill>
                <a:latin typeface="Calibri" pitchFamily="34" charset="0"/>
                <a:ea typeface="Calibri" pitchFamily="34" charset="-122"/>
                <a:cs typeface="Calibri" pitchFamily="34" charset="-120"/>
              </a:rPr>
              <a:t>week 4</a:t>
            </a:r>
            <a:endParaRPr lang="en-US" sz="1100" dirty="0"/>
          </a:p>
        </p:txBody>
      </p:sp>
      <p:sp>
        <p:nvSpPr>
          <p:cNvPr id="37" name="Shape 35"/>
          <p:cNvSpPr/>
          <p:nvPr/>
        </p:nvSpPr>
        <p:spPr>
          <a:xfrm>
            <a:off x="10625328" y="2880360"/>
            <a:ext cx="0" cy="182880"/>
          </a:xfrm>
          <a:prstGeom prst="line">
            <a:avLst/>
          </a:prstGeom>
          <a:noFill/>
          <a:ln w="15875">
            <a:solidFill>
              <a:srgbClr val="D5DDE5"/>
            </a:solidFill>
            <a:prstDash val="solid"/>
          </a:ln>
        </p:spPr>
      </p:sp>
      <p:sp>
        <p:nvSpPr>
          <p:cNvPr id="38" name="Shape 36"/>
          <p:cNvSpPr/>
          <p:nvPr/>
        </p:nvSpPr>
        <p:spPr>
          <a:xfrm>
            <a:off x="9619488" y="3063240"/>
            <a:ext cx="2011680" cy="841248"/>
          </a:xfrm>
          <a:prstGeom prst="roundRect">
            <a:avLst>
              <a:gd name="adj" fmla="val 7609"/>
            </a:avLst>
          </a:prstGeom>
          <a:solidFill>
            <a:srgbClr val="FFFFFF"/>
          </a:solidFill>
          <a:ln w="12700">
            <a:solidFill>
              <a:srgbClr val="D5DDE5"/>
            </a:solidFill>
            <a:prstDash val="dash"/>
          </a:ln>
        </p:spPr>
      </p:sp>
      <p:sp>
        <p:nvSpPr>
          <p:cNvPr id="39" name="Text 37"/>
          <p:cNvSpPr txBox="1"/>
          <p:nvPr/>
        </p:nvSpPr>
        <p:spPr>
          <a:xfrm>
            <a:off x="9619488" y="3191256"/>
            <a:ext cx="2011680" cy="256032"/>
          </a:xfrm>
          <a:prstGeom prst="rect">
            <a:avLst/>
          </a:prstGeom>
          <a:noFill/>
          <a:ln/>
        </p:spPr>
        <p:txBody>
          <a:bodyPr wrap="square" lIns="0" tIns="0" rIns="0" bIns="0" rtlCol="0" anchor="t"/>
          <a:lstStyle/>
          <a:p>
            <a:pPr algn="ctr" indent="0" marL="0">
              <a:lnSpc>
                <a:spcPct val="112000"/>
              </a:lnSpc>
              <a:buNone/>
            </a:pPr>
            <a:r>
              <a:rPr lang="en-US" sz="1450" b="1" dirty="0">
                <a:solidFill>
                  <a:srgbClr val="6B7A8D"/>
                </a:solidFill>
                <a:latin typeface="Calibri" pitchFamily="34" charset="0"/>
                <a:ea typeface="Calibri" pitchFamily="34" charset="-122"/>
                <a:cs typeface="Calibri" pitchFamily="34" charset="-120"/>
              </a:rPr>
              <a:t>Notification</a:t>
            </a:r>
            <a:endParaRPr lang="en-US" sz="1450" dirty="0"/>
          </a:p>
        </p:txBody>
      </p:sp>
      <p:sp>
        <p:nvSpPr>
          <p:cNvPr id="40" name="Text 38"/>
          <p:cNvSpPr txBox="1"/>
          <p:nvPr/>
        </p:nvSpPr>
        <p:spPr>
          <a:xfrm>
            <a:off x="9619488" y="3483864"/>
            <a:ext cx="2011680" cy="237744"/>
          </a:xfrm>
          <a:prstGeom prst="rect">
            <a:avLst/>
          </a:prstGeom>
          <a:noFill/>
          <a:ln/>
        </p:spPr>
        <p:txBody>
          <a:bodyPr wrap="square" lIns="0" tIns="0" rIns="0" bIns="0" rtlCol="0" anchor="t"/>
          <a:lstStyle/>
          <a:p>
            <a:pPr algn="ctr" indent="0" marL="0">
              <a:lnSpc>
                <a:spcPct val="112000"/>
              </a:lnSpc>
              <a:buNone/>
            </a:pPr>
            <a:r>
              <a:rPr lang="en-US" sz="1100" dirty="0">
                <a:solidFill>
                  <a:srgbClr val="6B7A8D"/>
                </a:solidFill>
                <a:latin typeface="Calibri" pitchFamily="34" charset="0"/>
                <a:ea typeface="Calibri" pitchFamily="34" charset="-122"/>
                <a:cs typeface="Calibri" pitchFamily="34" charset="-120"/>
              </a:rPr>
              <a:t>week 4</a:t>
            </a:r>
            <a:endParaRPr lang="en-US" sz="1100" dirty="0"/>
          </a:p>
        </p:txBody>
      </p:sp>
      <p:sp>
        <p:nvSpPr>
          <p:cNvPr id="41" name="Shape 39"/>
          <p:cNvSpPr/>
          <p:nvPr/>
        </p:nvSpPr>
        <p:spPr>
          <a:xfrm>
            <a:off x="548640" y="4846320"/>
            <a:ext cx="5449824" cy="1188720"/>
          </a:xfrm>
          <a:prstGeom prst="roundRect">
            <a:avLst>
              <a:gd name="adj" fmla="val 5385"/>
            </a:avLst>
          </a:prstGeom>
          <a:solidFill>
            <a:srgbClr val="E6F1F2"/>
          </a:solidFill>
          <a:ln/>
        </p:spPr>
      </p:sp>
      <p:sp>
        <p:nvSpPr>
          <p:cNvPr id="42" name="Text 40"/>
          <p:cNvSpPr txBox="1"/>
          <p:nvPr/>
        </p:nvSpPr>
        <p:spPr>
          <a:xfrm>
            <a:off x="822960" y="5029200"/>
            <a:ext cx="4901184" cy="256032"/>
          </a:xfrm>
          <a:prstGeom prst="rect">
            <a:avLst/>
          </a:prstGeom>
          <a:noFill/>
          <a:ln/>
        </p:spPr>
        <p:txBody>
          <a:bodyPr wrap="square" lIns="0" tIns="0" rIns="0" bIns="0" rtlCol="0" anchor="t"/>
          <a:lstStyle/>
          <a:p>
            <a:pPr algn="l" indent="0" marL="0">
              <a:lnSpc>
                <a:spcPct val="112000"/>
              </a:lnSpc>
              <a:buNone/>
            </a:pPr>
            <a:r>
              <a:rPr lang="en-US" sz="1400" b="1" dirty="0">
                <a:solidFill>
                  <a:srgbClr val="028090"/>
                </a:solidFill>
                <a:latin typeface="Calibri" pitchFamily="34" charset="0"/>
                <a:ea typeface="Calibri" pitchFamily="34" charset="-122"/>
                <a:cs typeface="Calibri" pitchFamily="34" charset="-120"/>
              </a:rPr>
              <a:t>The rule everything rests on</a:t>
            </a:r>
            <a:endParaRPr lang="en-US" sz="1400" dirty="0"/>
          </a:p>
        </p:txBody>
      </p:sp>
      <p:sp>
        <p:nvSpPr>
          <p:cNvPr id="43" name="Text 41"/>
          <p:cNvSpPr txBox="1"/>
          <p:nvPr/>
        </p:nvSpPr>
        <p:spPr>
          <a:xfrm>
            <a:off x="822960" y="5303520"/>
            <a:ext cx="4901184" cy="694944"/>
          </a:xfrm>
          <a:prstGeom prst="rect">
            <a:avLst/>
          </a:prstGeom>
          <a:noFill/>
          <a:ln/>
        </p:spPr>
        <p:txBody>
          <a:bodyPr wrap="square" lIns="0" tIns="0" rIns="0" bIns="0" rtlCol="0" anchor="t"/>
          <a:lstStyle/>
          <a:p>
            <a:pPr algn="l" indent="0" marL="0">
              <a:lnSpc>
                <a:spcPct val="115000"/>
              </a:lnSpc>
              <a:buNone/>
            </a:pPr>
            <a:r>
              <a:rPr lang="en-US" sz="1250" dirty="0">
                <a:solidFill>
                  <a:srgbClr val="36454F"/>
                </a:solidFill>
                <a:latin typeface="Calibri" pitchFamily="34" charset="0"/>
                <a:ea typeface="Calibri" pitchFamily="34" charset="-122"/>
                <a:cs typeface="Calibri" pitchFamily="34" charset="-120"/>
              </a:rPr>
              <a:t>Every service owns its own database. No service reads another service’s tables — a shared database turns independent services back into a distributed monolith.</a:t>
            </a:r>
            <a:endParaRPr lang="en-US" sz="1250" dirty="0"/>
          </a:p>
        </p:txBody>
      </p:sp>
      <p:sp>
        <p:nvSpPr>
          <p:cNvPr id="44" name="Shape 42"/>
          <p:cNvSpPr/>
          <p:nvPr/>
        </p:nvSpPr>
        <p:spPr>
          <a:xfrm>
            <a:off x="6190488" y="4846320"/>
            <a:ext cx="5449824" cy="1188720"/>
          </a:xfrm>
          <a:prstGeom prst="roundRect">
            <a:avLst>
              <a:gd name="adj" fmla="val 5385"/>
            </a:avLst>
          </a:prstGeom>
          <a:solidFill>
            <a:srgbClr val="FBF2E4"/>
          </a:solidFill>
          <a:ln/>
        </p:spPr>
      </p:sp>
      <p:sp>
        <p:nvSpPr>
          <p:cNvPr id="45" name="Text 43"/>
          <p:cNvSpPr txBox="1"/>
          <p:nvPr/>
        </p:nvSpPr>
        <p:spPr>
          <a:xfrm>
            <a:off x="6464808" y="5029200"/>
            <a:ext cx="4901184" cy="256032"/>
          </a:xfrm>
          <a:prstGeom prst="rect">
            <a:avLst/>
          </a:prstGeom>
          <a:noFill/>
          <a:ln/>
        </p:spPr>
        <p:txBody>
          <a:bodyPr wrap="square" lIns="0" tIns="0" rIns="0" bIns="0" rtlCol="0" anchor="t"/>
          <a:lstStyle/>
          <a:p>
            <a:pPr algn="l" indent="0" marL="0">
              <a:lnSpc>
                <a:spcPct val="112000"/>
              </a:lnSpc>
              <a:buNone/>
            </a:pPr>
            <a:r>
              <a:rPr lang="en-US" sz="1400" b="1" dirty="0">
                <a:solidFill>
                  <a:srgbClr val="A8620A"/>
                </a:solidFill>
                <a:latin typeface="Calibri" pitchFamily="34" charset="0"/>
                <a:ea typeface="Calibri" pitchFamily="34" charset="-122"/>
                <a:cs typeface="Calibri" pitchFamily="34" charset="-120"/>
              </a:rPr>
              <a:t>The price you agree to pay</a:t>
            </a:r>
            <a:endParaRPr lang="en-US" sz="1400" dirty="0"/>
          </a:p>
        </p:txBody>
      </p:sp>
      <p:sp>
        <p:nvSpPr>
          <p:cNvPr id="46" name="Text 44"/>
          <p:cNvSpPr txBox="1"/>
          <p:nvPr/>
        </p:nvSpPr>
        <p:spPr>
          <a:xfrm>
            <a:off x="6464808" y="5303520"/>
            <a:ext cx="4901184" cy="694944"/>
          </a:xfrm>
          <a:prstGeom prst="rect">
            <a:avLst/>
          </a:prstGeom>
          <a:noFill/>
          <a:ln/>
        </p:spPr>
        <p:txBody>
          <a:bodyPr wrap="square" lIns="0" tIns="0" rIns="0" bIns="0" rtlCol="0" anchor="t"/>
          <a:lstStyle/>
          <a:p>
            <a:pPr algn="l" indent="0" marL="0">
              <a:lnSpc>
                <a:spcPct val="115000"/>
              </a:lnSpc>
              <a:buNone/>
            </a:pPr>
            <a:r>
              <a:rPr lang="en-US" sz="1250" dirty="0">
                <a:solidFill>
                  <a:srgbClr val="36454F"/>
                </a:solidFill>
                <a:latin typeface="Calibri" pitchFamily="34" charset="0"/>
                <a:ea typeface="Calibri" pitchFamily="34" charset="-122"/>
                <a:cs typeface="Calibri" pitchFamily="34" charset="-120"/>
              </a:rPr>
              <a:t>There are no joins across services. The Order Service holds a product_id and must ask the Product Service for the rest — over a network, which can fail.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PROGRESS</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Three weeks in: what exists, what does not</a:t>
            </a:r>
            <a:endParaRPr lang="en-US" sz="2900" dirty="0"/>
          </a:p>
        </p:txBody>
      </p:sp>
      <p:sp>
        <p:nvSpPr>
          <p:cNvPr id="4" name="Shape 2"/>
          <p:cNvSpPr/>
          <p:nvPr/>
        </p:nvSpPr>
        <p:spPr>
          <a:xfrm>
            <a:off x="548640" y="1463040"/>
            <a:ext cx="1920240" cy="1554480"/>
          </a:xfrm>
          <a:prstGeom prst="roundRect">
            <a:avLst>
              <a:gd name="adj" fmla="val 4118"/>
            </a:avLst>
          </a:prstGeom>
          <a:solidFill>
            <a:srgbClr val="F4F6F8"/>
          </a:solidFill>
          <a:ln/>
        </p:spPr>
      </p:sp>
      <p:sp>
        <p:nvSpPr>
          <p:cNvPr id="5" name="Text 3"/>
          <p:cNvSpPr txBox="1"/>
          <p:nvPr/>
        </p:nvSpPr>
        <p:spPr>
          <a:xfrm>
            <a:off x="548640" y="1554480"/>
            <a:ext cx="1920240" cy="731520"/>
          </a:xfrm>
          <a:prstGeom prst="rect">
            <a:avLst/>
          </a:prstGeom>
          <a:noFill/>
          <a:ln/>
        </p:spPr>
        <p:txBody>
          <a:bodyPr wrap="square" lIns="0" tIns="0" rIns="0" bIns="0" rtlCol="0" anchor="t"/>
          <a:lstStyle/>
          <a:p>
            <a:pPr algn="ctr" indent="0" marL="0">
              <a:lnSpc>
                <a:spcPct val="112000"/>
              </a:lnSpc>
              <a:buNone/>
            </a:pPr>
            <a:r>
              <a:rPr lang="en-US" sz="4200" b="1" dirty="0">
                <a:solidFill>
                  <a:srgbClr val="028090"/>
                </a:solidFill>
                <a:latin typeface="Cambria" pitchFamily="34" charset="0"/>
                <a:ea typeface="Cambria" pitchFamily="34" charset="-122"/>
                <a:cs typeface="Cambria" pitchFamily="34" charset="-120"/>
              </a:rPr>
              <a:t>3</a:t>
            </a:r>
            <a:endParaRPr lang="en-US" sz="4200" dirty="0"/>
          </a:p>
        </p:txBody>
      </p:sp>
      <p:sp>
        <p:nvSpPr>
          <p:cNvPr id="6" name="Text 4"/>
          <p:cNvSpPr txBox="1"/>
          <p:nvPr/>
        </p:nvSpPr>
        <p:spPr>
          <a:xfrm>
            <a:off x="548640" y="2340864"/>
            <a:ext cx="1920240" cy="566928"/>
          </a:xfrm>
          <a:prstGeom prst="rect">
            <a:avLst/>
          </a:prstGeom>
          <a:noFill/>
          <a:ln/>
        </p:spPr>
        <p:txBody>
          <a:bodyPr wrap="square" lIns="0" tIns="0" rIns="0" bIns="0" rtlCol="0" anchor="t"/>
          <a:lstStyle/>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services, three</a:t>
            </a:r>
            <a:endParaRPr lang="en-US" sz="1150" dirty="0"/>
          </a:p>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different stacks</a:t>
            </a:r>
            <a:endParaRPr lang="en-US" sz="1150" dirty="0"/>
          </a:p>
        </p:txBody>
      </p:sp>
      <p:sp>
        <p:nvSpPr>
          <p:cNvPr id="7" name="Shape 5"/>
          <p:cNvSpPr/>
          <p:nvPr/>
        </p:nvSpPr>
        <p:spPr>
          <a:xfrm>
            <a:off x="2651760" y="1463040"/>
            <a:ext cx="1920240" cy="1554480"/>
          </a:xfrm>
          <a:prstGeom prst="roundRect">
            <a:avLst>
              <a:gd name="adj" fmla="val 4118"/>
            </a:avLst>
          </a:prstGeom>
          <a:solidFill>
            <a:srgbClr val="F4F6F8"/>
          </a:solidFill>
          <a:ln/>
        </p:spPr>
      </p:sp>
      <p:sp>
        <p:nvSpPr>
          <p:cNvPr id="8" name="Text 6"/>
          <p:cNvSpPr txBox="1"/>
          <p:nvPr/>
        </p:nvSpPr>
        <p:spPr>
          <a:xfrm>
            <a:off x="2651760" y="1554480"/>
            <a:ext cx="1920240" cy="731520"/>
          </a:xfrm>
          <a:prstGeom prst="rect">
            <a:avLst/>
          </a:prstGeom>
          <a:noFill/>
          <a:ln/>
        </p:spPr>
        <p:txBody>
          <a:bodyPr wrap="square" lIns="0" tIns="0" rIns="0" bIns="0" rtlCol="0" anchor="t"/>
          <a:lstStyle/>
          <a:p>
            <a:pPr algn="ctr" indent="0" marL="0">
              <a:lnSpc>
                <a:spcPct val="112000"/>
              </a:lnSpc>
              <a:buNone/>
            </a:pPr>
            <a:r>
              <a:rPr lang="en-US" sz="4200" b="1" dirty="0">
                <a:solidFill>
                  <a:srgbClr val="3A6B2E"/>
                </a:solidFill>
                <a:latin typeface="Cambria" pitchFamily="34" charset="0"/>
                <a:ea typeface="Cambria" pitchFamily="34" charset="-122"/>
                <a:cs typeface="Cambria" pitchFamily="34" charset="-120"/>
              </a:rPr>
              <a:t>3</a:t>
            </a:r>
            <a:endParaRPr lang="en-US" sz="4200" dirty="0"/>
          </a:p>
        </p:txBody>
      </p:sp>
      <p:sp>
        <p:nvSpPr>
          <p:cNvPr id="9" name="Text 7"/>
          <p:cNvSpPr txBox="1"/>
          <p:nvPr/>
        </p:nvSpPr>
        <p:spPr>
          <a:xfrm>
            <a:off x="2651760" y="2340864"/>
            <a:ext cx="1920240" cy="566928"/>
          </a:xfrm>
          <a:prstGeom prst="rect">
            <a:avLst/>
          </a:prstGeom>
          <a:noFill/>
          <a:ln/>
        </p:spPr>
        <p:txBody>
          <a:bodyPr wrap="square" lIns="0" tIns="0" rIns="0" bIns="0" rtlCol="0" anchor="t"/>
          <a:lstStyle/>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databases, one</a:t>
            </a:r>
            <a:endParaRPr lang="en-US" sz="1150" dirty="0"/>
          </a:p>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per service</a:t>
            </a:r>
            <a:endParaRPr lang="en-US" sz="1150" dirty="0"/>
          </a:p>
        </p:txBody>
      </p:sp>
      <p:sp>
        <p:nvSpPr>
          <p:cNvPr id="10" name="Shape 8"/>
          <p:cNvSpPr/>
          <p:nvPr/>
        </p:nvSpPr>
        <p:spPr>
          <a:xfrm>
            <a:off x="4754880" y="1463040"/>
            <a:ext cx="1920240" cy="1554480"/>
          </a:xfrm>
          <a:prstGeom prst="roundRect">
            <a:avLst>
              <a:gd name="adj" fmla="val 4118"/>
            </a:avLst>
          </a:prstGeom>
          <a:solidFill>
            <a:srgbClr val="F4F6F8"/>
          </a:solidFill>
          <a:ln/>
        </p:spPr>
      </p:sp>
      <p:sp>
        <p:nvSpPr>
          <p:cNvPr id="11" name="Text 9"/>
          <p:cNvSpPr txBox="1"/>
          <p:nvPr/>
        </p:nvSpPr>
        <p:spPr>
          <a:xfrm>
            <a:off x="4754880" y="1554480"/>
            <a:ext cx="1920240" cy="731520"/>
          </a:xfrm>
          <a:prstGeom prst="rect">
            <a:avLst/>
          </a:prstGeom>
          <a:noFill/>
          <a:ln/>
        </p:spPr>
        <p:txBody>
          <a:bodyPr wrap="square" lIns="0" tIns="0" rIns="0" bIns="0" rtlCol="0" anchor="t"/>
          <a:lstStyle/>
          <a:p>
            <a:pPr algn="ctr" indent="0" marL="0">
              <a:lnSpc>
                <a:spcPct val="112000"/>
              </a:lnSpc>
              <a:buNone/>
            </a:pPr>
            <a:r>
              <a:rPr lang="en-US" sz="4200" b="1" dirty="0">
                <a:solidFill>
                  <a:srgbClr val="6D2E46"/>
                </a:solidFill>
                <a:latin typeface="Cambria" pitchFamily="34" charset="0"/>
                <a:ea typeface="Cambria" pitchFamily="34" charset="-122"/>
                <a:cs typeface="Cambria" pitchFamily="34" charset="-120"/>
              </a:rPr>
              <a:t>115</a:t>
            </a:r>
            <a:endParaRPr lang="en-US" sz="4200" dirty="0"/>
          </a:p>
        </p:txBody>
      </p:sp>
      <p:sp>
        <p:nvSpPr>
          <p:cNvPr id="12" name="Text 10"/>
          <p:cNvSpPr txBox="1"/>
          <p:nvPr/>
        </p:nvSpPr>
        <p:spPr>
          <a:xfrm>
            <a:off x="4754880" y="2340864"/>
            <a:ext cx="1920240" cy="566928"/>
          </a:xfrm>
          <a:prstGeom prst="rect">
            <a:avLst/>
          </a:prstGeom>
          <a:noFill/>
          <a:ln/>
        </p:spPr>
        <p:txBody>
          <a:bodyPr wrap="square" lIns="0" tIns="0" rIns="0" bIns="0" rtlCol="0" anchor="t"/>
          <a:lstStyle/>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tests passing</a:t>
            </a:r>
            <a:endParaRPr lang="en-US" sz="1150" dirty="0"/>
          </a:p>
          <a:p>
            <a:pPr algn="ctr" indent="0" marL="0">
              <a:lnSpc>
                <a:spcPct val="110000"/>
              </a:lnSpc>
              <a:buNone/>
            </a:pPr>
            <a:r>
              <a:rPr lang="en-US" sz="1150" dirty="0">
                <a:solidFill>
                  <a:srgbClr val="6B7A8D"/>
                </a:solidFill>
                <a:latin typeface="Calibri" pitchFamily="34" charset="0"/>
                <a:ea typeface="Calibri" pitchFamily="34" charset="-122"/>
                <a:cs typeface="Calibri" pitchFamily="34" charset="-120"/>
              </a:rPr>
              <a:t>across the three</a:t>
            </a:r>
            <a:endParaRPr lang="en-US" sz="1150" dirty="0"/>
          </a:p>
        </p:txBody>
      </p:sp>
      <p:sp>
        <p:nvSpPr>
          <p:cNvPr id="13" name="Text 11"/>
          <p:cNvSpPr txBox="1"/>
          <p:nvPr/>
        </p:nvSpPr>
        <p:spPr>
          <a:xfrm>
            <a:off x="7114032" y="1481328"/>
            <a:ext cx="4529023" cy="274320"/>
          </a:xfrm>
          <a:prstGeom prst="rect">
            <a:avLst/>
          </a:prstGeom>
          <a:noFill/>
          <a:ln/>
        </p:spPr>
        <p:txBody>
          <a:bodyPr wrap="square" lIns="0" tIns="0" rIns="0" bIns="0" rtlCol="0" anchor="t"/>
          <a:lstStyle/>
          <a:p>
            <a:pPr algn="l" indent="0" marL="0">
              <a:lnSpc>
                <a:spcPct val="112000"/>
              </a:lnSpc>
              <a:buNone/>
            </a:pPr>
            <a:r>
              <a:rPr lang="en-US" sz="1500" b="1" dirty="0">
                <a:solidFill>
                  <a:srgbClr val="1D2433"/>
                </a:solidFill>
                <a:latin typeface="Calibri" pitchFamily="34" charset="0"/>
                <a:ea typeface="Calibri" pitchFamily="34" charset="-122"/>
                <a:cs typeface="Calibri" pitchFamily="34" charset="-120"/>
              </a:rPr>
              <a:t>Component status</a:t>
            </a:r>
            <a:endParaRPr lang="en-US" sz="1500" dirty="0"/>
          </a:p>
        </p:txBody>
      </p:sp>
      <p:sp>
        <p:nvSpPr>
          <p:cNvPr id="14" name="Shape 12"/>
          <p:cNvSpPr/>
          <p:nvPr/>
        </p:nvSpPr>
        <p:spPr>
          <a:xfrm>
            <a:off x="7114032" y="1883664"/>
            <a:ext cx="201168" cy="201168"/>
          </a:xfrm>
          <a:prstGeom prst="ellipse">
            <a:avLst/>
          </a:prstGeom>
          <a:solidFill>
            <a:srgbClr val="028090"/>
          </a:solidFill>
          <a:ln/>
        </p:spPr>
      </p:sp>
      <p:sp>
        <p:nvSpPr>
          <p:cNvPr id="15" name="Text 13"/>
          <p:cNvSpPr txBox="1"/>
          <p:nvPr/>
        </p:nvSpPr>
        <p:spPr>
          <a:xfrm>
            <a:off x="7114032" y="1883664"/>
            <a:ext cx="201168" cy="201168"/>
          </a:xfrm>
          <a:prstGeom prst="rect">
            <a:avLst/>
          </a:prstGeom>
          <a:noFill/>
          <a:ln/>
        </p:spPr>
        <p:txBody>
          <a:bodyPr wrap="square" lIns="0" tIns="0" rIns="0" bIns="0" rtlCol="0" anchor="ctr"/>
          <a:lstStyle/>
          <a:p>
            <a:pPr algn="ctr" indent="0" marL="0">
              <a:buNone/>
            </a:pPr>
            <a:endParaRPr lang="en-US" sz="900" dirty="0"/>
          </a:p>
        </p:txBody>
      </p:sp>
      <p:sp>
        <p:nvSpPr>
          <p:cNvPr id="16" name="Text 14"/>
          <p:cNvSpPr txBox="1"/>
          <p:nvPr/>
        </p:nvSpPr>
        <p:spPr>
          <a:xfrm>
            <a:off x="7443216" y="1847088"/>
            <a:ext cx="2883103" cy="274320"/>
          </a:xfrm>
          <a:prstGeom prst="rect">
            <a:avLst/>
          </a:prstGeom>
          <a:noFill/>
          <a:ln/>
        </p:spPr>
        <p:txBody>
          <a:bodyPr wrap="square" lIns="0" tIns="0" rIns="0" bIns="0" rtlCol="0" anchor="t"/>
          <a:lstStyle/>
          <a:p>
            <a:pPr algn="l" indent="0" marL="0">
              <a:lnSpc>
                <a:spcPct val="112000"/>
              </a:lnSpc>
              <a:buNone/>
            </a:pPr>
            <a:r>
              <a:rPr lang="en-US" sz="1250" b="1" dirty="0">
                <a:solidFill>
                  <a:srgbClr val="1D2433"/>
                </a:solidFill>
                <a:latin typeface="Calibri" pitchFamily="34" charset="0"/>
                <a:ea typeface="Calibri" pitchFamily="34" charset="-122"/>
                <a:cs typeface="Calibri" pitchFamily="34" charset="-120"/>
              </a:rPr>
              <a:t>User Service</a:t>
            </a:r>
            <a:endParaRPr lang="en-US" sz="1250" dirty="0"/>
          </a:p>
        </p:txBody>
      </p:sp>
      <p:sp>
        <p:nvSpPr>
          <p:cNvPr id="17" name="Text 15"/>
          <p:cNvSpPr txBox="1"/>
          <p:nvPr/>
        </p:nvSpPr>
        <p:spPr>
          <a:xfrm>
            <a:off x="10362895" y="184708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FastAPI</a:t>
            </a:r>
            <a:endParaRPr lang="en-US" sz="1150" dirty="0"/>
          </a:p>
        </p:txBody>
      </p:sp>
      <p:sp>
        <p:nvSpPr>
          <p:cNvPr id="18" name="Shape 16"/>
          <p:cNvSpPr/>
          <p:nvPr/>
        </p:nvSpPr>
        <p:spPr>
          <a:xfrm>
            <a:off x="7114032" y="2249424"/>
            <a:ext cx="201168" cy="201168"/>
          </a:xfrm>
          <a:prstGeom prst="ellipse">
            <a:avLst/>
          </a:prstGeom>
          <a:solidFill>
            <a:srgbClr val="3A6B2E"/>
          </a:solidFill>
          <a:ln/>
        </p:spPr>
      </p:sp>
      <p:sp>
        <p:nvSpPr>
          <p:cNvPr id="19" name="Text 17"/>
          <p:cNvSpPr txBox="1"/>
          <p:nvPr/>
        </p:nvSpPr>
        <p:spPr>
          <a:xfrm>
            <a:off x="7114032" y="2249424"/>
            <a:ext cx="201168" cy="201168"/>
          </a:xfrm>
          <a:prstGeom prst="rect">
            <a:avLst/>
          </a:prstGeom>
          <a:noFill/>
          <a:ln/>
        </p:spPr>
        <p:txBody>
          <a:bodyPr wrap="square" lIns="0" tIns="0" rIns="0" bIns="0" rtlCol="0" anchor="ctr"/>
          <a:lstStyle/>
          <a:p>
            <a:pPr algn="ctr" indent="0" marL="0">
              <a:buNone/>
            </a:pPr>
            <a:endParaRPr lang="en-US" sz="900" dirty="0"/>
          </a:p>
        </p:txBody>
      </p:sp>
      <p:sp>
        <p:nvSpPr>
          <p:cNvPr id="20" name="Text 18"/>
          <p:cNvSpPr txBox="1"/>
          <p:nvPr/>
        </p:nvSpPr>
        <p:spPr>
          <a:xfrm>
            <a:off x="7443216" y="2212848"/>
            <a:ext cx="2883103" cy="274320"/>
          </a:xfrm>
          <a:prstGeom prst="rect">
            <a:avLst/>
          </a:prstGeom>
          <a:noFill/>
          <a:ln/>
        </p:spPr>
        <p:txBody>
          <a:bodyPr wrap="square" lIns="0" tIns="0" rIns="0" bIns="0" rtlCol="0" anchor="t"/>
          <a:lstStyle/>
          <a:p>
            <a:pPr algn="l" indent="0" marL="0">
              <a:lnSpc>
                <a:spcPct val="112000"/>
              </a:lnSpc>
              <a:buNone/>
            </a:pPr>
            <a:r>
              <a:rPr lang="en-US" sz="1250" b="1" dirty="0">
                <a:solidFill>
                  <a:srgbClr val="1D2433"/>
                </a:solidFill>
                <a:latin typeface="Calibri" pitchFamily="34" charset="0"/>
                <a:ea typeface="Calibri" pitchFamily="34" charset="-122"/>
                <a:cs typeface="Calibri" pitchFamily="34" charset="-120"/>
              </a:rPr>
              <a:t>Product Service</a:t>
            </a:r>
            <a:endParaRPr lang="en-US" sz="1250" dirty="0"/>
          </a:p>
        </p:txBody>
      </p:sp>
      <p:sp>
        <p:nvSpPr>
          <p:cNvPr id="21" name="Text 19"/>
          <p:cNvSpPr txBox="1"/>
          <p:nvPr/>
        </p:nvSpPr>
        <p:spPr>
          <a:xfrm>
            <a:off x="10362895" y="221284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Spring Boot</a:t>
            </a:r>
            <a:endParaRPr lang="en-US" sz="1150" dirty="0"/>
          </a:p>
        </p:txBody>
      </p:sp>
      <p:sp>
        <p:nvSpPr>
          <p:cNvPr id="22" name="Shape 20"/>
          <p:cNvSpPr/>
          <p:nvPr/>
        </p:nvSpPr>
        <p:spPr>
          <a:xfrm>
            <a:off x="7114032" y="2615184"/>
            <a:ext cx="201168" cy="201168"/>
          </a:xfrm>
          <a:prstGeom prst="ellipse">
            <a:avLst/>
          </a:prstGeom>
          <a:solidFill>
            <a:srgbClr val="6D2E46"/>
          </a:solidFill>
          <a:ln/>
        </p:spPr>
      </p:sp>
      <p:sp>
        <p:nvSpPr>
          <p:cNvPr id="23" name="Text 21"/>
          <p:cNvSpPr txBox="1"/>
          <p:nvPr/>
        </p:nvSpPr>
        <p:spPr>
          <a:xfrm>
            <a:off x="7114032" y="2615184"/>
            <a:ext cx="201168" cy="201168"/>
          </a:xfrm>
          <a:prstGeom prst="rect">
            <a:avLst/>
          </a:prstGeom>
          <a:noFill/>
          <a:ln/>
        </p:spPr>
        <p:txBody>
          <a:bodyPr wrap="square" lIns="0" tIns="0" rIns="0" bIns="0" rtlCol="0" anchor="ctr"/>
          <a:lstStyle/>
          <a:p>
            <a:pPr algn="ctr" indent="0" marL="0">
              <a:buNone/>
            </a:pPr>
            <a:endParaRPr lang="en-US" sz="900" dirty="0"/>
          </a:p>
        </p:txBody>
      </p:sp>
      <p:sp>
        <p:nvSpPr>
          <p:cNvPr id="24" name="Text 22"/>
          <p:cNvSpPr txBox="1"/>
          <p:nvPr/>
        </p:nvSpPr>
        <p:spPr>
          <a:xfrm>
            <a:off x="7443216" y="2578608"/>
            <a:ext cx="2883103" cy="274320"/>
          </a:xfrm>
          <a:prstGeom prst="rect">
            <a:avLst/>
          </a:prstGeom>
          <a:noFill/>
          <a:ln/>
        </p:spPr>
        <p:txBody>
          <a:bodyPr wrap="square" lIns="0" tIns="0" rIns="0" bIns="0" rtlCol="0" anchor="t"/>
          <a:lstStyle/>
          <a:p>
            <a:pPr algn="l" indent="0" marL="0">
              <a:lnSpc>
                <a:spcPct val="112000"/>
              </a:lnSpc>
              <a:buNone/>
            </a:pPr>
            <a:r>
              <a:rPr lang="en-US" sz="1250" b="1" dirty="0">
                <a:solidFill>
                  <a:srgbClr val="1D2433"/>
                </a:solidFill>
                <a:latin typeface="Calibri" pitchFamily="34" charset="0"/>
                <a:ea typeface="Calibri" pitchFamily="34" charset="-122"/>
                <a:cs typeface="Calibri" pitchFamily="34" charset="-120"/>
              </a:rPr>
              <a:t>Order Service</a:t>
            </a:r>
            <a:endParaRPr lang="en-US" sz="1250" dirty="0"/>
          </a:p>
        </p:txBody>
      </p:sp>
      <p:sp>
        <p:nvSpPr>
          <p:cNvPr id="25" name="Text 23"/>
          <p:cNvSpPr txBox="1"/>
          <p:nvPr/>
        </p:nvSpPr>
        <p:spPr>
          <a:xfrm>
            <a:off x="10362895" y="257860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.NET 8</a:t>
            </a:r>
            <a:endParaRPr lang="en-US" sz="1150" dirty="0"/>
          </a:p>
        </p:txBody>
      </p:sp>
      <p:sp>
        <p:nvSpPr>
          <p:cNvPr id="26" name="Shape 24"/>
          <p:cNvSpPr/>
          <p:nvPr/>
        </p:nvSpPr>
        <p:spPr>
          <a:xfrm>
            <a:off x="7114032" y="2980944"/>
            <a:ext cx="201168" cy="201168"/>
          </a:xfrm>
          <a:prstGeom prst="ellipse">
            <a:avLst/>
          </a:prstGeom>
          <a:solidFill>
            <a:srgbClr val="FFFFFF"/>
          </a:solidFill>
          <a:ln w="12700">
            <a:solidFill>
              <a:srgbClr val="D5DDE5"/>
            </a:solidFill>
            <a:prstDash val="solid"/>
          </a:ln>
        </p:spPr>
      </p:sp>
      <p:sp>
        <p:nvSpPr>
          <p:cNvPr id="27" name="Text 25"/>
          <p:cNvSpPr txBox="1"/>
          <p:nvPr/>
        </p:nvSpPr>
        <p:spPr>
          <a:xfrm>
            <a:off x="7443216" y="294436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Payment + Notification</a:t>
            </a:r>
            <a:endParaRPr lang="en-US" sz="1250" dirty="0"/>
          </a:p>
        </p:txBody>
      </p:sp>
      <p:sp>
        <p:nvSpPr>
          <p:cNvPr id="28" name="Text 26"/>
          <p:cNvSpPr txBox="1"/>
          <p:nvPr/>
        </p:nvSpPr>
        <p:spPr>
          <a:xfrm>
            <a:off x="10362895" y="294436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 4</a:t>
            </a:r>
            <a:endParaRPr lang="en-US" sz="1150" dirty="0"/>
          </a:p>
        </p:txBody>
      </p:sp>
      <p:sp>
        <p:nvSpPr>
          <p:cNvPr id="29" name="Shape 27"/>
          <p:cNvSpPr/>
          <p:nvPr/>
        </p:nvSpPr>
        <p:spPr>
          <a:xfrm>
            <a:off x="7114032" y="3346704"/>
            <a:ext cx="201168" cy="201168"/>
          </a:xfrm>
          <a:prstGeom prst="ellipse">
            <a:avLst/>
          </a:prstGeom>
          <a:solidFill>
            <a:srgbClr val="FFFFFF"/>
          </a:solidFill>
          <a:ln w="12700">
            <a:solidFill>
              <a:srgbClr val="D5DDE5"/>
            </a:solidFill>
            <a:prstDash val="solid"/>
          </a:ln>
        </p:spPr>
      </p:sp>
      <p:sp>
        <p:nvSpPr>
          <p:cNvPr id="30" name="Text 28"/>
          <p:cNvSpPr txBox="1"/>
          <p:nvPr/>
        </p:nvSpPr>
        <p:spPr>
          <a:xfrm>
            <a:off x="7443216" y="331012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Kafka message broker</a:t>
            </a:r>
            <a:endParaRPr lang="en-US" sz="1250" dirty="0"/>
          </a:p>
        </p:txBody>
      </p:sp>
      <p:sp>
        <p:nvSpPr>
          <p:cNvPr id="31" name="Text 29"/>
          <p:cNvSpPr txBox="1"/>
          <p:nvPr/>
        </p:nvSpPr>
        <p:spPr>
          <a:xfrm>
            <a:off x="10362895" y="331012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 4</a:t>
            </a:r>
            <a:endParaRPr lang="en-US" sz="1150" dirty="0"/>
          </a:p>
        </p:txBody>
      </p:sp>
      <p:sp>
        <p:nvSpPr>
          <p:cNvPr id="32" name="Shape 30"/>
          <p:cNvSpPr/>
          <p:nvPr/>
        </p:nvSpPr>
        <p:spPr>
          <a:xfrm>
            <a:off x="7114032" y="3712464"/>
            <a:ext cx="201168" cy="201168"/>
          </a:xfrm>
          <a:prstGeom prst="ellipse">
            <a:avLst/>
          </a:prstGeom>
          <a:solidFill>
            <a:srgbClr val="FFFFFF"/>
          </a:solidFill>
          <a:ln w="12700">
            <a:solidFill>
              <a:srgbClr val="D5DDE5"/>
            </a:solidFill>
            <a:prstDash val="solid"/>
          </a:ln>
        </p:spPr>
      </p:sp>
      <p:sp>
        <p:nvSpPr>
          <p:cNvPr id="33" name="Text 31"/>
          <p:cNvSpPr txBox="1"/>
          <p:nvPr/>
        </p:nvSpPr>
        <p:spPr>
          <a:xfrm>
            <a:off x="7443216" y="367588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API Gateway</a:t>
            </a:r>
            <a:endParaRPr lang="en-US" sz="1250" dirty="0"/>
          </a:p>
        </p:txBody>
      </p:sp>
      <p:sp>
        <p:nvSpPr>
          <p:cNvPr id="34" name="Text 32"/>
          <p:cNvSpPr txBox="1"/>
          <p:nvPr/>
        </p:nvSpPr>
        <p:spPr>
          <a:xfrm>
            <a:off x="10362895" y="367588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 5</a:t>
            </a:r>
            <a:endParaRPr lang="en-US" sz="1150" dirty="0"/>
          </a:p>
        </p:txBody>
      </p:sp>
      <p:sp>
        <p:nvSpPr>
          <p:cNvPr id="35" name="Shape 33"/>
          <p:cNvSpPr/>
          <p:nvPr/>
        </p:nvSpPr>
        <p:spPr>
          <a:xfrm>
            <a:off x="7114032" y="4078224"/>
            <a:ext cx="201168" cy="201168"/>
          </a:xfrm>
          <a:prstGeom prst="ellipse">
            <a:avLst/>
          </a:prstGeom>
          <a:solidFill>
            <a:srgbClr val="FFFFFF"/>
          </a:solidFill>
          <a:ln w="12700">
            <a:solidFill>
              <a:srgbClr val="D5DDE5"/>
            </a:solidFill>
            <a:prstDash val="solid"/>
          </a:ln>
        </p:spPr>
      </p:sp>
      <p:sp>
        <p:nvSpPr>
          <p:cNvPr id="36" name="Text 34"/>
          <p:cNvSpPr txBox="1"/>
          <p:nvPr/>
        </p:nvSpPr>
        <p:spPr>
          <a:xfrm>
            <a:off x="7443216" y="404164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Auth Service</a:t>
            </a:r>
            <a:endParaRPr lang="en-US" sz="1250" dirty="0"/>
          </a:p>
        </p:txBody>
      </p:sp>
      <p:sp>
        <p:nvSpPr>
          <p:cNvPr id="37" name="Text 35"/>
          <p:cNvSpPr txBox="1"/>
          <p:nvPr/>
        </p:nvSpPr>
        <p:spPr>
          <a:xfrm>
            <a:off x="10362895" y="404164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 6</a:t>
            </a:r>
            <a:endParaRPr lang="en-US" sz="1150" dirty="0"/>
          </a:p>
        </p:txBody>
      </p:sp>
      <p:sp>
        <p:nvSpPr>
          <p:cNvPr id="38" name="Shape 36"/>
          <p:cNvSpPr/>
          <p:nvPr/>
        </p:nvSpPr>
        <p:spPr>
          <a:xfrm>
            <a:off x="7114032" y="4443984"/>
            <a:ext cx="201168" cy="201168"/>
          </a:xfrm>
          <a:prstGeom prst="ellipse">
            <a:avLst/>
          </a:prstGeom>
          <a:solidFill>
            <a:srgbClr val="FFFFFF"/>
          </a:solidFill>
          <a:ln w="12700">
            <a:solidFill>
              <a:srgbClr val="D5DDE5"/>
            </a:solidFill>
            <a:prstDash val="solid"/>
          </a:ln>
        </p:spPr>
      </p:sp>
      <p:sp>
        <p:nvSpPr>
          <p:cNvPr id="39" name="Text 37"/>
          <p:cNvSpPr txBox="1"/>
          <p:nvPr/>
        </p:nvSpPr>
        <p:spPr>
          <a:xfrm>
            <a:off x="7443216" y="440740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Saga + outbox</a:t>
            </a:r>
            <a:endParaRPr lang="en-US" sz="1250" dirty="0"/>
          </a:p>
        </p:txBody>
      </p:sp>
      <p:sp>
        <p:nvSpPr>
          <p:cNvPr id="40" name="Text 38"/>
          <p:cNvSpPr txBox="1"/>
          <p:nvPr/>
        </p:nvSpPr>
        <p:spPr>
          <a:xfrm>
            <a:off x="10362895" y="440740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 7</a:t>
            </a:r>
            <a:endParaRPr lang="en-US" sz="1150" dirty="0"/>
          </a:p>
        </p:txBody>
      </p:sp>
      <p:sp>
        <p:nvSpPr>
          <p:cNvPr id="41" name="Shape 39"/>
          <p:cNvSpPr/>
          <p:nvPr/>
        </p:nvSpPr>
        <p:spPr>
          <a:xfrm>
            <a:off x="7114032" y="4809744"/>
            <a:ext cx="201168" cy="201168"/>
          </a:xfrm>
          <a:prstGeom prst="ellipse">
            <a:avLst/>
          </a:prstGeom>
          <a:solidFill>
            <a:srgbClr val="FFFFFF"/>
          </a:solidFill>
          <a:ln w="12700">
            <a:solidFill>
              <a:srgbClr val="D5DDE5"/>
            </a:solidFill>
            <a:prstDash val="solid"/>
          </a:ln>
        </p:spPr>
      </p:sp>
      <p:sp>
        <p:nvSpPr>
          <p:cNvPr id="42" name="Text 40"/>
          <p:cNvSpPr txBox="1"/>
          <p:nvPr/>
        </p:nvSpPr>
        <p:spPr>
          <a:xfrm>
            <a:off x="7443216" y="4773168"/>
            <a:ext cx="2883103" cy="274320"/>
          </a:xfrm>
          <a:prstGeom prst="rect">
            <a:avLst/>
          </a:prstGeom>
          <a:noFill/>
          <a:ln/>
        </p:spPr>
        <p:txBody>
          <a:bodyPr wrap="square" lIns="0" tIns="0" rIns="0" bIns="0" rtlCol="0" anchor="t"/>
          <a:lstStyle/>
          <a:p>
            <a:pPr algn="l" indent="0" marL="0">
              <a:lnSpc>
                <a:spcPct val="112000"/>
              </a:lnSpc>
              <a:buNone/>
            </a:pPr>
            <a:r>
              <a:rPr lang="en-US" sz="1250" dirty="0">
                <a:solidFill>
                  <a:srgbClr val="6B7A8D"/>
                </a:solidFill>
                <a:latin typeface="Calibri" pitchFamily="34" charset="0"/>
                <a:ea typeface="Calibri" pitchFamily="34" charset="-122"/>
                <a:cs typeface="Calibri" pitchFamily="34" charset="-120"/>
              </a:rPr>
              <a:t>Kubernetes + observability</a:t>
            </a:r>
            <a:endParaRPr lang="en-US" sz="1250" dirty="0"/>
          </a:p>
        </p:txBody>
      </p:sp>
      <p:sp>
        <p:nvSpPr>
          <p:cNvPr id="43" name="Text 41"/>
          <p:cNvSpPr txBox="1"/>
          <p:nvPr/>
        </p:nvSpPr>
        <p:spPr>
          <a:xfrm>
            <a:off x="10362895" y="4773168"/>
            <a:ext cx="1280160" cy="274320"/>
          </a:xfrm>
          <a:prstGeom prst="rect">
            <a:avLst/>
          </a:prstGeom>
          <a:noFill/>
          <a:ln/>
        </p:spPr>
        <p:txBody>
          <a:bodyPr wrap="square" lIns="0" tIns="0" rIns="0" bIns="0" rtlCol="0" anchor="t"/>
          <a:lstStyle/>
          <a:p>
            <a:pPr algn="r" indent="0" marL="0">
              <a:lnSpc>
                <a:spcPct val="112000"/>
              </a:lnSpc>
              <a:buNone/>
            </a:pPr>
            <a:r>
              <a:rPr lang="en-US" sz="1150" dirty="0">
                <a:solidFill>
                  <a:srgbClr val="6B7A8D"/>
                </a:solidFill>
                <a:latin typeface="Calibri" pitchFamily="34" charset="0"/>
                <a:ea typeface="Calibri" pitchFamily="34" charset="-122"/>
                <a:cs typeface="Calibri" pitchFamily="34" charset="-120"/>
              </a:rPr>
              <a:t>weeks 9-10</a:t>
            </a:r>
            <a:endParaRPr lang="en-US" sz="1150" dirty="0"/>
          </a:p>
        </p:txBody>
      </p:sp>
      <p:sp>
        <p:nvSpPr>
          <p:cNvPr id="44" name="Shape 42"/>
          <p:cNvSpPr/>
          <p:nvPr/>
        </p:nvSpPr>
        <p:spPr>
          <a:xfrm>
            <a:off x="548640" y="3218688"/>
            <a:ext cx="6400800" cy="1243584"/>
          </a:xfrm>
          <a:prstGeom prst="roundRect">
            <a:avLst>
              <a:gd name="adj" fmla="val 5147"/>
            </a:avLst>
          </a:prstGeom>
          <a:solidFill>
            <a:srgbClr val="E6F1F2"/>
          </a:solidFill>
          <a:ln/>
        </p:spPr>
      </p:sp>
      <p:sp>
        <p:nvSpPr>
          <p:cNvPr id="45" name="Text 43"/>
          <p:cNvSpPr txBox="1"/>
          <p:nvPr/>
        </p:nvSpPr>
        <p:spPr>
          <a:xfrm>
            <a:off x="822960" y="3383280"/>
            <a:ext cx="5852160" cy="274320"/>
          </a:xfrm>
          <a:prstGeom prst="rect">
            <a:avLst/>
          </a:prstGeom>
          <a:noFill/>
          <a:ln/>
        </p:spPr>
        <p:txBody>
          <a:bodyPr wrap="square" lIns="0" tIns="0" rIns="0" bIns="0" rtlCol="0" anchor="t"/>
          <a:lstStyle/>
          <a:p>
            <a:pPr algn="l" indent="0" marL="0">
              <a:lnSpc>
                <a:spcPct val="112000"/>
              </a:lnSpc>
              <a:buNone/>
            </a:pPr>
            <a:r>
              <a:rPr lang="en-US" sz="1400" b="1" dirty="0">
                <a:solidFill>
                  <a:srgbClr val="028090"/>
                </a:solidFill>
                <a:latin typeface="Calibri" pitchFamily="34" charset="0"/>
                <a:ea typeface="Calibri" pitchFamily="34" charset="-122"/>
                <a:cs typeface="Calibri" pitchFamily="34" charset="-120"/>
              </a:rPr>
              <a:t>Why three different languages on purpose</a:t>
            </a:r>
            <a:endParaRPr lang="en-US" sz="1400" dirty="0"/>
          </a:p>
        </p:txBody>
      </p:sp>
      <p:sp>
        <p:nvSpPr>
          <p:cNvPr id="46" name="Text 44"/>
          <p:cNvSpPr txBox="1"/>
          <p:nvPr/>
        </p:nvSpPr>
        <p:spPr>
          <a:xfrm>
            <a:off x="822960" y="3694176"/>
            <a:ext cx="5852160" cy="713232"/>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If every service were Spring Boot, the design would lean on Spring’s conventions and an architectural pattern would be impossible to tell from a framework habit.</a:t>
            </a:r>
            <a:endParaRPr lang="en-US" sz="1250" dirty="0"/>
          </a:p>
        </p:txBody>
      </p:sp>
      <p:sp>
        <p:nvSpPr>
          <p:cNvPr id="47" name="Shape 45"/>
          <p:cNvSpPr/>
          <p:nvPr/>
        </p:nvSpPr>
        <p:spPr>
          <a:xfrm>
            <a:off x="548640" y="4572000"/>
            <a:ext cx="6400800" cy="1243584"/>
          </a:xfrm>
          <a:prstGeom prst="roundRect">
            <a:avLst>
              <a:gd name="adj" fmla="val 5147"/>
            </a:avLst>
          </a:prstGeom>
          <a:solidFill>
            <a:srgbClr val="F4F6F8"/>
          </a:solidFill>
          <a:ln/>
        </p:spPr>
      </p:sp>
      <p:sp>
        <p:nvSpPr>
          <p:cNvPr id="48" name="Text 46"/>
          <p:cNvSpPr txBox="1"/>
          <p:nvPr/>
        </p:nvSpPr>
        <p:spPr>
          <a:xfrm>
            <a:off x="822960" y="4736592"/>
            <a:ext cx="5852160" cy="274320"/>
          </a:xfrm>
          <a:prstGeom prst="rect">
            <a:avLst/>
          </a:prstGeom>
          <a:noFill/>
          <a:ln/>
        </p:spPr>
        <p:txBody>
          <a:bodyPr wrap="square" lIns="0" tIns="0" rIns="0" bIns="0" rtlCol="0" anchor="t"/>
          <a:lstStyle/>
          <a:p>
            <a:pPr algn="l" indent="0" marL="0">
              <a:lnSpc>
                <a:spcPct val="112000"/>
              </a:lnSpc>
              <a:buNone/>
            </a:pPr>
            <a:r>
              <a:rPr lang="en-US" sz="1400" b="1" dirty="0">
                <a:solidFill>
                  <a:srgbClr val="A8620A"/>
                </a:solidFill>
                <a:latin typeface="Calibri" pitchFamily="34" charset="0"/>
                <a:ea typeface="Calibri" pitchFamily="34" charset="-122"/>
                <a:cs typeface="Calibri" pitchFamily="34" charset="-120"/>
              </a:rPr>
              <a:t>Still open after three weeks</a:t>
            </a:r>
            <a:endParaRPr lang="en-US" sz="1400" dirty="0"/>
          </a:p>
        </p:txBody>
      </p:sp>
      <p:sp>
        <p:nvSpPr>
          <p:cNvPr id="49" name="Text 47"/>
          <p:cNvSpPr txBox="1"/>
          <p:nvPr/>
        </p:nvSpPr>
        <p:spPr>
          <a:xfrm>
            <a:off x="822960" y="5047488"/>
            <a:ext cx="5852160" cy="676656"/>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No authentication anywhere · compensation is best-effort · no events published yet · stock reservations are immediate decrements · Compose written but not yet run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D2433"/>
        </a:solidFill>
      </p:bgPr>
    </p:bg>
    <p:spTree>
      <p:nvGrpSpPr>
        <p:cNvPr id="1" name=""/>
        <p:cNvGrpSpPr/>
        <p:nvPr/>
      </p:nvGrpSpPr>
      <p:grpSpPr>
        <a:xfrm>
          <a:off x="0" y="0"/>
          <a:ext cx="0" cy="0"/>
          <a:chOff x="0" y="0"/>
          <a:chExt cx="0" cy="0"/>
        </a:xfrm>
      </p:grpSpPr>
      <p:sp>
        <p:nvSpPr>
          <p:cNvPr id="2" name="Shape 0"/>
          <p:cNvSpPr/>
          <p:nvPr/>
        </p:nvSpPr>
        <p:spPr>
          <a:xfrm>
            <a:off x="548640" y="1417320"/>
            <a:ext cx="786384" cy="786384"/>
          </a:xfrm>
          <a:prstGeom prst="ellipse">
            <a:avLst/>
          </a:prstGeom>
          <a:solidFill>
            <a:srgbClr val="3FB3AC"/>
          </a:solidFill>
          <a:ln/>
        </p:spPr>
      </p:sp>
      <p:sp>
        <p:nvSpPr>
          <p:cNvPr id="3" name="Text 1"/>
          <p:cNvSpPr txBox="1"/>
          <p:nvPr/>
        </p:nvSpPr>
        <p:spPr>
          <a:xfrm>
            <a:off x="548640" y="1417320"/>
            <a:ext cx="786384" cy="786384"/>
          </a:xfrm>
          <a:prstGeom prst="rect">
            <a:avLst/>
          </a:prstGeom>
          <a:noFill/>
          <a:ln/>
        </p:spPr>
        <p:txBody>
          <a:bodyPr wrap="square" lIns="0" tIns="0" rIns="0" bIns="0" rtlCol="0" anchor="ctr"/>
          <a:lstStyle/>
          <a:p>
            <a:pPr algn="ctr" indent="0" marL="0">
              <a:buNone/>
            </a:pPr>
            <a:r>
              <a:rPr lang="en-US" sz="2600" b="1" dirty="0">
                <a:solidFill>
                  <a:srgbClr val="1D2433"/>
                </a:solidFill>
                <a:latin typeface="Calibri" pitchFamily="34" charset="0"/>
                <a:ea typeface="Calibri" pitchFamily="34" charset="-122"/>
                <a:cs typeface="Calibri" pitchFamily="34" charset="-120"/>
              </a:rPr>
              <a:t>1</a:t>
            </a:r>
            <a:endParaRPr lang="en-US" sz="2600" dirty="0"/>
          </a:p>
        </p:txBody>
      </p:sp>
      <p:sp>
        <p:nvSpPr>
          <p:cNvPr id="4" name="Text 2"/>
          <p:cNvSpPr txBox="1"/>
          <p:nvPr/>
        </p:nvSpPr>
        <p:spPr>
          <a:xfrm>
            <a:off x="548640" y="2432304"/>
            <a:ext cx="11094415" cy="256032"/>
          </a:xfrm>
          <a:prstGeom prst="rect">
            <a:avLst/>
          </a:prstGeom>
          <a:noFill/>
          <a:ln/>
        </p:spPr>
        <p:txBody>
          <a:bodyPr wrap="square" lIns="0" tIns="0" rIns="0" bIns="0" rtlCol="0" anchor="t"/>
          <a:lstStyle/>
          <a:p>
            <a:pPr algn="l" indent="0" marL="0">
              <a:lnSpc>
                <a:spcPct val="112000"/>
              </a:lnSpc>
              <a:buNone/>
            </a:pPr>
            <a:r>
              <a:rPr lang="en-US" sz="1200" b="1" spc="250" kern="0" dirty="0">
                <a:solidFill>
                  <a:srgbClr val="3FB3AC"/>
                </a:solidFill>
                <a:latin typeface="Calibri" pitchFamily="34" charset="0"/>
                <a:ea typeface="Calibri" pitchFamily="34" charset="-122"/>
                <a:cs typeface="Calibri" pitchFamily="34" charset="-120"/>
              </a:rPr>
              <a:t>WEEK 1  ·  DAYS 1-7</a:t>
            </a:r>
            <a:endParaRPr lang="en-US" sz="1200" dirty="0"/>
          </a:p>
        </p:txBody>
      </p:sp>
      <p:sp>
        <p:nvSpPr>
          <p:cNvPr id="5" name="Text 3"/>
          <p:cNvSpPr txBox="1"/>
          <p:nvPr/>
        </p:nvSpPr>
        <p:spPr>
          <a:xfrm>
            <a:off x="548640" y="2743200"/>
            <a:ext cx="10424160" cy="804672"/>
          </a:xfrm>
          <a:prstGeom prst="rect">
            <a:avLst/>
          </a:prstGeom>
          <a:noFill/>
          <a:ln/>
        </p:spPr>
        <p:txBody>
          <a:bodyPr wrap="square" lIns="0" tIns="0" rIns="0" bIns="0" rtlCol="0" anchor="t"/>
          <a:lstStyle/>
          <a:p>
            <a:pPr algn="l" indent="0" marL="0">
              <a:lnSpc>
                <a:spcPct val="112000"/>
              </a:lnSpc>
              <a:buNone/>
            </a:pPr>
            <a:r>
              <a:rPr lang="en-US" sz="3300" b="1" dirty="0">
                <a:solidFill>
                  <a:srgbClr val="FFFFFF"/>
                </a:solidFill>
                <a:latin typeface="Cambria" pitchFamily="34" charset="0"/>
                <a:ea typeface="Cambria" pitchFamily="34" charset="-122"/>
                <a:cs typeface="Cambria" pitchFamily="34" charset="-120"/>
              </a:rPr>
              <a:t>Foundations: what a microservice actually is</a:t>
            </a:r>
            <a:endParaRPr lang="en-US" sz="3300" dirty="0"/>
          </a:p>
        </p:txBody>
      </p:sp>
      <p:sp>
        <p:nvSpPr>
          <p:cNvPr id="6" name="Text 4"/>
          <p:cNvSpPr txBox="1"/>
          <p:nvPr/>
        </p:nvSpPr>
        <p:spPr>
          <a:xfrm>
            <a:off x="585216" y="3703320"/>
            <a:ext cx="8778240" cy="1737360"/>
          </a:xfrm>
          <a:prstGeom prst="rect">
            <a:avLst/>
          </a:prstGeom>
          <a:noFill/>
          <a:ln/>
        </p:spPr>
        <p:txBody>
          <a:bodyPr wrap="square" lIns="0" tIns="0" rIns="0" bIns="0" rtlCol="0" anchor="ctr"/>
          <a:lstStyle/>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Monolith vs. microservices — what the split buys and what it costs</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Finding service boundaries: one service = one business capability</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Database per service, and the consequences of having no joins</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The conventions fixed once, so nine future services stay consistent</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CONCEPT 1</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Monolith vs. microservices</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Neither is “better”. They fail differently, and you choose which failure you can live with.</a:t>
            </a:r>
            <a:endParaRPr lang="en-US" sz="1350" dirty="0"/>
          </a:p>
        </p:txBody>
      </p:sp>
      <p:sp>
        <p:nvSpPr>
          <p:cNvPr id="5" name="Shape 3"/>
          <p:cNvSpPr/>
          <p:nvPr/>
        </p:nvSpPr>
        <p:spPr>
          <a:xfrm>
            <a:off x="548640" y="1536192"/>
            <a:ext cx="5449824" cy="3063240"/>
          </a:xfrm>
          <a:prstGeom prst="roundRect">
            <a:avLst>
              <a:gd name="adj" fmla="val 2090"/>
            </a:avLst>
          </a:prstGeom>
          <a:solidFill>
            <a:srgbClr val="F4F6F8"/>
          </a:solidFill>
          <a:ln/>
        </p:spPr>
      </p:sp>
      <p:sp>
        <p:nvSpPr>
          <p:cNvPr id="6" name="Shape 4"/>
          <p:cNvSpPr/>
          <p:nvPr/>
        </p:nvSpPr>
        <p:spPr>
          <a:xfrm>
            <a:off x="822960" y="1737360"/>
            <a:ext cx="402336" cy="402336"/>
          </a:xfrm>
          <a:prstGeom prst="ellipse">
            <a:avLst/>
          </a:prstGeom>
          <a:solidFill>
            <a:srgbClr val="6B7A8D"/>
          </a:solidFill>
          <a:ln/>
        </p:spPr>
      </p:sp>
      <p:sp>
        <p:nvSpPr>
          <p:cNvPr id="7" name="Text 5"/>
          <p:cNvSpPr txBox="1"/>
          <p:nvPr/>
        </p:nvSpPr>
        <p:spPr>
          <a:xfrm>
            <a:off x="822960" y="17373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1755648"/>
            <a:ext cx="2743200" cy="329184"/>
          </a:xfrm>
          <a:prstGeom prst="rect">
            <a:avLst/>
          </a:prstGeom>
          <a:noFill/>
          <a:ln/>
        </p:spPr>
        <p:txBody>
          <a:bodyPr wrap="square" lIns="0" tIns="0" rIns="0" bIns="0" rtlCol="0" anchor="t"/>
          <a:lstStyle/>
          <a:p>
            <a:pPr algn="l" indent="0" marL="0">
              <a:lnSpc>
                <a:spcPct val="112000"/>
              </a:lnSpc>
              <a:buNone/>
            </a:pPr>
            <a:r>
              <a:rPr lang="en-US" sz="2000" b="1" dirty="0">
                <a:solidFill>
                  <a:srgbClr val="1D2433"/>
                </a:solidFill>
                <a:latin typeface="Cambria" pitchFamily="34" charset="0"/>
                <a:ea typeface="Cambria" pitchFamily="34" charset="-122"/>
                <a:cs typeface="Cambria" pitchFamily="34" charset="-120"/>
              </a:rPr>
              <a:t>Monolith</a:t>
            </a:r>
            <a:endParaRPr lang="en-US" sz="2000" dirty="0"/>
          </a:p>
        </p:txBody>
      </p:sp>
      <p:sp>
        <p:nvSpPr>
          <p:cNvPr id="9" name="Text 7"/>
          <p:cNvSpPr txBox="1"/>
          <p:nvPr/>
        </p:nvSpPr>
        <p:spPr>
          <a:xfrm>
            <a:off x="841248" y="2212848"/>
            <a:ext cx="4864608" cy="2377440"/>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One deployable unit, one database, one language</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In-process calls — fast, transactional, never “half done”</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One  ACID  transaction covers the whole checkout</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Simple to run: one process, one log, one dashboard</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But: one build, one release train, one shared schema</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One memory leak takes the entire product down</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Scaling means scaling everything, even the idle parts</a:t>
            </a:r>
            <a:endParaRPr lang="en-US" sz="1250" dirty="0"/>
          </a:p>
        </p:txBody>
      </p:sp>
      <p:sp>
        <p:nvSpPr>
          <p:cNvPr id="10" name="Shape 8"/>
          <p:cNvSpPr/>
          <p:nvPr/>
        </p:nvSpPr>
        <p:spPr>
          <a:xfrm>
            <a:off x="6190488" y="1536192"/>
            <a:ext cx="5449824" cy="3063240"/>
          </a:xfrm>
          <a:prstGeom prst="roundRect">
            <a:avLst>
              <a:gd name="adj" fmla="val 2090"/>
            </a:avLst>
          </a:prstGeom>
          <a:solidFill>
            <a:srgbClr val="E6F1F2"/>
          </a:solidFill>
          <a:ln/>
        </p:spPr>
      </p:sp>
      <p:sp>
        <p:nvSpPr>
          <p:cNvPr id="11" name="Shape 9"/>
          <p:cNvSpPr/>
          <p:nvPr/>
        </p:nvSpPr>
        <p:spPr>
          <a:xfrm>
            <a:off x="6464808" y="1737360"/>
            <a:ext cx="402336" cy="402336"/>
          </a:xfrm>
          <a:prstGeom prst="ellipse">
            <a:avLst/>
          </a:prstGeom>
          <a:solidFill>
            <a:srgbClr val="028090"/>
          </a:solidFill>
          <a:ln/>
        </p:spPr>
      </p:sp>
      <p:sp>
        <p:nvSpPr>
          <p:cNvPr id="12" name="Text 10"/>
          <p:cNvSpPr txBox="1"/>
          <p:nvPr/>
        </p:nvSpPr>
        <p:spPr>
          <a:xfrm>
            <a:off x="6464808" y="17373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7013448" y="1755648"/>
            <a:ext cx="3108960" cy="329184"/>
          </a:xfrm>
          <a:prstGeom prst="rect">
            <a:avLst/>
          </a:prstGeom>
          <a:noFill/>
          <a:ln/>
        </p:spPr>
        <p:txBody>
          <a:bodyPr wrap="square" lIns="0" tIns="0" rIns="0" bIns="0" rtlCol="0" anchor="t"/>
          <a:lstStyle/>
          <a:p>
            <a:pPr algn="l" indent="0" marL="0">
              <a:lnSpc>
                <a:spcPct val="112000"/>
              </a:lnSpc>
              <a:buNone/>
            </a:pPr>
            <a:r>
              <a:rPr lang="en-US" sz="2000" b="1" dirty="0">
                <a:solidFill>
                  <a:srgbClr val="028090"/>
                </a:solidFill>
                <a:latin typeface="Cambria" pitchFamily="34" charset="0"/>
                <a:ea typeface="Cambria" pitchFamily="34" charset="-122"/>
                <a:cs typeface="Cambria" pitchFamily="34" charset="-120"/>
              </a:rPr>
              <a:t>Microservices</a:t>
            </a:r>
            <a:endParaRPr lang="en-US" sz="2000" dirty="0"/>
          </a:p>
        </p:txBody>
      </p:sp>
      <p:sp>
        <p:nvSpPr>
          <p:cNvPr id="14" name="Text 12"/>
          <p:cNvSpPr txBox="1"/>
          <p:nvPr/>
        </p:nvSpPr>
        <p:spPr>
          <a:xfrm>
            <a:off x="6483096" y="2212848"/>
            <a:ext cx="4864608" cy="2377440"/>
          </a:xfrm>
          <a:prstGeom prst="rect">
            <a:avLst/>
          </a:prstGeom>
          <a:noFill/>
          <a:ln/>
        </p:spPr>
        <p:txBody>
          <a:bodyPr wrap="square" lIns="0" tIns="0" rIns="0" bIns="0" rtlCol="0" anchor="t"/>
          <a:lstStyle/>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Many deployables, one database each, any language</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Network calls — slow, and they fail in ways calls do not</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No distributed transaction: you need sagas and compensation</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Deploy and scale one capability without touching the rest</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A failing Product Service must not take orders down with it</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But: you now own service discovery, retries, tracing, contracts</a:t>
            </a:r>
            <a:endParaRPr lang="en-US" sz="1250" dirty="0"/>
          </a:p>
          <a:p>
            <a:pPr marL="342900" indent="-342900">
              <a:spcAft>
                <a:spcPts val="1100"/>
              </a:spcAft>
              <a:buSzPct val="100000"/>
              <a:buChar char="•"/>
            </a:pPr>
            <a:r>
              <a:rPr lang="en-US" sz="1250" dirty="0">
                <a:solidFill>
                  <a:srgbClr val="36454F"/>
                </a:solidFill>
                <a:latin typeface="Calibri" pitchFamily="34" charset="0"/>
                <a:ea typeface="Calibri" pitchFamily="34" charset="-122"/>
                <a:cs typeface="Calibri" pitchFamily="34" charset="-120"/>
              </a:rPr>
              <a:t>The complexity does not disappear — it moves into operations</a:t>
            </a:r>
            <a:endParaRPr lang="en-US" sz="1250" dirty="0"/>
          </a:p>
        </p:txBody>
      </p:sp>
      <p:sp>
        <p:nvSpPr>
          <p:cNvPr id="15" name="Shape 13"/>
          <p:cNvSpPr/>
          <p:nvPr/>
        </p:nvSpPr>
        <p:spPr>
          <a:xfrm>
            <a:off x="548640" y="4828032"/>
            <a:ext cx="11094415" cy="731520"/>
          </a:xfrm>
          <a:prstGeom prst="roundRect">
            <a:avLst>
              <a:gd name="adj" fmla="val 8750"/>
            </a:avLst>
          </a:prstGeom>
          <a:solidFill>
            <a:srgbClr val="FBF2E4"/>
          </a:solidFill>
          <a:ln/>
        </p:spPr>
      </p:sp>
      <p:sp>
        <p:nvSpPr>
          <p:cNvPr id="16" name="Text 14"/>
          <p:cNvSpPr txBox="1"/>
          <p:nvPr/>
        </p:nvSpPr>
        <p:spPr>
          <a:xfrm>
            <a:off x="841248" y="5010912"/>
            <a:ext cx="10509199" cy="384048"/>
          </a:xfrm>
          <a:prstGeom prst="rect">
            <a:avLst/>
          </a:prstGeom>
          <a:noFill/>
          <a:ln/>
        </p:spPr>
        <p:txBody>
          <a:bodyPr wrap="square" lIns="0" tIns="0" rIns="0" bIns="0" rtlCol="0" anchor="t"/>
          <a:lstStyle/>
          <a:p>
            <a:pPr algn="ctr" indent="0" marL="0">
              <a:lnSpc>
                <a:spcPct val="112000"/>
              </a:lnSpc>
              <a:buNone/>
            </a:pPr>
            <a:r>
              <a:rPr lang="en-US" sz="1350" i="1" dirty="0">
                <a:solidFill>
                  <a:srgbClr val="1D2433"/>
                </a:solidFill>
                <a:latin typeface="Calibri" pitchFamily="34" charset="0"/>
                <a:ea typeface="Calibri" pitchFamily="34" charset="-122"/>
                <a:cs typeface="Calibri" pitchFamily="34" charset="-120"/>
              </a:rPr>
              <a:t>What this project is really practising is the second column’s costs — everything else here is just HTTP and SQL.</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CONCEPT 2</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Where the seams go</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A service boundary is a business capability, not a technical layer. “Controller service” and “database service” are not services.</a:t>
            </a:r>
            <a:endParaRPr lang="en-US" sz="1350" dirty="0"/>
          </a:p>
        </p:txBody>
      </p:sp>
      <p:sp>
        <p:nvSpPr>
          <p:cNvPr id="5" name="Shape 3"/>
          <p:cNvSpPr/>
          <p:nvPr/>
        </p:nvSpPr>
        <p:spPr>
          <a:xfrm>
            <a:off x="548640" y="1572768"/>
            <a:ext cx="3566160" cy="3246120"/>
          </a:xfrm>
          <a:prstGeom prst="roundRect">
            <a:avLst>
              <a:gd name="adj" fmla="val 1972"/>
            </a:avLst>
          </a:prstGeom>
          <a:solidFill>
            <a:srgbClr val="E6F1F2"/>
          </a:solidFill>
          <a:ln/>
        </p:spPr>
      </p:sp>
      <p:sp>
        <p:nvSpPr>
          <p:cNvPr id="6" name="Shape 4"/>
          <p:cNvSpPr/>
          <p:nvPr/>
        </p:nvSpPr>
        <p:spPr>
          <a:xfrm>
            <a:off x="822960" y="1783080"/>
            <a:ext cx="457200" cy="457200"/>
          </a:xfrm>
          <a:prstGeom prst="ellipse">
            <a:avLst/>
          </a:prstGeom>
          <a:solidFill>
            <a:srgbClr val="028090"/>
          </a:solidFill>
          <a:ln/>
        </p:spPr>
      </p:sp>
      <p:sp>
        <p:nvSpPr>
          <p:cNvPr id="7" name="Text 5"/>
          <p:cNvSpPr txBox="1"/>
          <p:nvPr/>
        </p:nvSpPr>
        <p:spPr>
          <a:xfrm>
            <a:off x="822960" y="1783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Py</a:t>
            </a:r>
            <a:endParaRPr lang="en-US" sz="1300" dirty="0"/>
          </a:p>
        </p:txBody>
      </p:sp>
      <p:sp>
        <p:nvSpPr>
          <p:cNvPr id="8" name="Text 6"/>
          <p:cNvSpPr txBox="1"/>
          <p:nvPr/>
        </p:nvSpPr>
        <p:spPr>
          <a:xfrm>
            <a:off x="1389888" y="1819656"/>
            <a:ext cx="2468880" cy="310896"/>
          </a:xfrm>
          <a:prstGeom prst="rect">
            <a:avLst/>
          </a:prstGeom>
          <a:noFill/>
          <a:ln/>
        </p:spPr>
        <p:txBody>
          <a:bodyPr wrap="square" lIns="0" tIns="0" rIns="0" bIns="0" rtlCol="0" anchor="t"/>
          <a:lstStyle/>
          <a:p>
            <a:pPr algn="l" indent="0" marL="0">
              <a:lnSpc>
                <a:spcPct val="112000"/>
              </a:lnSpc>
              <a:buNone/>
            </a:pPr>
            <a:r>
              <a:rPr lang="en-US" sz="1800" b="1" dirty="0">
                <a:solidFill>
                  <a:srgbClr val="028090"/>
                </a:solidFill>
                <a:latin typeface="Cambria" pitchFamily="34" charset="0"/>
                <a:ea typeface="Cambria" pitchFamily="34" charset="-122"/>
                <a:cs typeface="Cambria" pitchFamily="34" charset="-120"/>
              </a:rPr>
              <a:t>User Service</a:t>
            </a:r>
            <a:endParaRPr lang="en-US" sz="1800" dirty="0"/>
          </a:p>
        </p:txBody>
      </p:sp>
      <p:sp>
        <p:nvSpPr>
          <p:cNvPr id="9" name="Text 7"/>
          <p:cNvSpPr txBox="1"/>
          <p:nvPr/>
        </p:nvSpPr>
        <p:spPr>
          <a:xfrm>
            <a:off x="822960" y="2432304"/>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028090"/>
                </a:solidFill>
                <a:latin typeface="Calibri" pitchFamily="34" charset="0"/>
                <a:ea typeface="Calibri" pitchFamily="34" charset="-122"/>
                <a:cs typeface="Calibri" pitchFamily="34" charset="-120"/>
              </a:rPr>
              <a:t>OWNS</a:t>
            </a:r>
            <a:endParaRPr lang="en-US" sz="1050" dirty="0"/>
          </a:p>
        </p:txBody>
      </p:sp>
      <p:sp>
        <p:nvSpPr>
          <p:cNvPr id="10" name="Text 8"/>
          <p:cNvSpPr txBox="1"/>
          <p:nvPr/>
        </p:nvSpPr>
        <p:spPr>
          <a:xfrm>
            <a:off x="822960" y="2688336"/>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Accounts, profiles,</a:t>
            </a:r>
            <a:endParaRPr lang="en-US" sz="1300" dirty="0"/>
          </a:p>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credentials</a:t>
            </a:r>
            <a:endParaRPr lang="en-US" sz="1300" dirty="0"/>
          </a:p>
        </p:txBody>
      </p:sp>
      <p:sp>
        <p:nvSpPr>
          <p:cNvPr id="11" name="Shape 9"/>
          <p:cNvSpPr/>
          <p:nvPr/>
        </p:nvSpPr>
        <p:spPr>
          <a:xfrm>
            <a:off x="822960" y="3419856"/>
            <a:ext cx="3017520" cy="0"/>
          </a:xfrm>
          <a:prstGeom prst="line">
            <a:avLst/>
          </a:prstGeom>
          <a:noFill/>
          <a:ln w="25400">
            <a:solidFill>
              <a:srgbClr val="FFFFFF"/>
            </a:solidFill>
            <a:prstDash val="solid"/>
          </a:ln>
        </p:spPr>
      </p:sp>
      <p:sp>
        <p:nvSpPr>
          <p:cNvPr id="12" name="Text 10"/>
          <p:cNvSpPr txBox="1"/>
          <p:nvPr/>
        </p:nvSpPr>
        <p:spPr>
          <a:xfrm>
            <a:off x="822960" y="3547872"/>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6B7A8D"/>
                </a:solidFill>
                <a:latin typeface="Calibri" pitchFamily="34" charset="0"/>
                <a:ea typeface="Calibri" pitchFamily="34" charset="-122"/>
                <a:cs typeface="Calibri" pitchFamily="34" charset="-120"/>
              </a:rPr>
              <a:t>DOES NOT KNOW</a:t>
            </a:r>
            <a:endParaRPr lang="en-US" sz="1050" dirty="0"/>
          </a:p>
        </p:txBody>
      </p:sp>
      <p:sp>
        <p:nvSpPr>
          <p:cNvPr id="13" name="Text 11"/>
          <p:cNvSpPr txBox="1"/>
          <p:nvPr/>
        </p:nvSpPr>
        <p:spPr>
          <a:xfrm>
            <a:off x="822960" y="3803904"/>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Pricing. Orders.</a:t>
            </a:r>
            <a:endParaRPr lang="en-US" sz="1300" dirty="0"/>
          </a:p>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Anything a user bought.</a:t>
            </a:r>
            <a:endParaRPr lang="en-US" sz="1300" dirty="0"/>
          </a:p>
        </p:txBody>
      </p:sp>
      <p:sp>
        <p:nvSpPr>
          <p:cNvPr id="14" name="Shape 12"/>
          <p:cNvSpPr/>
          <p:nvPr/>
        </p:nvSpPr>
        <p:spPr>
          <a:xfrm>
            <a:off x="4315968" y="1572768"/>
            <a:ext cx="3566160" cy="3246120"/>
          </a:xfrm>
          <a:prstGeom prst="roundRect">
            <a:avLst>
              <a:gd name="adj" fmla="val 1972"/>
            </a:avLst>
          </a:prstGeom>
          <a:solidFill>
            <a:srgbClr val="EDF2E7"/>
          </a:solidFill>
          <a:ln/>
        </p:spPr>
      </p:sp>
      <p:sp>
        <p:nvSpPr>
          <p:cNvPr id="15" name="Shape 13"/>
          <p:cNvSpPr/>
          <p:nvPr/>
        </p:nvSpPr>
        <p:spPr>
          <a:xfrm>
            <a:off x="4590288" y="1783080"/>
            <a:ext cx="457200" cy="457200"/>
          </a:xfrm>
          <a:prstGeom prst="ellipse">
            <a:avLst/>
          </a:prstGeom>
          <a:solidFill>
            <a:srgbClr val="3A6B2E"/>
          </a:solidFill>
          <a:ln/>
        </p:spPr>
      </p:sp>
      <p:sp>
        <p:nvSpPr>
          <p:cNvPr id="16" name="Text 14"/>
          <p:cNvSpPr txBox="1"/>
          <p:nvPr/>
        </p:nvSpPr>
        <p:spPr>
          <a:xfrm>
            <a:off x="4590288" y="1783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Jv</a:t>
            </a:r>
            <a:endParaRPr lang="en-US" sz="1300" dirty="0"/>
          </a:p>
        </p:txBody>
      </p:sp>
      <p:sp>
        <p:nvSpPr>
          <p:cNvPr id="17" name="Text 15"/>
          <p:cNvSpPr txBox="1"/>
          <p:nvPr/>
        </p:nvSpPr>
        <p:spPr>
          <a:xfrm>
            <a:off x="5157216" y="1819656"/>
            <a:ext cx="2468880" cy="310896"/>
          </a:xfrm>
          <a:prstGeom prst="rect">
            <a:avLst/>
          </a:prstGeom>
          <a:noFill/>
          <a:ln/>
        </p:spPr>
        <p:txBody>
          <a:bodyPr wrap="square" lIns="0" tIns="0" rIns="0" bIns="0" rtlCol="0" anchor="t"/>
          <a:lstStyle/>
          <a:p>
            <a:pPr algn="l" indent="0" marL="0">
              <a:lnSpc>
                <a:spcPct val="112000"/>
              </a:lnSpc>
              <a:buNone/>
            </a:pPr>
            <a:r>
              <a:rPr lang="en-US" sz="1800" b="1" dirty="0">
                <a:solidFill>
                  <a:srgbClr val="3A6B2E"/>
                </a:solidFill>
                <a:latin typeface="Cambria" pitchFamily="34" charset="0"/>
                <a:ea typeface="Cambria" pitchFamily="34" charset="-122"/>
                <a:cs typeface="Cambria" pitchFamily="34" charset="-120"/>
              </a:rPr>
              <a:t>Product Service</a:t>
            </a:r>
            <a:endParaRPr lang="en-US" sz="1800" dirty="0"/>
          </a:p>
        </p:txBody>
      </p:sp>
      <p:sp>
        <p:nvSpPr>
          <p:cNvPr id="18" name="Text 16"/>
          <p:cNvSpPr txBox="1"/>
          <p:nvPr/>
        </p:nvSpPr>
        <p:spPr>
          <a:xfrm>
            <a:off x="4590288" y="2432304"/>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3A6B2E"/>
                </a:solidFill>
                <a:latin typeface="Calibri" pitchFamily="34" charset="0"/>
                <a:ea typeface="Calibri" pitchFamily="34" charset="-122"/>
                <a:cs typeface="Calibri" pitchFamily="34" charset="-120"/>
              </a:rPr>
              <a:t>OWNS</a:t>
            </a:r>
            <a:endParaRPr lang="en-US" sz="1050" dirty="0"/>
          </a:p>
        </p:txBody>
      </p:sp>
      <p:sp>
        <p:nvSpPr>
          <p:cNvPr id="19" name="Text 17"/>
          <p:cNvSpPr txBox="1"/>
          <p:nvPr/>
        </p:nvSpPr>
        <p:spPr>
          <a:xfrm>
            <a:off x="4590288" y="2688336"/>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Catalogue, prices,</a:t>
            </a:r>
            <a:endParaRPr lang="en-US" sz="1300" dirty="0"/>
          </a:p>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stock levels</a:t>
            </a:r>
            <a:endParaRPr lang="en-US" sz="1300" dirty="0"/>
          </a:p>
        </p:txBody>
      </p:sp>
      <p:sp>
        <p:nvSpPr>
          <p:cNvPr id="20" name="Shape 18"/>
          <p:cNvSpPr/>
          <p:nvPr/>
        </p:nvSpPr>
        <p:spPr>
          <a:xfrm>
            <a:off x="4590288" y="3419856"/>
            <a:ext cx="3017520" cy="0"/>
          </a:xfrm>
          <a:prstGeom prst="line">
            <a:avLst/>
          </a:prstGeom>
          <a:noFill/>
          <a:ln w="25400">
            <a:solidFill>
              <a:srgbClr val="FFFFFF"/>
            </a:solidFill>
            <a:prstDash val="solid"/>
          </a:ln>
        </p:spPr>
      </p:sp>
      <p:sp>
        <p:nvSpPr>
          <p:cNvPr id="21" name="Text 19"/>
          <p:cNvSpPr txBox="1"/>
          <p:nvPr/>
        </p:nvSpPr>
        <p:spPr>
          <a:xfrm>
            <a:off x="4590288" y="3547872"/>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6B7A8D"/>
                </a:solidFill>
                <a:latin typeface="Calibri" pitchFamily="34" charset="0"/>
                <a:ea typeface="Calibri" pitchFamily="34" charset="-122"/>
                <a:cs typeface="Calibri" pitchFamily="34" charset="-120"/>
              </a:rPr>
              <a:t>DOES NOT KNOW</a:t>
            </a:r>
            <a:endParaRPr lang="en-US" sz="1050" dirty="0"/>
          </a:p>
        </p:txBody>
      </p:sp>
      <p:sp>
        <p:nvSpPr>
          <p:cNvPr id="22" name="Text 20"/>
          <p:cNvSpPr txBox="1"/>
          <p:nvPr/>
        </p:nvSpPr>
        <p:spPr>
          <a:xfrm>
            <a:off x="4590288" y="3803904"/>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Who bought it. Whether</a:t>
            </a:r>
            <a:endParaRPr lang="en-US" sz="1300" dirty="0"/>
          </a:p>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the buyer exists.</a:t>
            </a:r>
            <a:endParaRPr lang="en-US" sz="1300" dirty="0"/>
          </a:p>
        </p:txBody>
      </p:sp>
      <p:sp>
        <p:nvSpPr>
          <p:cNvPr id="23" name="Shape 21"/>
          <p:cNvSpPr/>
          <p:nvPr/>
        </p:nvSpPr>
        <p:spPr>
          <a:xfrm>
            <a:off x="8083296" y="1572768"/>
            <a:ext cx="3566160" cy="3246120"/>
          </a:xfrm>
          <a:prstGeom prst="roundRect">
            <a:avLst>
              <a:gd name="adj" fmla="val 1972"/>
            </a:avLst>
          </a:prstGeom>
          <a:solidFill>
            <a:srgbClr val="F6EAEE"/>
          </a:solidFill>
          <a:ln/>
        </p:spPr>
      </p:sp>
      <p:sp>
        <p:nvSpPr>
          <p:cNvPr id="24" name="Shape 22"/>
          <p:cNvSpPr/>
          <p:nvPr/>
        </p:nvSpPr>
        <p:spPr>
          <a:xfrm>
            <a:off x="8357616" y="1783080"/>
            <a:ext cx="457200" cy="457200"/>
          </a:xfrm>
          <a:prstGeom prst="ellipse">
            <a:avLst/>
          </a:prstGeom>
          <a:solidFill>
            <a:srgbClr val="6D2E46"/>
          </a:solidFill>
          <a:ln/>
        </p:spPr>
      </p:sp>
      <p:sp>
        <p:nvSpPr>
          <p:cNvPr id="25" name="Text 23"/>
          <p:cNvSpPr txBox="1"/>
          <p:nvPr/>
        </p:nvSpPr>
        <p:spPr>
          <a:xfrm>
            <a:off x="8357616" y="1783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6" name="Text 24"/>
          <p:cNvSpPr txBox="1"/>
          <p:nvPr/>
        </p:nvSpPr>
        <p:spPr>
          <a:xfrm>
            <a:off x="8924544" y="1819656"/>
            <a:ext cx="2468880" cy="310896"/>
          </a:xfrm>
          <a:prstGeom prst="rect">
            <a:avLst/>
          </a:prstGeom>
          <a:noFill/>
          <a:ln/>
        </p:spPr>
        <p:txBody>
          <a:bodyPr wrap="square" lIns="0" tIns="0" rIns="0" bIns="0" rtlCol="0" anchor="t"/>
          <a:lstStyle/>
          <a:p>
            <a:pPr algn="l" indent="0" marL="0">
              <a:lnSpc>
                <a:spcPct val="112000"/>
              </a:lnSpc>
              <a:buNone/>
            </a:pPr>
            <a:r>
              <a:rPr lang="en-US" sz="1800" b="1" dirty="0">
                <a:solidFill>
                  <a:srgbClr val="6D2E46"/>
                </a:solidFill>
                <a:latin typeface="Cambria" pitchFamily="34" charset="0"/>
                <a:ea typeface="Cambria" pitchFamily="34" charset="-122"/>
                <a:cs typeface="Cambria" pitchFamily="34" charset="-120"/>
              </a:rPr>
              <a:t>Order Service</a:t>
            </a:r>
            <a:endParaRPr lang="en-US" sz="1800" dirty="0"/>
          </a:p>
        </p:txBody>
      </p:sp>
      <p:sp>
        <p:nvSpPr>
          <p:cNvPr id="27" name="Text 25"/>
          <p:cNvSpPr txBox="1"/>
          <p:nvPr/>
        </p:nvSpPr>
        <p:spPr>
          <a:xfrm>
            <a:off x="8357616" y="2432304"/>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6D2E46"/>
                </a:solidFill>
                <a:latin typeface="Calibri" pitchFamily="34" charset="0"/>
                <a:ea typeface="Calibri" pitchFamily="34" charset="-122"/>
                <a:cs typeface="Calibri" pitchFamily="34" charset="-120"/>
              </a:rPr>
              <a:t>OWNS</a:t>
            </a:r>
            <a:endParaRPr lang="en-US" sz="1050" dirty="0"/>
          </a:p>
        </p:txBody>
      </p:sp>
      <p:sp>
        <p:nvSpPr>
          <p:cNvPr id="28" name="Text 26"/>
          <p:cNvSpPr txBox="1"/>
          <p:nvPr/>
        </p:nvSpPr>
        <p:spPr>
          <a:xfrm>
            <a:off x="8357616" y="2688336"/>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Orders, order lines,</a:t>
            </a:r>
            <a:endParaRPr lang="en-US" sz="1300" dirty="0"/>
          </a:p>
          <a:p>
            <a:pPr algn="l" indent="0" marL="0">
              <a:lnSpc>
                <a:spcPct val="115000"/>
              </a:lnSpc>
              <a:buNone/>
            </a:pPr>
            <a:r>
              <a:rPr lang="en-US" sz="1300" dirty="0">
                <a:solidFill>
                  <a:srgbClr val="1D2433"/>
                </a:solidFill>
                <a:latin typeface="Calibri" pitchFamily="34" charset="0"/>
                <a:ea typeface="Calibri" pitchFamily="34" charset="-122"/>
                <a:cs typeface="Calibri" pitchFamily="34" charset="-120"/>
              </a:rPr>
              <a:t>the order lifecycle</a:t>
            </a:r>
            <a:endParaRPr lang="en-US" sz="1300" dirty="0"/>
          </a:p>
        </p:txBody>
      </p:sp>
      <p:sp>
        <p:nvSpPr>
          <p:cNvPr id="29" name="Shape 27"/>
          <p:cNvSpPr/>
          <p:nvPr/>
        </p:nvSpPr>
        <p:spPr>
          <a:xfrm>
            <a:off x="8357616" y="3419856"/>
            <a:ext cx="3017520" cy="0"/>
          </a:xfrm>
          <a:prstGeom prst="line">
            <a:avLst/>
          </a:prstGeom>
          <a:noFill/>
          <a:ln w="25400">
            <a:solidFill>
              <a:srgbClr val="FFFFFF"/>
            </a:solidFill>
            <a:prstDash val="solid"/>
          </a:ln>
        </p:spPr>
      </p:sp>
      <p:sp>
        <p:nvSpPr>
          <p:cNvPr id="30" name="Text 28"/>
          <p:cNvSpPr txBox="1"/>
          <p:nvPr/>
        </p:nvSpPr>
        <p:spPr>
          <a:xfrm>
            <a:off x="8357616" y="3547872"/>
            <a:ext cx="3017520"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6B7A8D"/>
                </a:solidFill>
                <a:latin typeface="Calibri" pitchFamily="34" charset="0"/>
                <a:ea typeface="Calibri" pitchFamily="34" charset="-122"/>
                <a:cs typeface="Calibri" pitchFamily="34" charset="-120"/>
              </a:rPr>
              <a:t>DOES NOT KNOW</a:t>
            </a:r>
            <a:endParaRPr lang="en-US" sz="1050" dirty="0"/>
          </a:p>
        </p:txBody>
      </p:sp>
      <p:sp>
        <p:nvSpPr>
          <p:cNvPr id="31" name="Text 29"/>
          <p:cNvSpPr txBox="1"/>
          <p:nvPr/>
        </p:nvSpPr>
        <p:spPr>
          <a:xfrm>
            <a:off x="8357616" y="3803904"/>
            <a:ext cx="3017520" cy="603504"/>
          </a:xfrm>
          <a:prstGeom prst="rect">
            <a:avLst/>
          </a:prstGeom>
          <a:noFill/>
          <a:ln/>
        </p:spPr>
        <p:txBody>
          <a:bodyPr wrap="square" lIns="0" tIns="0" rIns="0" bIns="0" rtlCol="0" anchor="t"/>
          <a:lstStyle/>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What a product costs</a:t>
            </a:r>
            <a:endParaRPr lang="en-US" sz="1300" dirty="0"/>
          </a:p>
          <a:p>
            <a:pPr algn="l" indent="0" marL="0">
              <a:lnSpc>
                <a:spcPct val="115000"/>
              </a:lnSpc>
              <a:buNone/>
            </a:pPr>
            <a:r>
              <a:rPr lang="en-US" sz="1300" dirty="0">
                <a:solidFill>
                  <a:srgbClr val="6B7A8D"/>
                </a:solidFill>
                <a:latin typeface="Calibri" pitchFamily="34" charset="0"/>
                <a:ea typeface="Calibri" pitchFamily="34" charset="-122"/>
                <a:cs typeface="Calibri" pitchFamily="34" charset="-120"/>
              </a:rPr>
              <a:t>today. User details.</a:t>
            </a:r>
            <a:endParaRPr lang="en-US" sz="1300" dirty="0"/>
          </a:p>
        </p:txBody>
      </p:sp>
      <p:sp>
        <p:nvSpPr>
          <p:cNvPr id="32" name="Shape 30"/>
          <p:cNvSpPr/>
          <p:nvPr/>
        </p:nvSpPr>
        <p:spPr>
          <a:xfrm>
            <a:off x="548640" y="4956048"/>
            <a:ext cx="11094415" cy="1097280"/>
          </a:xfrm>
          <a:prstGeom prst="roundRect">
            <a:avLst>
              <a:gd name="adj" fmla="val 5833"/>
            </a:avLst>
          </a:prstGeom>
          <a:solidFill>
            <a:srgbClr val="F4F6F8"/>
          </a:solidFill>
          <a:ln/>
        </p:spPr>
      </p:sp>
      <p:sp>
        <p:nvSpPr>
          <p:cNvPr id="33" name="Text 31"/>
          <p:cNvSpPr txBox="1"/>
          <p:nvPr/>
        </p:nvSpPr>
        <p:spPr>
          <a:xfrm>
            <a:off x="841248" y="5120640"/>
            <a:ext cx="3657600" cy="274320"/>
          </a:xfrm>
          <a:prstGeom prst="rect">
            <a:avLst/>
          </a:prstGeom>
          <a:noFill/>
          <a:ln/>
        </p:spPr>
        <p:txBody>
          <a:bodyPr wrap="square" lIns="0" tIns="0" rIns="0" bIns="0" rtlCol="0" anchor="t"/>
          <a:lstStyle/>
          <a:p>
            <a:pPr algn="l" indent="0" marL="0">
              <a:lnSpc>
                <a:spcPct val="112000"/>
              </a:lnSpc>
              <a:buNone/>
            </a:pPr>
            <a:r>
              <a:rPr lang="en-US" sz="1400" b="1" dirty="0">
                <a:solidFill>
                  <a:srgbClr val="1D2433"/>
                </a:solidFill>
                <a:latin typeface="Calibri" pitchFamily="34" charset="0"/>
                <a:ea typeface="Calibri" pitchFamily="34" charset="-122"/>
                <a:cs typeface="Calibri" pitchFamily="34" charset="-120"/>
              </a:rPr>
              <a:t>The test for a good boundary</a:t>
            </a:r>
            <a:endParaRPr lang="en-US" sz="1400" dirty="0"/>
          </a:p>
        </p:txBody>
      </p:sp>
      <p:sp>
        <p:nvSpPr>
          <p:cNvPr id="34" name="Text 32"/>
          <p:cNvSpPr txBox="1"/>
          <p:nvPr/>
        </p:nvSpPr>
        <p:spPr>
          <a:xfrm>
            <a:off x="841248" y="5431536"/>
            <a:ext cx="10509199" cy="548640"/>
          </a:xfrm>
          <a:prstGeom prst="rect">
            <a:avLst/>
          </a:prstGeom>
          <a:noFill/>
          <a:ln/>
        </p:spPr>
        <p:txBody>
          <a:bodyPr wrap="square" lIns="0" tIns="0" rIns="0" bIns="0" rtlCol="0" anchor="t"/>
          <a:lstStyle/>
          <a:p>
            <a:pPr algn="l" indent="0" marL="0">
              <a:lnSpc>
                <a:spcPct val="115000"/>
              </a:lnSpc>
              <a:buNone/>
            </a:pPr>
            <a:r>
              <a:rPr lang="en-US" sz="1250" dirty="0">
                <a:solidFill>
                  <a:srgbClr val="36454F"/>
                </a:solidFill>
                <a:latin typeface="Calibri" pitchFamily="34" charset="0"/>
                <a:ea typeface="Calibri" pitchFamily="34" charset="-122"/>
                <a:cs typeface="Calibri" pitchFamily="34" charset="-120"/>
              </a:rPr>
              <a:t>Can this service be deployed on a Tuesday afternoon without coordinating with any other team? If a change to the catalogue forces a change to orders every single time, the seam is in the wrong place — the two belong together.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CONCEPT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Database per service — and life without joins</a:t>
            </a:r>
            <a:endParaRPr lang="en-US" sz="2900" dirty="0"/>
          </a:p>
        </p:txBody>
      </p:sp>
      <p:sp>
        <p:nvSpPr>
          <p:cNvPr id="4" name="Shape 2"/>
          <p:cNvSpPr/>
          <p:nvPr/>
        </p:nvSpPr>
        <p:spPr>
          <a:xfrm>
            <a:off x="548640" y="1481328"/>
            <a:ext cx="2651760" cy="658368"/>
          </a:xfrm>
          <a:prstGeom prst="roundRect">
            <a:avLst>
              <a:gd name="adj" fmla="val 9722"/>
            </a:avLst>
          </a:prstGeom>
          <a:solidFill>
            <a:srgbClr val="E6F1F2"/>
          </a:solidFill>
          <a:ln/>
        </p:spPr>
      </p:sp>
      <p:sp>
        <p:nvSpPr>
          <p:cNvPr id="5" name="Text 3"/>
          <p:cNvSpPr txBox="1"/>
          <p:nvPr/>
        </p:nvSpPr>
        <p:spPr>
          <a:xfrm>
            <a:off x="548640" y="1481328"/>
            <a:ext cx="2651760" cy="658368"/>
          </a:xfrm>
          <a:prstGeom prst="rect">
            <a:avLst/>
          </a:prstGeom>
          <a:noFill/>
          <a:ln/>
        </p:spPr>
        <p:txBody>
          <a:bodyPr wrap="square" lIns="0" tIns="0" rIns="0" bIns="0" rtlCol="0" anchor="ctr"/>
          <a:lstStyle/>
          <a:p>
            <a:pPr algn="ctr" indent="0" marL="0">
              <a:lnSpc>
                <a:spcPct val="112000"/>
              </a:lnSpc>
              <a:buNone/>
            </a:pPr>
            <a:r>
              <a:rPr lang="en-US" sz="1400" b="1" dirty="0">
                <a:solidFill>
                  <a:srgbClr val="028090"/>
                </a:solidFill>
                <a:latin typeface="Calibri" pitchFamily="34" charset="0"/>
                <a:ea typeface="Calibri" pitchFamily="34" charset="-122"/>
                <a:cs typeface="Calibri" pitchFamily="34" charset="-120"/>
              </a:rPr>
              <a:t>User Service</a:t>
            </a:r>
            <a:endParaRPr lang="en-US" sz="1400" dirty="0"/>
          </a:p>
        </p:txBody>
      </p:sp>
      <p:sp>
        <p:nvSpPr>
          <p:cNvPr id="6" name="Shape 4"/>
          <p:cNvSpPr/>
          <p:nvPr/>
        </p:nvSpPr>
        <p:spPr>
          <a:xfrm>
            <a:off x="1874520" y="2139696"/>
            <a:ext cx="0" cy="329184"/>
          </a:xfrm>
          <a:prstGeom prst="line">
            <a:avLst/>
          </a:prstGeom>
          <a:noFill/>
          <a:ln w="19050">
            <a:solidFill>
              <a:srgbClr val="028090"/>
            </a:solidFill>
            <a:prstDash val="solid"/>
            <a:tailEnd type="triangle"/>
          </a:ln>
        </p:spPr>
      </p:sp>
      <p:sp>
        <p:nvSpPr>
          <p:cNvPr id="7" name="Shape 5"/>
          <p:cNvSpPr/>
          <p:nvPr/>
        </p:nvSpPr>
        <p:spPr>
          <a:xfrm>
            <a:off x="548640" y="2468880"/>
            <a:ext cx="2651760" cy="603504"/>
          </a:xfrm>
          <a:prstGeom prst="roundRect">
            <a:avLst>
              <a:gd name="adj" fmla="val 10606"/>
            </a:avLst>
          </a:prstGeom>
          <a:solidFill>
            <a:srgbClr val="EDF1F5"/>
          </a:solidFill>
          <a:ln/>
        </p:spPr>
      </p:sp>
      <p:sp>
        <p:nvSpPr>
          <p:cNvPr id="8" name="Text 6"/>
          <p:cNvSpPr txBox="1"/>
          <p:nvPr/>
        </p:nvSpPr>
        <p:spPr>
          <a:xfrm>
            <a:off x="548640" y="2468880"/>
            <a:ext cx="2651760" cy="603504"/>
          </a:xfrm>
          <a:prstGeom prst="rect">
            <a:avLst/>
          </a:prstGeom>
          <a:noFill/>
          <a:ln/>
        </p:spPr>
        <p:txBody>
          <a:bodyPr wrap="square" lIns="0" tIns="0" rIns="0" bIns="0" rtlCol="0" anchor="ctr"/>
          <a:lstStyle/>
          <a:p>
            <a:pPr algn="ct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user-db   :5432</a:t>
            </a:r>
            <a:endParaRPr lang="en-US" sz="1150" dirty="0"/>
          </a:p>
        </p:txBody>
      </p:sp>
      <p:sp>
        <p:nvSpPr>
          <p:cNvPr id="9" name="Shape 7"/>
          <p:cNvSpPr/>
          <p:nvPr/>
        </p:nvSpPr>
        <p:spPr>
          <a:xfrm>
            <a:off x="3474720" y="1481328"/>
            <a:ext cx="2651760" cy="658368"/>
          </a:xfrm>
          <a:prstGeom prst="roundRect">
            <a:avLst>
              <a:gd name="adj" fmla="val 9722"/>
            </a:avLst>
          </a:prstGeom>
          <a:solidFill>
            <a:srgbClr val="EDF2E7"/>
          </a:solidFill>
          <a:ln/>
        </p:spPr>
      </p:sp>
      <p:sp>
        <p:nvSpPr>
          <p:cNvPr id="10" name="Text 8"/>
          <p:cNvSpPr txBox="1"/>
          <p:nvPr/>
        </p:nvSpPr>
        <p:spPr>
          <a:xfrm>
            <a:off x="3474720" y="1481328"/>
            <a:ext cx="2651760" cy="658368"/>
          </a:xfrm>
          <a:prstGeom prst="rect">
            <a:avLst/>
          </a:prstGeom>
          <a:noFill/>
          <a:ln/>
        </p:spPr>
        <p:txBody>
          <a:bodyPr wrap="square" lIns="0" tIns="0" rIns="0" bIns="0" rtlCol="0" anchor="ctr"/>
          <a:lstStyle/>
          <a:p>
            <a:pPr algn="ctr" indent="0" marL="0">
              <a:lnSpc>
                <a:spcPct val="112000"/>
              </a:lnSpc>
              <a:buNone/>
            </a:pPr>
            <a:r>
              <a:rPr lang="en-US" sz="1400" b="1" dirty="0">
                <a:solidFill>
                  <a:srgbClr val="3A6B2E"/>
                </a:solidFill>
                <a:latin typeface="Calibri" pitchFamily="34" charset="0"/>
                <a:ea typeface="Calibri" pitchFamily="34" charset="-122"/>
                <a:cs typeface="Calibri" pitchFamily="34" charset="-120"/>
              </a:rPr>
              <a:t>Product Service</a:t>
            </a:r>
            <a:endParaRPr lang="en-US" sz="1400" dirty="0"/>
          </a:p>
        </p:txBody>
      </p:sp>
      <p:sp>
        <p:nvSpPr>
          <p:cNvPr id="11" name="Shape 9"/>
          <p:cNvSpPr/>
          <p:nvPr/>
        </p:nvSpPr>
        <p:spPr>
          <a:xfrm>
            <a:off x="4800600" y="2139696"/>
            <a:ext cx="0" cy="329184"/>
          </a:xfrm>
          <a:prstGeom prst="line">
            <a:avLst/>
          </a:prstGeom>
          <a:noFill/>
          <a:ln w="19050">
            <a:solidFill>
              <a:srgbClr val="3A6B2E"/>
            </a:solidFill>
            <a:prstDash val="solid"/>
            <a:tailEnd type="triangle"/>
          </a:ln>
        </p:spPr>
      </p:sp>
      <p:sp>
        <p:nvSpPr>
          <p:cNvPr id="12" name="Shape 10"/>
          <p:cNvSpPr/>
          <p:nvPr/>
        </p:nvSpPr>
        <p:spPr>
          <a:xfrm>
            <a:off x="3474720" y="2468880"/>
            <a:ext cx="2651760" cy="603504"/>
          </a:xfrm>
          <a:prstGeom prst="roundRect">
            <a:avLst>
              <a:gd name="adj" fmla="val 10606"/>
            </a:avLst>
          </a:prstGeom>
          <a:solidFill>
            <a:srgbClr val="EDF1F5"/>
          </a:solidFill>
          <a:ln/>
        </p:spPr>
      </p:sp>
      <p:sp>
        <p:nvSpPr>
          <p:cNvPr id="13" name="Text 11"/>
          <p:cNvSpPr txBox="1"/>
          <p:nvPr/>
        </p:nvSpPr>
        <p:spPr>
          <a:xfrm>
            <a:off x="3474720" y="2468880"/>
            <a:ext cx="2651760" cy="603504"/>
          </a:xfrm>
          <a:prstGeom prst="rect">
            <a:avLst/>
          </a:prstGeom>
          <a:noFill/>
          <a:ln/>
        </p:spPr>
        <p:txBody>
          <a:bodyPr wrap="square" lIns="0" tIns="0" rIns="0" bIns="0" rtlCol="0" anchor="ctr"/>
          <a:lstStyle/>
          <a:p>
            <a:pPr algn="ct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product-db   :5433</a:t>
            </a:r>
            <a:endParaRPr lang="en-US" sz="1150" dirty="0"/>
          </a:p>
        </p:txBody>
      </p:sp>
      <p:sp>
        <p:nvSpPr>
          <p:cNvPr id="14" name="Shape 12"/>
          <p:cNvSpPr/>
          <p:nvPr/>
        </p:nvSpPr>
        <p:spPr>
          <a:xfrm>
            <a:off x="6400800" y="1481328"/>
            <a:ext cx="2651760" cy="658368"/>
          </a:xfrm>
          <a:prstGeom prst="roundRect">
            <a:avLst>
              <a:gd name="adj" fmla="val 9722"/>
            </a:avLst>
          </a:prstGeom>
          <a:solidFill>
            <a:srgbClr val="F6EAEE"/>
          </a:solidFill>
          <a:ln/>
        </p:spPr>
      </p:sp>
      <p:sp>
        <p:nvSpPr>
          <p:cNvPr id="15" name="Text 13"/>
          <p:cNvSpPr txBox="1"/>
          <p:nvPr/>
        </p:nvSpPr>
        <p:spPr>
          <a:xfrm>
            <a:off x="6400800" y="1481328"/>
            <a:ext cx="2651760" cy="658368"/>
          </a:xfrm>
          <a:prstGeom prst="rect">
            <a:avLst/>
          </a:prstGeom>
          <a:noFill/>
          <a:ln/>
        </p:spPr>
        <p:txBody>
          <a:bodyPr wrap="square" lIns="0" tIns="0" rIns="0" bIns="0" rtlCol="0" anchor="ctr"/>
          <a:lstStyle/>
          <a:p>
            <a:pPr algn="ctr" indent="0" marL="0">
              <a:lnSpc>
                <a:spcPct val="112000"/>
              </a:lnSpc>
              <a:buNone/>
            </a:pPr>
            <a:r>
              <a:rPr lang="en-US" sz="1400" b="1" dirty="0">
                <a:solidFill>
                  <a:srgbClr val="6D2E46"/>
                </a:solidFill>
                <a:latin typeface="Calibri" pitchFamily="34" charset="0"/>
                <a:ea typeface="Calibri" pitchFamily="34" charset="-122"/>
                <a:cs typeface="Calibri" pitchFamily="34" charset="-120"/>
              </a:rPr>
              <a:t>Order Service</a:t>
            </a:r>
            <a:endParaRPr lang="en-US" sz="1400" dirty="0"/>
          </a:p>
        </p:txBody>
      </p:sp>
      <p:sp>
        <p:nvSpPr>
          <p:cNvPr id="16" name="Shape 14"/>
          <p:cNvSpPr/>
          <p:nvPr/>
        </p:nvSpPr>
        <p:spPr>
          <a:xfrm>
            <a:off x="7726680" y="2139696"/>
            <a:ext cx="0" cy="329184"/>
          </a:xfrm>
          <a:prstGeom prst="line">
            <a:avLst/>
          </a:prstGeom>
          <a:noFill/>
          <a:ln w="19050">
            <a:solidFill>
              <a:srgbClr val="6D2E46"/>
            </a:solidFill>
            <a:prstDash val="solid"/>
            <a:tailEnd type="triangle"/>
          </a:ln>
        </p:spPr>
      </p:sp>
      <p:sp>
        <p:nvSpPr>
          <p:cNvPr id="17" name="Shape 15"/>
          <p:cNvSpPr/>
          <p:nvPr/>
        </p:nvSpPr>
        <p:spPr>
          <a:xfrm>
            <a:off x="6400800" y="2468880"/>
            <a:ext cx="2651760" cy="603504"/>
          </a:xfrm>
          <a:prstGeom prst="roundRect">
            <a:avLst>
              <a:gd name="adj" fmla="val 10606"/>
            </a:avLst>
          </a:prstGeom>
          <a:solidFill>
            <a:srgbClr val="EDF1F5"/>
          </a:solidFill>
          <a:ln/>
        </p:spPr>
      </p:sp>
      <p:sp>
        <p:nvSpPr>
          <p:cNvPr id="18" name="Text 16"/>
          <p:cNvSpPr txBox="1"/>
          <p:nvPr/>
        </p:nvSpPr>
        <p:spPr>
          <a:xfrm>
            <a:off x="6400800" y="2468880"/>
            <a:ext cx="2651760" cy="603504"/>
          </a:xfrm>
          <a:prstGeom prst="rect">
            <a:avLst/>
          </a:prstGeom>
          <a:noFill/>
          <a:ln/>
        </p:spPr>
        <p:txBody>
          <a:bodyPr wrap="square" lIns="0" tIns="0" rIns="0" bIns="0" rtlCol="0" anchor="ctr"/>
          <a:lstStyle/>
          <a:p>
            <a:pPr algn="ctr" indent="0" marL="0">
              <a:lnSpc>
                <a:spcPct val="112000"/>
              </a:lnSpc>
              <a:buNone/>
            </a:pPr>
            <a:r>
              <a:rPr lang="en-US" sz="1150" dirty="0">
                <a:solidFill>
                  <a:srgbClr val="36454F"/>
                </a:solidFill>
                <a:latin typeface="Courier New" pitchFamily="34" charset="0"/>
                <a:ea typeface="Courier New" pitchFamily="34" charset="-122"/>
                <a:cs typeface="Courier New" pitchFamily="34" charset="-120"/>
              </a:rPr>
              <a:t>order-db   :5434</a:t>
            </a:r>
            <a:endParaRPr lang="en-US" sz="1150" dirty="0"/>
          </a:p>
        </p:txBody>
      </p:sp>
      <p:sp>
        <p:nvSpPr>
          <p:cNvPr id="19" name="Shape 17"/>
          <p:cNvSpPr/>
          <p:nvPr/>
        </p:nvSpPr>
        <p:spPr>
          <a:xfrm>
            <a:off x="3337560" y="2395728"/>
            <a:ext cx="0" cy="749808"/>
          </a:xfrm>
          <a:prstGeom prst="line">
            <a:avLst/>
          </a:prstGeom>
          <a:noFill/>
          <a:ln w="22225">
            <a:solidFill>
              <a:srgbClr val="C24242"/>
            </a:solidFill>
            <a:prstDash val="dash"/>
          </a:ln>
        </p:spPr>
      </p:sp>
      <p:sp>
        <p:nvSpPr>
          <p:cNvPr id="20" name="Shape 18"/>
          <p:cNvSpPr/>
          <p:nvPr/>
        </p:nvSpPr>
        <p:spPr>
          <a:xfrm>
            <a:off x="6263640" y="2395728"/>
            <a:ext cx="0" cy="749808"/>
          </a:xfrm>
          <a:prstGeom prst="line">
            <a:avLst/>
          </a:prstGeom>
          <a:noFill/>
          <a:ln w="22225">
            <a:solidFill>
              <a:srgbClr val="C24242"/>
            </a:solidFill>
            <a:prstDash val="dash"/>
          </a:ln>
        </p:spPr>
      </p:sp>
      <p:sp>
        <p:nvSpPr>
          <p:cNvPr id="21" name="Text 19"/>
          <p:cNvSpPr txBox="1"/>
          <p:nvPr/>
        </p:nvSpPr>
        <p:spPr>
          <a:xfrm>
            <a:off x="548640" y="3200400"/>
            <a:ext cx="8503920" cy="237744"/>
          </a:xfrm>
          <a:prstGeom prst="rect">
            <a:avLst/>
          </a:prstGeom>
          <a:noFill/>
          <a:ln/>
        </p:spPr>
        <p:txBody>
          <a:bodyPr wrap="square" lIns="0" tIns="0" rIns="0" bIns="0" rtlCol="0" anchor="t"/>
          <a:lstStyle/>
          <a:p>
            <a:pPr algn="ctr" indent="0" marL="0">
              <a:lnSpc>
                <a:spcPct val="112000"/>
              </a:lnSpc>
              <a:buNone/>
            </a:pPr>
            <a:r>
              <a:rPr lang="en-US" sz="1050" i="1" dirty="0">
                <a:solidFill>
                  <a:srgbClr val="C24242"/>
                </a:solidFill>
                <a:latin typeface="Calibri" pitchFamily="34" charset="0"/>
                <a:ea typeface="Calibri" pitchFamily="34" charset="-122"/>
                <a:cs typeface="Calibri" pitchFamily="34" charset="-120"/>
              </a:rPr>
              <a:t>no cross-database reads</a:t>
            </a:r>
            <a:endParaRPr lang="en-US" sz="1050" dirty="0"/>
          </a:p>
        </p:txBody>
      </p:sp>
      <p:sp>
        <p:nvSpPr>
          <p:cNvPr id="22" name="Shape 20"/>
          <p:cNvSpPr/>
          <p:nvPr/>
        </p:nvSpPr>
        <p:spPr>
          <a:xfrm>
            <a:off x="9418320" y="1481328"/>
            <a:ext cx="2224735" cy="1591056"/>
          </a:xfrm>
          <a:prstGeom prst="roundRect">
            <a:avLst>
              <a:gd name="adj" fmla="val 4023"/>
            </a:avLst>
          </a:prstGeom>
          <a:solidFill>
            <a:srgbClr val="F4F6F8"/>
          </a:solidFill>
          <a:ln/>
        </p:spPr>
      </p:sp>
      <p:sp>
        <p:nvSpPr>
          <p:cNvPr id="23" name="Text 21"/>
          <p:cNvSpPr txBox="1"/>
          <p:nvPr/>
        </p:nvSpPr>
        <p:spPr>
          <a:xfrm>
            <a:off x="9637776" y="1645920"/>
            <a:ext cx="1785823" cy="548640"/>
          </a:xfrm>
          <a:prstGeom prst="rect">
            <a:avLst/>
          </a:prstGeom>
          <a:noFill/>
          <a:ln/>
        </p:spPr>
        <p:txBody>
          <a:bodyPr wrap="square" lIns="0" tIns="0" rIns="0" bIns="0" rtlCol="0" anchor="t"/>
          <a:lstStyle/>
          <a:p>
            <a:pPr algn="l" indent="0" marL="0">
              <a:lnSpc>
                <a:spcPct val="115000"/>
              </a:lnSpc>
              <a:buNone/>
            </a:pPr>
            <a:r>
              <a:rPr lang="en-US" sz="1300" b="1" dirty="0">
                <a:solidFill>
                  <a:srgbClr val="1D2433"/>
                </a:solidFill>
                <a:latin typeface="Calibri" pitchFamily="34" charset="0"/>
                <a:ea typeface="Calibri" pitchFamily="34" charset="-122"/>
                <a:cs typeface="Calibri" pitchFamily="34" charset="-120"/>
              </a:rPr>
              <a:t>Three containers,</a:t>
            </a:r>
            <a:endParaRPr lang="en-US" sz="1300" dirty="0"/>
          </a:p>
          <a:p>
            <a:pPr algn="l" indent="0" marL="0">
              <a:lnSpc>
                <a:spcPct val="115000"/>
              </a:lnSpc>
              <a:buNone/>
            </a:pPr>
            <a:r>
              <a:rPr lang="en-US" sz="1300" b="1" dirty="0">
                <a:solidFill>
                  <a:srgbClr val="1D2433"/>
                </a:solidFill>
                <a:latin typeface="Calibri" pitchFamily="34" charset="0"/>
                <a:ea typeface="Calibri" pitchFamily="34" charset="-122"/>
                <a:cs typeface="Calibri" pitchFamily="34" charset="-120"/>
              </a:rPr>
              <a:t>not three schemas</a:t>
            </a:r>
            <a:endParaRPr lang="en-US" sz="1300" dirty="0"/>
          </a:p>
        </p:txBody>
      </p:sp>
      <p:sp>
        <p:nvSpPr>
          <p:cNvPr id="24" name="Text 22"/>
          <p:cNvSpPr txBox="1"/>
          <p:nvPr/>
        </p:nvSpPr>
        <p:spPr>
          <a:xfrm>
            <a:off x="9637776" y="2249424"/>
            <a:ext cx="1785823" cy="731520"/>
          </a:xfrm>
          <a:prstGeom prst="rect">
            <a:avLst/>
          </a:prstGeom>
          <a:noFill/>
          <a:ln/>
        </p:spPr>
        <p:txBody>
          <a:bodyPr wrap="square" lIns="0" tIns="0" rIns="0" bIns="0" rtlCol="0" anchor="t"/>
          <a:lstStyle/>
          <a:p>
            <a:pPr algn="l" indent="0" marL="0">
              <a:lnSpc>
                <a:spcPct val="115000"/>
              </a:lnSpc>
              <a:buNone/>
            </a:pPr>
            <a:r>
              <a:rPr lang="en-US" sz="1150" dirty="0">
                <a:solidFill>
                  <a:srgbClr val="6B7A8D"/>
                </a:solidFill>
                <a:latin typeface="Calibri" pitchFamily="34" charset="0"/>
                <a:ea typeface="Calibri" pitchFamily="34" charset="-122"/>
                <a:cs typeface="Calibri" pitchFamily="34" charset="-120"/>
              </a:rPr>
              <a:t>Separate Postgres instances, each with its own credentials.</a:t>
            </a:r>
            <a:endParaRPr lang="en-US" sz="1150" dirty="0"/>
          </a:p>
        </p:txBody>
      </p:sp>
      <p:sp>
        <p:nvSpPr>
          <p:cNvPr id="25" name="Shape 23"/>
          <p:cNvSpPr/>
          <p:nvPr/>
        </p:nvSpPr>
        <p:spPr>
          <a:xfrm>
            <a:off x="548640" y="3566160"/>
            <a:ext cx="5449824" cy="1225296"/>
          </a:xfrm>
          <a:prstGeom prst="roundRect">
            <a:avLst>
              <a:gd name="adj" fmla="val 5224"/>
            </a:avLst>
          </a:prstGeom>
          <a:solidFill>
            <a:srgbClr val="F4F6F8"/>
          </a:solidFill>
          <a:ln/>
        </p:spPr>
      </p:sp>
      <p:sp>
        <p:nvSpPr>
          <p:cNvPr id="26" name="Text 24"/>
          <p:cNvSpPr txBox="1"/>
          <p:nvPr/>
        </p:nvSpPr>
        <p:spPr>
          <a:xfrm>
            <a:off x="822960" y="3730752"/>
            <a:ext cx="4901184" cy="274320"/>
          </a:xfrm>
          <a:prstGeom prst="rect">
            <a:avLst/>
          </a:prstGeom>
          <a:noFill/>
          <a:ln/>
        </p:spPr>
        <p:txBody>
          <a:bodyPr wrap="square" lIns="0" tIns="0" rIns="0" bIns="0" rtlCol="0" anchor="t"/>
          <a:lstStyle/>
          <a:p>
            <a:pPr algn="l" indent="0" marL="0">
              <a:lnSpc>
                <a:spcPct val="112000"/>
              </a:lnSpc>
              <a:buNone/>
            </a:pPr>
            <a:r>
              <a:rPr lang="en-US" sz="1400" b="1" dirty="0">
                <a:solidFill>
                  <a:srgbClr val="1D2433"/>
                </a:solidFill>
                <a:latin typeface="Calibri" pitchFamily="34" charset="0"/>
                <a:ea typeface="Calibri" pitchFamily="34" charset="-122"/>
                <a:cs typeface="Calibri" pitchFamily="34" charset="-120"/>
              </a:rPr>
              <a:t>Why not one shared database?</a:t>
            </a:r>
            <a:endParaRPr lang="en-US" sz="1400" dirty="0"/>
          </a:p>
        </p:txBody>
      </p:sp>
      <p:sp>
        <p:nvSpPr>
          <p:cNvPr id="27" name="Text 25"/>
          <p:cNvSpPr txBox="1"/>
          <p:nvPr/>
        </p:nvSpPr>
        <p:spPr>
          <a:xfrm>
            <a:off x="822960" y="4023360"/>
            <a:ext cx="4901184" cy="731520"/>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Because the day two services share a table, a migration in one breaks the other at runtime and neither can be released alone. Still separate processes — no longer separate systems.</a:t>
            </a:r>
            <a:endParaRPr lang="en-US" sz="1200" dirty="0"/>
          </a:p>
        </p:txBody>
      </p:sp>
      <p:sp>
        <p:nvSpPr>
          <p:cNvPr id="28" name="Shape 26"/>
          <p:cNvSpPr/>
          <p:nvPr/>
        </p:nvSpPr>
        <p:spPr>
          <a:xfrm>
            <a:off x="6190488" y="3566160"/>
            <a:ext cx="5449824" cy="1225296"/>
          </a:xfrm>
          <a:prstGeom prst="roundRect">
            <a:avLst>
              <a:gd name="adj" fmla="val 5224"/>
            </a:avLst>
          </a:prstGeom>
          <a:solidFill>
            <a:srgbClr val="FBF2E4"/>
          </a:solidFill>
          <a:ln/>
        </p:spPr>
      </p:sp>
      <p:sp>
        <p:nvSpPr>
          <p:cNvPr id="29" name="Text 27"/>
          <p:cNvSpPr txBox="1"/>
          <p:nvPr/>
        </p:nvSpPr>
        <p:spPr>
          <a:xfrm>
            <a:off x="6464808" y="3730752"/>
            <a:ext cx="4901184" cy="274320"/>
          </a:xfrm>
          <a:prstGeom prst="rect">
            <a:avLst/>
          </a:prstGeom>
          <a:noFill/>
          <a:ln/>
        </p:spPr>
        <p:txBody>
          <a:bodyPr wrap="square" lIns="0" tIns="0" rIns="0" bIns="0" rtlCol="0" anchor="t"/>
          <a:lstStyle/>
          <a:p>
            <a:pPr algn="l" indent="0" marL="0">
              <a:lnSpc>
                <a:spcPct val="112000"/>
              </a:lnSpc>
              <a:buNone/>
            </a:pPr>
            <a:r>
              <a:rPr lang="en-US" sz="1400" b="1" dirty="0">
                <a:solidFill>
                  <a:srgbClr val="A8620A"/>
                </a:solidFill>
                <a:latin typeface="Calibri" pitchFamily="34" charset="0"/>
                <a:ea typeface="Calibri" pitchFamily="34" charset="-122"/>
                <a:cs typeface="Calibri" pitchFamily="34" charset="-120"/>
              </a:rPr>
              <a:t>So how does an order get a price?</a:t>
            </a:r>
            <a:endParaRPr lang="en-US" sz="1400" dirty="0"/>
          </a:p>
        </p:txBody>
      </p:sp>
      <p:sp>
        <p:nvSpPr>
          <p:cNvPr id="30" name="Text 28"/>
          <p:cNvSpPr txBox="1"/>
          <p:nvPr/>
        </p:nvSpPr>
        <p:spPr>
          <a:xfrm>
            <a:off x="6464808" y="4023360"/>
            <a:ext cx="4901184" cy="731520"/>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It asks: GET /api/v1/products/{id}, then copies the price onto the order line. That call is what week 3 is about — timeouts, retries and circuit breakers all exist because of this slide.</a:t>
            </a:r>
            <a:endParaRPr lang="en-US" sz="1200" dirty="0"/>
          </a:p>
        </p:txBody>
      </p:sp>
      <p:sp>
        <p:nvSpPr>
          <p:cNvPr id="31" name="Shape 29"/>
          <p:cNvSpPr/>
          <p:nvPr/>
        </p:nvSpPr>
        <p:spPr>
          <a:xfrm>
            <a:off x="548640" y="4956048"/>
            <a:ext cx="11094415" cy="1097280"/>
          </a:xfrm>
          <a:prstGeom prst="roundRect">
            <a:avLst>
              <a:gd name="adj" fmla="val 5833"/>
            </a:avLst>
          </a:prstGeom>
          <a:solidFill>
            <a:srgbClr val="E6F1F2"/>
          </a:solidFill>
          <a:ln/>
        </p:spPr>
      </p:sp>
      <p:sp>
        <p:nvSpPr>
          <p:cNvPr id="32" name="Text 30"/>
          <p:cNvSpPr txBox="1"/>
          <p:nvPr/>
        </p:nvSpPr>
        <p:spPr>
          <a:xfrm>
            <a:off x="841248" y="5120640"/>
            <a:ext cx="10509199" cy="274320"/>
          </a:xfrm>
          <a:prstGeom prst="rect">
            <a:avLst/>
          </a:prstGeom>
          <a:noFill/>
          <a:ln/>
        </p:spPr>
        <p:txBody>
          <a:bodyPr wrap="square" lIns="0" tIns="0" rIns="0" bIns="0" rtlCol="0" anchor="t"/>
          <a:lstStyle/>
          <a:p>
            <a:pPr algn="l" indent="0" marL="0">
              <a:lnSpc>
                <a:spcPct val="112000"/>
              </a:lnSpc>
              <a:buNone/>
            </a:pPr>
            <a:r>
              <a:rPr lang="en-US" sz="1400" b="1" dirty="0">
                <a:solidFill>
                  <a:srgbClr val="028090"/>
                </a:solidFill>
                <a:latin typeface="Calibri" pitchFamily="34" charset="0"/>
                <a:ea typeface="Calibri" pitchFamily="34" charset="-122"/>
                <a:cs typeface="Calibri" pitchFamily="34" charset="-120"/>
              </a:rPr>
              <a:t>The interview question this answers</a:t>
            </a:r>
            <a:endParaRPr lang="en-US" sz="1400" dirty="0"/>
          </a:p>
        </p:txBody>
      </p:sp>
      <p:sp>
        <p:nvSpPr>
          <p:cNvPr id="33" name="Text 31"/>
          <p:cNvSpPr txBox="1"/>
          <p:nvPr/>
        </p:nvSpPr>
        <p:spPr>
          <a:xfrm>
            <a:off x="841248" y="5431536"/>
            <a:ext cx="10509199" cy="548640"/>
          </a:xfrm>
          <a:prstGeom prst="rect">
            <a:avLst/>
          </a:prstGeom>
          <a:noFill/>
          <a:ln/>
        </p:spPr>
        <p:txBody>
          <a:bodyPr wrap="square" lIns="0" tIns="0" rIns="0" bIns="0" rtlCol="0" anchor="t"/>
          <a:lstStyle/>
          <a:p>
            <a:pPr algn="l" indent="0" marL="0">
              <a:lnSpc>
                <a:spcPct val="115000"/>
              </a:lnSpc>
              <a:buNone/>
            </a:pPr>
            <a:r>
              <a:rPr lang="en-US" sz="1250" dirty="0">
                <a:solidFill>
                  <a:srgbClr val="36454F"/>
                </a:solidFill>
                <a:latin typeface="Calibri" pitchFamily="34" charset="0"/>
                <a:ea typeface="Calibri" pitchFamily="34" charset="-122"/>
                <a:cs typeface="Calibri" pitchFamily="34" charset="-120"/>
              </a:rPr>
              <a:t>“Why may the Order Service know a product_id but not read the products table?”  Because the id is part of the Product Service’s published contract and the table is not. A contract can be kept stable on purpose; a table has to stay free to change.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CONCEPT 4</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Eight conventions, decided once</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Fixed in the root README in week 1 so that service number nine still looks like service number one.</a:t>
            </a:r>
            <a:endParaRPr lang="en-US" sz="1350" dirty="0"/>
          </a:p>
        </p:txBody>
      </p:sp>
      <p:sp>
        <p:nvSpPr>
          <p:cNvPr id="5" name="Shape 3"/>
          <p:cNvSpPr/>
          <p:nvPr/>
        </p:nvSpPr>
        <p:spPr>
          <a:xfrm>
            <a:off x="548640" y="1517904"/>
            <a:ext cx="5449824" cy="1042416"/>
          </a:xfrm>
          <a:prstGeom prst="roundRect">
            <a:avLst>
              <a:gd name="adj" fmla="val 6140"/>
            </a:avLst>
          </a:prstGeom>
          <a:solidFill>
            <a:srgbClr val="F4F6F8"/>
          </a:solidFill>
          <a:ln/>
        </p:spPr>
      </p:sp>
      <p:sp>
        <p:nvSpPr>
          <p:cNvPr id="6" name="Shape 4"/>
          <p:cNvSpPr/>
          <p:nvPr/>
        </p:nvSpPr>
        <p:spPr>
          <a:xfrm>
            <a:off x="786384" y="1737360"/>
            <a:ext cx="475488" cy="475488"/>
          </a:xfrm>
          <a:prstGeom prst="ellipse">
            <a:avLst/>
          </a:prstGeom>
          <a:solidFill>
            <a:srgbClr val="028090"/>
          </a:solidFill>
          <a:ln/>
        </p:spPr>
      </p:sp>
      <p:sp>
        <p:nvSpPr>
          <p:cNvPr id="7" name="Text 5"/>
          <p:cNvSpPr txBox="1"/>
          <p:nvPr/>
        </p:nvSpPr>
        <p:spPr>
          <a:xfrm>
            <a:off x="786384" y="173736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/v1</a:t>
            </a:r>
            <a:endParaRPr lang="en-US" sz="1100" dirty="0"/>
          </a:p>
        </p:txBody>
      </p:sp>
      <p:sp>
        <p:nvSpPr>
          <p:cNvPr id="8" name="Text 6"/>
          <p:cNvSpPr txBox="1"/>
          <p:nvPr/>
        </p:nvSpPr>
        <p:spPr>
          <a:xfrm>
            <a:off x="1389888" y="170078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Versioned paths</a:t>
            </a:r>
            <a:endParaRPr lang="en-US" sz="1350" dirty="0"/>
          </a:p>
        </p:txBody>
      </p:sp>
      <p:sp>
        <p:nvSpPr>
          <p:cNvPr id="9" name="Text 7"/>
          <p:cNvSpPr txBox="1"/>
          <p:nvPr/>
        </p:nvSpPr>
        <p:spPr>
          <a:xfrm>
            <a:off x="1389888" y="197510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Every resource route lives under /api/v1, so a breaking change can ship beside the old one.</a:t>
            </a:r>
            <a:endParaRPr lang="en-US" sz="1150" dirty="0"/>
          </a:p>
        </p:txBody>
      </p:sp>
      <p:sp>
        <p:nvSpPr>
          <p:cNvPr id="10" name="Shape 8"/>
          <p:cNvSpPr/>
          <p:nvPr/>
        </p:nvSpPr>
        <p:spPr>
          <a:xfrm>
            <a:off x="6190488" y="1517904"/>
            <a:ext cx="5449824" cy="1042416"/>
          </a:xfrm>
          <a:prstGeom prst="roundRect">
            <a:avLst>
              <a:gd name="adj" fmla="val 6140"/>
            </a:avLst>
          </a:prstGeom>
          <a:solidFill>
            <a:srgbClr val="F4F6F8"/>
          </a:solidFill>
          <a:ln/>
        </p:spPr>
      </p:sp>
      <p:sp>
        <p:nvSpPr>
          <p:cNvPr id="11" name="Shape 9"/>
          <p:cNvSpPr/>
          <p:nvPr/>
        </p:nvSpPr>
        <p:spPr>
          <a:xfrm>
            <a:off x="6428232" y="1737360"/>
            <a:ext cx="475488" cy="475488"/>
          </a:xfrm>
          <a:prstGeom prst="ellipse">
            <a:avLst/>
          </a:prstGeom>
          <a:solidFill>
            <a:srgbClr val="3A6B2E"/>
          </a:solidFill>
          <a:ln/>
        </p:spPr>
      </p:sp>
      <p:sp>
        <p:nvSpPr>
          <p:cNvPr id="12" name="Text 10"/>
          <p:cNvSpPr txBox="1"/>
          <p:nvPr/>
        </p:nvSpPr>
        <p:spPr>
          <a:xfrm>
            <a:off x="6428232" y="173736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p>
        </p:txBody>
      </p:sp>
      <p:sp>
        <p:nvSpPr>
          <p:cNvPr id="13" name="Text 11"/>
          <p:cNvSpPr txBox="1"/>
          <p:nvPr/>
        </p:nvSpPr>
        <p:spPr>
          <a:xfrm>
            <a:off x="7031736" y="170078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One error shape</a:t>
            </a:r>
            <a:endParaRPr lang="en-US" sz="1350" dirty="0"/>
          </a:p>
        </p:txBody>
      </p:sp>
      <p:sp>
        <p:nvSpPr>
          <p:cNvPr id="14" name="Text 12"/>
          <p:cNvSpPr txBox="1"/>
          <p:nvPr/>
        </p:nvSpPr>
        <p:spPr>
          <a:xfrm>
            <a:off x="7031736" y="197510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 "error": "machine_code", "message": "human text" } everywhere — the gateway and the UI handle failures once.</a:t>
            </a:r>
            <a:endParaRPr lang="en-US" sz="1150" dirty="0"/>
          </a:p>
        </p:txBody>
      </p:sp>
      <p:sp>
        <p:nvSpPr>
          <p:cNvPr id="15" name="Shape 13"/>
          <p:cNvSpPr/>
          <p:nvPr/>
        </p:nvSpPr>
        <p:spPr>
          <a:xfrm>
            <a:off x="548640" y="2706624"/>
            <a:ext cx="5449824" cy="1042416"/>
          </a:xfrm>
          <a:prstGeom prst="roundRect">
            <a:avLst>
              <a:gd name="adj" fmla="val 6140"/>
            </a:avLst>
          </a:prstGeom>
          <a:solidFill>
            <a:srgbClr val="F4F6F8"/>
          </a:solidFill>
          <a:ln/>
        </p:spPr>
      </p:sp>
      <p:sp>
        <p:nvSpPr>
          <p:cNvPr id="16" name="Shape 14"/>
          <p:cNvSpPr/>
          <p:nvPr/>
        </p:nvSpPr>
        <p:spPr>
          <a:xfrm>
            <a:off x="786384" y="2926080"/>
            <a:ext cx="475488" cy="475488"/>
          </a:xfrm>
          <a:prstGeom prst="ellipse">
            <a:avLst/>
          </a:prstGeom>
          <a:solidFill>
            <a:srgbClr val="6D2E46"/>
          </a:solidFill>
          <a:ln/>
        </p:spPr>
      </p:sp>
      <p:sp>
        <p:nvSpPr>
          <p:cNvPr id="17" name="Text 15"/>
          <p:cNvSpPr txBox="1"/>
          <p:nvPr/>
        </p:nvSpPr>
        <p:spPr>
          <a:xfrm>
            <a:off x="786384" y="29260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409</a:t>
            </a:r>
            <a:endParaRPr lang="en-US" sz="1100" dirty="0"/>
          </a:p>
        </p:txBody>
      </p:sp>
      <p:sp>
        <p:nvSpPr>
          <p:cNvPr id="18" name="Text 16"/>
          <p:cNvSpPr txBox="1"/>
          <p:nvPr/>
        </p:nvSpPr>
        <p:spPr>
          <a:xfrm>
            <a:off x="1389888" y="288950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Status codes carry meaning</a:t>
            </a:r>
            <a:endParaRPr lang="en-US" sz="1350" dirty="0"/>
          </a:p>
        </p:txBody>
      </p:sp>
      <p:sp>
        <p:nvSpPr>
          <p:cNvPr id="19" name="Text 17"/>
          <p:cNvSpPr txBox="1"/>
          <p:nvPr/>
        </p:nvSpPr>
        <p:spPr>
          <a:xfrm>
            <a:off x="1389888" y="316382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400/422 bad request · 404 unknown resource · 409 state conflict (duplicate email, no stock).</a:t>
            </a:r>
            <a:endParaRPr lang="en-US" sz="1150" dirty="0"/>
          </a:p>
        </p:txBody>
      </p:sp>
      <p:sp>
        <p:nvSpPr>
          <p:cNvPr id="20" name="Shape 18"/>
          <p:cNvSpPr/>
          <p:nvPr/>
        </p:nvSpPr>
        <p:spPr>
          <a:xfrm>
            <a:off x="6190488" y="2706624"/>
            <a:ext cx="5449824" cy="1042416"/>
          </a:xfrm>
          <a:prstGeom prst="roundRect">
            <a:avLst>
              <a:gd name="adj" fmla="val 6140"/>
            </a:avLst>
          </a:prstGeom>
          <a:solidFill>
            <a:srgbClr val="F4F6F8"/>
          </a:solidFill>
          <a:ln/>
        </p:spPr>
      </p:sp>
      <p:sp>
        <p:nvSpPr>
          <p:cNvPr id="21" name="Shape 19"/>
          <p:cNvSpPr/>
          <p:nvPr/>
        </p:nvSpPr>
        <p:spPr>
          <a:xfrm>
            <a:off x="6428232" y="2926080"/>
            <a:ext cx="475488" cy="475488"/>
          </a:xfrm>
          <a:prstGeom prst="ellipse">
            <a:avLst/>
          </a:prstGeom>
          <a:solidFill>
            <a:srgbClr val="A8620A"/>
          </a:solidFill>
          <a:ln/>
        </p:spPr>
      </p:sp>
      <p:sp>
        <p:nvSpPr>
          <p:cNvPr id="22" name="Text 20"/>
          <p:cNvSpPr txBox="1"/>
          <p:nvPr/>
        </p:nvSpPr>
        <p:spPr>
          <a:xfrm>
            <a:off x="6428232" y="292608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OK</a:t>
            </a:r>
            <a:endParaRPr lang="en-US" sz="1100" dirty="0"/>
          </a:p>
        </p:txBody>
      </p:sp>
      <p:sp>
        <p:nvSpPr>
          <p:cNvPr id="23" name="Text 21"/>
          <p:cNvSpPr txBox="1"/>
          <p:nvPr/>
        </p:nvSpPr>
        <p:spPr>
          <a:xfrm>
            <a:off x="7031736" y="288950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Two health probes</a:t>
            </a:r>
            <a:endParaRPr lang="en-US" sz="1350" dirty="0"/>
          </a:p>
        </p:txBody>
      </p:sp>
      <p:sp>
        <p:nvSpPr>
          <p:cNvPr id="24" name="Text 22"/>
          <p:cNvSpPr txBox="1"/>
          <p:nvPr/>
        </p:nvSpPr>
        <p:spPr>
          <a:xfrm>
            <a:off x="7031736" y="316382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Liveness never touches the database; readiness does. A restart cannot fix a database outage.</a:t>
            </a:r>
            <a:endParaRPr lang="en-US" sz="1150" dirty="0"/>
          </a:p>
        </p:txBody>
      </p:sp>
      <p:sp>
        <p:nvSpPr>
          <p:cNvPr id="25" name="Shape 23"/>
          <p:cNvSpPr/>
          <p:nvPr/>
        </p:nvSpPr>
        <p:spPr>
          <a:xfrm>
            <a:off x="548640" y="3895344"/>
            <a:ext cx="5449824" cy="1042416"/>
          </a:xfrm>
          <a:prstGeom prst="roundRect">
            <a:avLst>
              <a:gd name="adj" fmla="val 6140"/>
            </a:avLst>
          </a:prstGeom>
          <a:solidFill>
            <a:srgbClr val="F4F6F8"/>
          </a:solidFill>
          <a:ln/>
        </p:spPr>
      </p:sp>
      <p:sp>
        <p:nvSpPr>
          <p:cNvPr id="26" name="Shape 24"/>
          <p:cNvSpPr/>
          <p:nvPr/>
        </p:nvSpPr>
        <p:spPr>
          <a:xfrm>
            <a:off x="786384" y="4114800"/>
            <a:ext cx="475488" cy="475488"/>
          </a:xfrm>
          <a:prstGeom prst="ellipse">
            <a:avLst/>
          </a:prstGeom>
          <a:solidFill>
            <a:srgbClr val="028090"/>
          </a:solidFill>
          <a:ln/>
        </p:spPr>
      </p:sp>
      <p:sp>
        <p:nvSpPr>
          <p:cNvPr id="27" name="Text 25"/>
          <p:cNvSpPr txBox="1"/>
          <p:nvPr/>
        </p:nvSpPr>
        <p:spPr>
          <a:xfrm>
            <a:off x="786384" y="411480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ENV</a:t>
            </a:r>
            <a:endParaRPr lang="en-US" sz="1100" dirty="0"/>
          </a:p>
        </p:txBody>
      </p:sp>
      <p:sp>
        <p:nvSpPr>
          <p:cNvPr id="28" name="Text 26"/>
          <p:cNvSpPr txBox="1"/>
          <p:nvPr/>
        </p:nvSpPr>
        <p:spPr>
          <a:xfrm>
            <a:off x="1389888" y="407822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Config from the environment</a:t>
            </a:r>
            <a:endParaRPr lang="en-US" sz="1350" dirty="0"/>
          </a:p>
        </p:txBody>
      </p:sp>
      <p:sp>
        <p:nvSpPr>
          <p:cNvPr id="29" name="Text 27"/>
          <p:cNvSpPr txBox="1"/>
          <p:nvPr/>
        </p:nvSpPr>
        <p:spPr>
          <a:xfrm>
            <a:off x="1389888" y="435254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The same image runs locally, in Compose and in Kubernetes with no code change.</a:t>
            </a:r>
            <a:endParaRPr lang="en-US" sz="1150" dirty="0"/>
          </a:p>
        </p:txBody>
      </p:sp>
      <p:sp>
        <p:nvSpPr>
          <p:cNvPr id="30" name="Shape 28"/>
          <p:cNvSpPr/>
          <p:nvPr/>
        </p:nvSpPr>
        <p:spPr>
          <a:xfrm>
            <a:off x="6190488" y="3895344"/>
            <a:ext cx="5449824" cy="1042416"/>
          </a:xfrm>
          <a:prstGeom prst="roundRect">
            <a:avLst>
              <a:gd name="adj" fmla="val 6140"/>
            </a:avLst>
          </a:prstGeom>
          <a:solidFill>
            <a:srgbClr val="F4F6F8"/>
          </a:solidFill>
          <a:ln/>
        </p:spPr>
      </p:sp>
      <p:sp>
        <p:nvSpPr>
          <p:cNvPr id="31" name="Shape 29"/>
          <p:cNvSpPr/>
          <p:nvPr/>
        </p:nvSpPr>
        <p:spPr>
          <a:xfrm>
            <a:off x="6428232" y="4114800"/>
            <a:ext cx="475488" cy="475488"/>
          </a:xfrm>
          <a:prstGeom prst="ellipse">
            <a:avLst/>
          </a:prstGeom>
          <a:solidFill>
            <a:srgbClr val="3A6B2E"/>
          </a:solidFill>
          <a:ln/>
        </p:spPr>
      </p:sp>
      <p:sp>
        <p:nvSpPr>
          <p:cNvPr id="32" name="Text 30"/>
          <p:cNvSpPr txBox="1"/>
          <p:nvPr/>
        </p:nvSpPr>
        <p:spPr>
          <a:xfrm>
            <a:off x="6428232" y="411480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a:t>
            </a:r>
            <a:endParaRPr lang="en-US" sz="1100" dirty="0"/>
          </a:p>
        </p:txBody>
      </p:sp>
      <p:sp>
        <p:nvSpPr>
          <p:cNvPr id="33" name="Text 31"/>
          <p:cNvSpPr txBox="1"/>
          <p:nvPr/>
        </p:nvSpPr>
        <p:spPr>
          <a:xfrm>
            <a:off x="7031736" y="407822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Layered inside</a:t>
            </a:r>
            <a:endParaRPr lang="en-US" sz="1350" dirty="0"/>
          </a:p>
        </p:txBody>
      </p:sp>
      <p:sp>
        <p:nvSpPr>
          <p:cNvPr id="34" name="Text 32"/>
          <p:cNvSpPr txBox="1"/>
          <p:nvPr/>
        </p:nvSpPr>
        <p:spPr>
          <a:xfrm>
            <a:off x="7031736" y="435254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Transport → business rules → data access. The business layer never imports HTTP types.</a:t>
            </a:r>
            <a:endParaRPr lang="en-US" sz="1150" dirty="0"/>
          </a:p>
        </p:txBody>
      </p:sp>
      <p:sp>
        <p:nvSpPr>
          <p:cNvPr id="35" name="Shape 33"/>
          <p:cNvSpPr/>
          <p:nvPr/>
        </p:nvSpPr>
        <p:spPr>
          <a:xfrm>
            <a:off x="548640" y="5084064"/>
            <a:ext cx="5449824" cy="1042416"/>
          </a:xfrm>
          <a:prstGeom prst="roundRect">
            <a:avLst>
              <a:gd name="adj" fmla="val 6140"/>
            </a:avLst>
          </a:prstGeom>
          <a:solidFill>
            <a:srgbClr val="F4F6F8"/>
          </a:solidFill>
          <a:ln/>
        </p:spPr>
      </p:sp>
      <p:sp>
        <p:nvSpPr>
          <p:cNvPr id="36" name="Shape 34"/>
          <p:cNvSpPr/>
          <p:nvPr/>
        </p:nvSpPr>
        <p:spPr>
          <a:xfrm>
            <a:off x="786384" y="5303520"/>
            <a:ext cx="475488" cy="475488"/>
          </a:xfrm>
          <a:prstGeom prst="ellipse">
            <a:avLst/>
          </a:prstGeom>
          <a:solidFill>
            <a:srgbClr val="6D2E46"/>
          </a:solidFill>
          <a:ln/>
        </p:spPr>
      </p:sp>
      <p:sp>
        <p:nvSpPr>
          <p:cNvPr id="37" name="Text 35"/>
          <p:cNvSpPr txBox="1"/>
          <p:nvPr/>
        </p:nvSpPr>
        <p:spPr>
          <a:xfrm>
            <a:off x="786384" y="530352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p>
        </p:txBody>
      </p:sp>
      <p:sp>
        <p:nvSpPr>
          <p:cNvPr id="38" name="Text 36"/>
          <p:cNvSpPr txBox="1"/>
          <p:nvPr/>
        </p:nvSpPr>
        <p:spPr>
          <a:xfrm>
            <a:off x="1389888" y="526694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UUID identifiers</a:t>
            </a:r>
            <a:endParaRPr lang="en-US" sz="1350" dirty="0"/>
          </a:p>
        </p:txBody>
      </p:sp>
      <p:sp>
        <p:nvSpPr>
          <p:cNvPr id="39" name="Text 37"/>
          <p:cNvSpPr txBox="1"/>
          <p:nvPr/>
        </p:nvSpPr>
        <p:spPr>
          <a:xfrm>
            <a:off x="1389888" y="554126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Opaque, non-enumerable, safe to publish in an event and to generate before insert.</a:t>
            </a:r>
            <a:endParaRPr lang="en-US" sz="1150" dirty="0"/>
          </a:p>
        </p:txBody>
      </p:sp>
      <p:sp>
        <p:nvSpPr>
          <p:cNvPr id="40" name="Shape 38"/>
          <p:cNvSpPr/>
          <p:nvPr/>
        </p:nvSpPr>
        <p:spPr>
          <a:xfrm>
            <a:off x="6190488" y="5084064"/>
            <a:ext cx="5449824" cy="1042416"/>
          </a:xfrm>
          <a:prstGeom prst="roundRect">
            <a:avLst>
              <a:gd name="adj" fmla="val 6140"/>
            </a:avLst>
          </a:prstGeom>
          <a:solidFill>
            <a:srgbClr val="F4F6F8"/>
          </a:solidFill>
          <a:ln/>
        </p:spPr>
      </p:sp>
      <p:sp>
        <p:nvSpPr>
          <p:cNvPr id="41" name="Shape 39"/>
          <p:cNvSpPr/>
          <p:nvPr/>
        </p:nvSpPr>
        <p:spPr>
          <a:xfrm>
            <a:off x="6428232" y="5303520"/>
            <a:ext cx="475488" cy="475488"/>
          </a:xfrm>
          <a:prstGeom prst="ellipse">
            <a:avLst/>
          </a:prstGeom>
          <a:solidFill>
            <a:srgbClr val="A8620A"/>
          </a:solidFill>
          <a:ln/>
        </p:spPr>
      </p:sp>
      <p:sp>
        <p:nvSpPr>
          <p:cNvPr id="42" name="Text 40"/>
          <p:cNvSpPr txBox="1"/>
          <p:nvPr/>
        </p:nvSpPr>
        <p:spPr>
          <a:xfrm>
            <a:off x="6428232" y="530352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a:t>
            </a:r>
            <a:endParaRPr lang="en-US" sz="1100" dirty="0"/>
          </a:p>
        </p:txBody>
      </p:sp>
      <p:sp>
        <p:nvSpPr>
          <p:cNvPr id="43" name="Text 41"/>
          <p:cNvSpPr txBox="1"/>
          <p:nvPr/>
        </p:nvSpPr>
        <p:spPr>
          <a:xfrm>
            <a:off x="7031736" y="5266944"/>
            <a:ext cx="4352544"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Timeouts always</a:t>
            </a:r>
            <a:endParaRPr lang="en-US" sz="1350" dirty="0"/>
          </a:p>
        </p:txBody>
      </p:sp>
      <p:sp>
        <p:nvSpPr>
          <p:cNvPr id="44" name="Text 42"/>
          <p:cNvSpPr txBox="1"/>
          <p:nvPr/>
        </p:nvSpPr>
        <p:spPr>
          <a:xfrm>
            <a:off x="7031736" y="5541264"/>
            <a:ext cx="4352544" cy="530352"/>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Every outbound call has a timeout, and only idempotent calls are ever retried.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CONCEPT 5</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The same three layers inside every service</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Different languages, identical shape — which is exactly the point.</a:t>
            </a:r>
            <a:endParaRPr lang="en-US" sz="1350" dirty="0"/>
          </a:p>
        </p:txBody>
      </p:sp>
      <p:sp>
        <p:nvSpPr>
          <p:cNvPr id="5" name="Text 3"/>
          <p:cNvSpPr txBox="1"/>
          <p:nvPr/>
        </p:nvSpPr>
        <p:spPr>
          <a:xfrm>
            <a:off x="4663440" y="1517904"/>
            <a:ext cx="2286000" cy="237744"/>
          </a:xfrm>
          <a:prstGeom prst="rect">
            <a:avLst/>
          </a:prstGeom>
          <a:noFill/>
          <a:ln/>
        </p:spPr>
        <p:txBody>
          <a:bodyPr wrap="square" lIns="0" tIns="0" rIns="0" bIns="0" rtlCol="0" anchor="t"/>
          <a:lstStyle/>
          <a:p>
            <a:pPr algn="ctr" indent="0" marL="0">
              <a:lnSpc>
                <a:spcPct val="112000"/>
              </a:lnSpc>
              <a:buNone/>
            </a:pPr>
            <a:r>
              <a:rPr lang="en-US" sz="1100" b="1" dirty="0">
                <a:solidFill>
                  <a:srgbClr val="028090"/>
                </a:solidFill>
                <a:latin typeface="Calibri" pitchFamily="34" charset="0"/>
                <a:ea typeface="Calibri" pitchFamily="34" charset="-122"/>
                <a:cs typeface="Calibri" pitchFamily="34" charset="-120"/>
              </a:rPr>
              <a:t>User  (Python)</a:t>
            </a:r>
            <a:endParaRPr lang="en-US" sz="1100" dirty="0"/>
          </a:p>
        </p:txBody>
      </p:sp>
      <p:sp>
        <p:nvSpPr>
          <p:cNvPr id="6" name="Text 4"/>
          <p:cNvSpPr txBox="1"/>
          <p:nvPr/>
        </p:nvSpPr>
        <p:spPr>
          <a:xfrm>
            <a:off x="7086600" y="1517904"/>
            <a:ext cx="2286000" cy="237744"/>
          </a:xfrm>
          <a:prstGeom prst="rect">
            <a:avLst/>
          </a:prstGeom>
          <a:noFill/>
          <a:ln/>
        </p:spPr>
        <p:txBody>
          <a:bodyPr wrap="square" lIns="0" tIns="0" rIns="0" bIns="0" rtlCol="0" anchor="t"/>
          <a:lstStyle/>
          <a:p>
            <a:pPr algn="ctr" indent="0" marL="0">
              <a:lnSpc>
                <a:spcPct val="112000"/>
              </a:lnSpc>
              <a:buNone/>
            </a:pPr>
            <a:r>
              <a:rPr lang="en-US" sz="1100" b="1" dirty="0">
                <a:solidFill>
                  <a:srgbClr val="3A6B2E"/>
                </a:solidFill>
                <a:latin typeface="Calibri" pitchFamily="34" charset="0"/>
                <a:ea typeface="Calibri" pitchFamily="34" charset="-122"/>
                <a:cs typeface="Calibri" pitchFamily="34" charset="-120"/>
              </a:rPr>
              <a:t>Product  (Java)</a:t>
            </a:r>
            <a:endParaRPr lang="en-US" sz="1100" dirty="0"/>
          </a:p>
        </p:txBody>
      </p:sp>
      <p:sp>
        <p:nvSpPr>
          <p:cNvPr id="7" name="Text 5"/>
          <p:cNvSpPr txBox="1"/>
          <p:nvPr/>
        </p:nvSpPr>
        <p:spPr>
          <a:xfrm>
            <a:off x="9509760" y="1517904"/>
            <a:ext cx="2286000" cy="237744"/>
          </a:xfrm>
          <a:prstGeom prst="rect">
            <a:avLst/>
          </a:prstGeom>
          <a:noFill/>
          <a:ln/>
        </p:spPr>
        <p:txBody>
          <a:bodyPr wrap="square" lIns="0" tIns="0" rIns="0" bIns="0" rtlCol="0" anchor="t"/>
          <a:lstStyle/>
          <a:p>
            <a:pPr algn="ctr" indent="0" marL="0">
              <a:lnSpc>
                <a:spcPct val="112000"/>
              </a:lnSpc>
              <a:buNone/>
            </a:pPr>
            <a:r>
              <a:rPr lang="en-US" sz="1100" b="1" dirty="0">
                <a:solidFill>
                  <a:srgbClr val="6D2E46"/>
                </a:solidFill>
                <a:latin typeface="Calibri" pitchFamily="34" charset="0"/>
                <a:ea typeface="Calibri" pitchFamily="34" charset="-122"/>
                <a:cs typeface="Calibri" pitchFamily="34" charset="-120"/>
              </a:rPr>
              <a:t>Order  (C#)</a:t>
            </a:r>
            <a:endParaRPr lang="en-US" sz="1100" dirty="0"/>
          </a:p>
        </p:txBody>
      </p:sp>
      <p:sp>
        <p:nvSpPr>
          <p:cNvPr id="8" name="Shape 6"/>
          <p:cNvSpPr/>
          <p:nvPr/>
        </p:nvSpPr>
        <p:spPr>
          <a:xfrm>
            <a:off x="548640" y="1828800"/>
            <a:ext cx="3931920" cy="1152144"/>
          </a:xfrm>
          <a:prstGeom prst="roundRect">
            <a:avLst>
              <a:gd name="adj" fmla="val 5556"/>
            </a:avLst>
          </a:prstGeom>
          <a:solidFill>
            <a:srgbClr val="F4F6F8"/>
          </a:solidFill>
          <a:ln/>
        </p:spPr>
      </p:sp>
      <p:sp>
        <p:nvSpPr>
          <p:cNvPr id="9" name="Shape 7"/>
          <p:cNvSpPr/>
          <p:nvPr/>
        </p:nvSpPr>
        <p:spPr>
          <a:xfrm>
            <a:off x="786384" y="2029968"/>
            <a:ext cx="402336" cy="402336"/>
          </a:xfrm>
          <a:prstGeom prst="ellipse">
            <a:avLst/>
          </a:prstGeom>
          <a:solidFill>
            <a:srgbClr val="028090"/>
          </a:solidFill>
          <a:ln/>
        </p:spPr>
      </p:sp>
      <p:sp>
        <p:nvSpPr>
          <p:cNvPr id="10" name="Text 8"/>
          <p:cNvSpPr txBox="1"/>
          <p:nvPr/>
        </p:nvSpPr>
        <p:spPr>
          <a:xfrm>
            <a:off x="786384"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35024" y="2048256"/>
            <a:ext cx="2926080" cy="274320"/>
          </a:xfrm>
          <a:prstGeom prst="rect">
            <a:avLst/>
          </a:prstGeom>
          <a:noFill/>
          <a:ln/>
        </p:spPr>
        <p:txBody>
          <a:bodyPr wrap="square" lIns="0" tIns="0" rIns="0" bIns="0" rtlCol="0" anchor="t"/>
          <a:lstStyle/>
          <a:p>
            <a:pPr algn="l" indent="0" marL="0">
              <a:lnSpc>
                <a:spcPct val="112000"/>
              </a:lnSpc>
              <a:buNone/>
            </a:pPr>
            <a:r>
              <a:rPr lang="en-US" sz="1500" b="1" dirty="0">
                <a:solidFill>
                  <a:srgbClr val="1D2433"/>
                </a:solidFill>
                <a:latin typeface="Calibri" pitchFamily="34" charset="0"/>
                <a:ea typeface="Calibri" pitchFamily="34" charset="-122"/>
                <a:cs typeface="Calibri" pitchFamily="34" charset="-120"/>
              </a:rPr>
              <a:t>Transport</a:t>
            </a:r>
            <a:endParaRPr lang="en-US" sz="1500" dirty="0"/>
          </a:p>
        </p:txBody>
      </p:sp>
      <p:sp>
        <p:nvSpPr>
          <p:cNvPr id="12" name="Text 10"/>
          <p:cNvSpPr txBox="1"/>
          <p:nvPr/>
        </p:nvSpPr>
        <p:spPr>
          <a:xfrm>
            <a:off x="804672" y="2505456"/>
            <a:ext cx="3419856" cy="420624"/>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HTTP in, HTTP out. Validation, status codes, error mapping. No business rules.</a:t>
            </a:r>
            <a:endParaRPr lang="en-US" sz="1150" dirty="0"/>
          </a:p>
        </p:txBody>
      </p:sp>
      <p:sp>
        <p:nvSpPr>
          <p:cNvPr id="13" name="Shape 11"/>
          <p:cNvSpPr/>
          <p:nvPr/>
        </p:nvSpPr>
        <p:spPr>
          <a:xfrm>
            <a:off x="4663440" y="1828800"/>
            <a:ext cx="2286000" cy="1152144"/>
          </a:xfrm>
          <a:prstGeom prst="roundRect">
            <a:avLst>
              <a:gd name="adj" fmla="val 5556"/>
            </a:avLst>
          </a:prstGeom>
          <a:solidFill>
            <a:srgbClr val="E6F1F2"/>
          </a:solidFill>
          <a:ln/>
        </p:spPr>
      </p:sp>
      <p:sp>
        <p:nvSpPr>
          <p:cNvPr id="14" name="Text 12"/>
          <p:cNvSpPr txBox="1"/>
          <p:nvPr/>
        </p:nvSpPr>
        <p:spPr>
          <a:xfrm>
            <a:off x="4754880" y="1828800"/>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app/api/v1/</a:t>
            </a:r>
            <a:endParaRPr lang="en-US" sz="1050" dirty="0"/>
          </a:p>
        </p:txBody>
      </p:sp>
      <p:sp>
        <p:nvSpPr>
          <p:cNvPr id="15" name="Shape 13"/>
          <p:cNvSpPr/>
          <p:nvPr/>
        </p:nvSpPr>
        <p:spPr>
          <a:xfrm>
            <a:off x="7086600" y="1828800"/>
            <a:ext cx="2286000" cy="1152144"/>
          </a:xfrm>
          <a:prstGeom prst="roundRect">
            <a:avLst>
              <a:gd name="adj" fmla="val 5556"/>
            </a:avLst>
          </a:prstGeom>
          <a:solidFill>
            <a:srgbClr val="EDF2E7"/>
          </a:solidFill>
          <a:ln/>
        </p:spPr>
      </p:sp>
      <p:sp>
        <p:nvSpPr>
          <p:cNvPr id="16" name="Text 14"/>
          <p:cNvSpPr txBox="1"/>
          <p:nvPr/>
        </p:nvSpPr>
        <p:spPr>
          <a:xfrm>
            <a:off x="7178040" y="1828800"/>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web/  +  dto/</a:t>
            </a:r>
            <a:endParaRPr lang="en-US" sz="1050" dirty="0"/>
          </a:p>
        </p:txBody>
      </p:sp>
      <p:sp>
        <p:nvSpPr>
          <p:cNvPr id="17" name="Shape 15"/>
          <p:cNvSpPr/>
          <p:nvPr/>
        </p:nvSpPr>
        <p:spPr>
          <a:xfrm>
            <a:off x="9509760" y="1828800"/>
            <a:ext cx="2286000" cy="1152144"/>
          </a:xfrm>
          <a:prstGeom prst="roundRect">
            <a:avLst>
              <a:gd name="adj" fmla="val 5556"/>
            </a:avLst>
          </a:prstGeom>
          <a:solidFill>
            <a:srgbClr val="F6EAEE"/>
          </a:solidFill>
          <a:ln/>
        </p:spPr>
      </p:sp>
      <p:sp>
        <p:nvSpPr>
          <p:cNvPr id="18" name="Text 16"/>
          <p:cNvSpPr txBox="1"/>
          <p:nvPr/>
        </p:nvSpPr>
        <p:spPr>
          <a:xfrm>
            <a:off x="9601200" y="1828800"/>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OrderService.Api/</a:t>
            </a:r>
            <a:endParaRPr lang="en-US" sz="1050" dirty="0"/>
          </a:p>
        </p:txBody>
      </p:sp>
      <p:sp>
        <p:nvSpPr>
          <p:cNvPr id="19" name="Shape 17"/>
          <p:cNvSpPr/>
          <p:nvPr/>
        </p:nvSpPr>
        <p:spPr>
          <a:xfrm>
            <a:off x="2514600" y="2980944"/>
            <a:ext cx="0" cy="146304"/>
          </a:xfrm>
          <a:prstGeom prst="line">
            <a:avLst/>
          </a:prstGeom>
          <a:noFill/>
          <a:ln w="19050">
            <a:solidFill>
              <a:srgbClr val="D5DDE5"/>
            </a:solidFill>
            <a:prstDash val="solid"/>
            <a:tailEnd type="triangle"/>
          </a:ln>
        </p:spPr>
      </p:sp>
      <p:sp>
        <p:nvSpPr>
          <p:cNvPr id="20" name="Shape 18"/>
          <p:cNvSpPr/>
          <p:nvPr/>
        </p:nvSpPr>
        <p:spPr>
          <a:xfrm>
            <a:off x="548640" y="3127248"/>
            <a:ext cx="3931920" cy="1152144"/>
          </a:xfrm>
          <a:prstGeom prst="roundRect">
            <a:avLst>
              <a:gd name="adj" fmla="val 5556"/>
            </a:avLst>
          </a:prstGeom>
          <a:solidFill>
            <a:srgbClr val="F4F6F8"/>
          </a:solidFill>
          <a:ln/>
        </p:spPr>
      </p:sp>
      <p:sp>
        <p:nvSpPr>
          <p:cNvPr id="21" name="Shape 19"/>
          <p:cNvSpPr/>
          <p:nvPr/>
        </p:nvSpPr>
        <p:spPr>
          <a:xfrm>
            <a:off x="786384" y="3328416"/>
            <a:ext cx="402336" cy="402336"/>
          </a:xfrm>
          <a:prstGeom prst="ellipse">
            <a:avLst/>
          </a:prstGeom>
          <a:solidFill>
            <a:srgbClr val="3A6B2E"/>
          </a:solidFill>
          <a:ln/>
        </p:spPr>
      </p:sp>
      <p:sp>
        <p:nvSpPr>
          <p:cNvPr id="22" name="Text 20"/>
          <p:cNvSpPr txBox="1"/>
          <p:nvPr/>
        </p:nvSpPr>
        <p:spPr>
          <a:xfrm>
            <a:off x="786384" y="3328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txBox="1"/>
          <p:nvPr/>
        </p:nvSpPr>
        <p:spPr>
          <a:xfrm>
            <a:off x="1335024" y="3346704"/>
            <a:ext cx="2926080" cy="274320"/>
          </a:xfrm>
          <a:prstGeom prst="rect">
            <a:avLst/>
          </a:prstGeom>
          <a:noFill/>
          <a:ln/>
        </p:spPr>
        <p:txBody>
          <a:bodyPr wrap="square" lIns="0" tIns="0" rIns="0" bIns="0" rtlCol="0" anchor="t"/>
          <a:lstStyle/>
          <a:p>
            <a:pPr algn="l" indent="0" marL="0">
              <a:lnSpc>
                <a:spcPct val="112000"/>
              </a:lnSpc>
              <a:buNone/>
            </a:pPr>
            <a:r>
              <a:rPr lang="en-US" sz="1500" b="1" dirty="0">
                <a:solidFill>
                  <a:srgbClr val="1D2433"/>
                </a:solidFill>
                <a:latin typeface="Calibri" pitchFamily="34" charset="0"/>
                <a:ea typeface="Calibri" pitchFamily="34" charset="-122"/>
                <a:cs typeface="Calibri" pitchFamily="34" charset="-120"/>
              </a:rPr>
              <a:t>Business rules</a:t>
            </a:r>
            <a:endParaRPr lang="en-US" sz="1500" dirty="0"/>
          </a:p>
        </p:txBody>
      </p:sp>
      <p:sp>
        <p:nvSpPr>
          <p:cNvPr id="24" name="Text 22"/>
          <p:cNvSpPr txBox="1"/>
          <p:nvPr/>
        </p:nvSpPr>
        <p:spPr>
          <a:xfrm>
            <a:off x="804672" y="3803904"/>
            <a:ext cx="3419856" cy="420624"/>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Rules that must always hold, plus the use cases that coordinate them. No HTTP.</a:t>
            </a:r>
            <a:endParaRPr lang="en-US" sz="1150" dirty="0"/>
          </a:p>
        </p:txBody>
      </p:sp>
      <p:sp>
        <p:nvSpPr>
          <p:cNvPr id="25" name="Shape 23"/>
          <p:cNvSpPr/>
          <p:nvPr/>
        </p:nvSpPr>
        <p:spPr>
          <a:xfrm>
            <a:off x="4663440" y="3127248"/>
            <a:ext cx="2286000" cy="1152144"/>
          </a:xfrm>
          <a:prstGeom prst="roundRect">
            <a:avLst>
              <a:gd name="adj" fmla="val 5556"/>
            </a:avLst>
          </a:prstGeom>
          <a:solidFill>
            <a:srgbClr val="E6F1F2"/>
          </a:solidFill>
          <a:ln/>
        </p:spPr>
      </p:sp>
      <p:sp>
        <p:nvSpPr>
          <p:cNvPr id="26" name="Text 24"/>
          <p:cNvSpPr txBox="1"/>
          <p:nvPr/>
        </p:nvSpPr>
        <p:spPr>
          <a:xfrm>
            <a:off x="4754880" y="3127248"/>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app/services/</a:t>
            </a:r>
            <a:endParaRPr lang="en-US" sz="1050" dirty="0"/>
          </a:p>
        </p:txBody>
      </p:sp>
      <p:sp>
        <p:nvSpPr>
          <p:cNvPr id="27" name="Shape 25"/>
          <p:cNvSpPr/>
          <p:nvPr/>
        </p:nvSpPr>
        <p:spPr>
          <a:xfrm>
            <a:off x="7086600" y="3127248"/>
            <a:ext cx="2286000" cy="1152144"/>
          </a:xfrm>
          <a:prstGeom prst="roundRect">
            <a:avLst>
              <a:gd name="adj" fmla="val 5556"/>
            </a:avLst>
          </a:prstGeom>
          <a:solidFill>
            <a:srgbClr val="EDF2E7"/>
          </a:solidFill>
          <a:ln/>
        </p:spPr>
      </p:sp>
      <p:sp>
        <p:nvSpPr>
          <p:cNvPr id="28" name="Text 26"/>
          <p:cNvSpPr txBox="1"/>
          <p:nvPr/>
        </p:nvSpPr>
        <p:spPr>
          <a:xfrm>
            <a:off x="7178040" y="3127248"/>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service/  +  domain/</a:t>
            </a:r>
            <a:endParaRPr lang="en-US" sz="1050" dirty="0"/>
          </a:p>
        </p:txBody>
      </p:sp>
      <p:sp>
        <p:nvSpPr>
          <p:cNvPr id="29" name="Shape 27"/>
          <p:cNvSpPr/>
          <p:nvPr/>
        </p:nvSpPr>
        <p:spPr>
          <a:xfrm>
            <a:off x="9509760" y="3127248"/>
            <a:ext cx="2286000" cy="1152144"/>
          </a:xfrm>
          <a:prstGeom prst="roundRect">
            <a:avLst>
              <a:gd name="adj" fmla="val 5556"/>
            </a:avLst>
          </a:prstGeom>
          <a:solidFill>
            <a:srgbClr val="F6EAEE"/>
          </a:solidFill>
          <a:ln/>
        </p:spPr>
      </p:sp>
      <p:sp>
        <p:nvSpPr>
          <p:cNvPr id="30" name="Text 28"/>
          <p:cNvSpPr txBox="1"/>
          <p:nvPr/>
        </p:nvSpPr>
        <p:spPr>
          <a:xfrm>
            <a:off x="9601200" y="3127248"/>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Domain/  +  Application/</a:t>
            </a:r>
            <a:endParaRPr lang="en-US" sz="1050" dirty="0"/>
          </a:p>
        </p:txBody>
      </p:sp>
      <p:sp>
        <p:nvSpPr>
          <p:cNvPr id="31" name="Shape 29"/>
          <p:cNvSpPr/>
          <p:nvPr/>
        </p:nvSpPr>
        <p:spPr>
          <a:xfrm>
            <a:off x="2514600" y="4279392"/>
            <a:ext cx="0" cy="146304"/>
          </a:xfrm>
          <a:prstGeom prst="line">
            <a:avLst/>
          </a:prstGeom>
          <a:noFill/>
          <a:ln w="19050">
            <a:solidFill>
              <a:srgbClr val="D5DDE5"/>
            </a:solidFill>
            <a:prstDash val="solid"/>
            <a:tailEnd type="triangle"/>
          </a:ln>
        </p:spPr>
      </p:sp>
      <p:sp>
        <p:nvSpPr>
          <p:cNvPr id="32" name="Shape 30"/>
          <p:cNvSpPr/>
          <p:nvPr/>
        </p:nvSpPr>
        <p:spPr>
          <a:xfrm>
            <a:off x="548640" y="4425696"/>
            <a:ext cx="3931920" cy="1152144"/>
          </a:xfrm>
          <a:prstGeom prst="roundRect">
            <a:avLst>
              <a:gd name="adj" fmla="val 5556"/>
            </a:avLst>
          </a:prstGeom>
          <a:solidFill>
            <a:srgbClr val="F4F6F8"/>
          </a:solidFill>
          <a:ln/>
        </p:spPr>
      </p:sp>
      <p:sp>
        <p:nvSpPr>
          <p:cNvPr id="33" name="Shape 31"/>
          <p:cNvSpPr/>
          <p:nvPr/>
        </p:nvSpPr>
        <p:spPr>
          <a:xfrm>
            <a:off x="786384" y="4626864"/>
            <a:ext cx="402336" cy="402336"/>
          </a:xfrm>
          <a:prstGeom prst="ellipse">
            <a:avLst/>
          </a:prstGeom>
          <a:solidFill>
            <a:srgbClr val="6D2E46"/>
          </a:solidFill>
          <a:ln/>
        </p:spPr>
      </p:sp>
      <p:sp>
        <p:nvSpPr>
          <p:cNvPr id="34" name="Text 32"/>
          <p:cNvSpPr txBox="1"/>
          <p:nvPr/>
        </p:nvSpPr>
        <p:spPr>
          <a:xfrm>
            <a:off x="786384" y="4626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5" name="Text 33"/>
          <p:cNvSpPr txBox="1"/>
          <p:nvPr/>
        </p:nvSpPr>
        <p:spPr>
          <a:xfrm>
            <a:off x="1335024" y="4645152"/>
            <a:ext cx="2926080" cy="274320"/>
          </a:xfrm>
          <a:prstGeom prst="rect">
            <a:avLst/>
          </a:prstGeom>
          <a:noFill/>
          <a:ln/>
        </p:spPr>
        <p:txBody>
          <a:bodyPr wrap="square" lIns="0" tIns="0" rIns="0" bIns="0" rtlCol="0" anchor="t"/>
          <a:lstStyle/>
          <a:p>
            <a:pPr algn="l" indent="0" marL="0">
              <a:lnSpc>
                <a:spcPct val="112000"/>
              </a:lnSpc>
              <a:buNone/>
            </a:pPr>
            <a:r>
              <a:rPr lang="en-US" sz="1500" b="1" dirty="0">
                <a:solidFill>
                  <a:srgbClr val="1D2433"/>
                </a:solidFill>
                <a:latin typeface="Calibri" pitchFamily="34" charset="0"/>
                <a:ea typeface="Calibri" pitchFamily="34" charset="-122"/>
                <a:cs typeface="Calibri" pitchFamily="34" charset="-120"/>
              </a:rPr>
              <a:t>Data access</a:t>
            </a:r>
            <a:endParaRPr lang="en-US" sz="1500" dirty="0"/>
          </a:p>
        </p:txBody>
      </p:sp>
      <p:sp>
        <p:nvSpPr>
          <p:cNvPr id="36" name="Text 34"/>
          <p:cNvSpPr txBox="1"/>
          <p:nvPr/>
        </p:nvSpPr>
        <p:spPr>
          <a:xfrm>
            <a:off x="804672" y="5102352"/>
            <a:ext cx="3419856" cy="420624"/>
          </a:xfrm>
          <a:prstGeom prst="rect">
            <a:avLst/>
          </a:prstGeom>
          <a:noFill/>
          <a:ln/>
        </p:spPr>
        <p:txBody>
          <a:bodyPr wrap="square" lIns="0" tIns="0" rIns="0" bIns="0" rtlCol="0" anchor="t"/>
          <a:lstStyle/>
          <a:p>
            <a:pPr algn="l" indent="0" marL="0">
              <a:lnSpc>
                <a:spcPct val="112000"/>
              </a:lnSpc>
              <a:buNone/>
            </a:pPr>
            <a:r>
              <a:rPr lang="en-US" sz="1150" dirty="0">
                <a:solidFill>
                  <a:srgbClr val="6B7A8D"/>
                </a:solidFill>
                <a:latin typeface="Calibri" pitchFamily="34" charset="0"/>
                <a:ea typeface="Calibri" pitchFamily="34" charset="-122"/>
                <a:cs typeface="Calibri" pitchFamily="34" charset="-120"/>
              </a:rPr>
              <a:t>The only layer that talks to the database or to another service.</a:t>
            </a:r>
            <a:endParaRPr lang="en-US" sz="1150" dirty="0"/>
          </a:p>
        </p:txBody>
      </p:sp>
      <p:sp>
        <p:nvSpPr>
          <p:cNvPr id="37" name="Shape 35"/>
          <p:cNvSpPr/>
          <p:nvPr/>
        </p:nvSpPr>
        <p:spPr>
          <a:xfrm>
            <a:off x="4663440" y="4425696"/>
            <a:ext cx="2286000" cy="1152144"/>
          </a:xfrm>
          <a:prstGeom prst="roundRect">
            <a:avLst>
              <a:gd name="adj" fmla="val 5556"/>
            </a:avLst>
          </a:prstGeom>
          <a:solidFill>
            <a:srgbClr val="E6F1F2"/>
          </a:solidFill>
          <a:ln/>
        </p:spPr>
      </p:sp>
      <p:sp>
        <p:nvSpPr>
          <p:cNvPr id="38" name="Text 36"/>
          <p:cNvSpPr txBox="1"/>
          <p:nvPr/>
        </p:nvSpPr>
        <p:spPr>
          <a:xfrm>
            <a:off x="4754880" y="4425696"/>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app/repositories/</a:t>
            </a:r>
            <a:endParaRPr lang="en-US" sz="1050" dirty="0"/>
          </a:p>
        </p:txBody>
      </p:sp>
      <p:sp>
        <p:nvSpPr>
          <p:cNvPr id="39" name="Shape 37"/>
          <p:cNvSpPr/>
          <p:nvPr/>
        </p:nvSpPr>
        <p:spPr>
          <a:xfrm>
            <a:off x="7086600" y="4425696"/>
            <a:ext cx="2286000" cy="1152144"/>
          </a:xfrm>
          <a:prstGeom prst="roundRect">
            <a:avLst>
              <a:gd name="adj" fmla="val 5556"/>
            </a:avLst>
          </a:prstGeom>
          <a:solidFill>
            <a:srgbClr val="EDF2E7"/>
          </a:solidFill>
          <a:ln/>
        </p:spPr>
      </p:sp>
      <p:sp>
        <p:nvSpPr>
          <p:cNvPr id="40" name="Text 38"/>
          <p:cNvSpPr txBox="1"/>
          <p:nvPr/>
        </p:nvSpPr>
        <p:spPr>
          <a:xfrm>
            <a:off x="7178040" y="4425696"/>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repository/</a:t>
            </a:r>
            <a:endParaRPr lang="en-US" sz="1050" dirty="0"/>
          </a:p>
        </p:txBody>
      </p:sp>
      <p:sp>
        <p:nvSpPr>
          <p:cNvPr id="41" name="Shape 39"/>
          <p:cNvSpPr/>
          <p:nvPr/>
        </p:nvSpPr>
        <p:spPr>
          <a:xfrm>
            <a:off x="9509760" y="4425696"/>
            <a:ext cx="2286000" cy="1152144"/>
          </a:xfrm>
          <a:prstGeom prst="roundRect">
            <a:avLst>
              <a:gd name="adj" fmla="val 5556"/>
            </a:avLst>
          </a:prstGeom>
          <a:solidFill>
            <a:srgbClr val="F6EAEE"/>
          </a:solidFill>
          <a:ln/>
        </p:spPr>
      </p:sp>
      <p:sp>
        <p:nvSpPr>
          <p:cNvPr id="42" name="Text 40"/>
          <p:cNvSpPr txBox="1"/>
          <p:nvPr/>
        </p:nvSpPr>
        <p:spPr>
          <a:xfrm>
            <a:off x="9601200" y="4425696"/>
            <a:ext cx="2103120" cy="1152144"/>
          </a:xfrm>
          <a:prstGeom prst="rect">
            <a:avLst/>
          </a:prstGeom>
          <a:noFill/>
          <a:ln/>
        </p:spPr>
        <p:txBody>
          <a:bodyPr wrap="square" lIns="0" tIns="0" rIns="0" bIns="0" rtlCol="0" anchor="ctr"/>
          <a:lstStyle/>
          <a:p>
            <a:pPr algn="ctr" indent="0" marL="0">
              <a:lnSpc>
                <a:spcPct val="112000"/>
              </a:lnSpc>
              <a:buNone/>
            </a:pPr>
            <a:r>
              <a:rPr lang="en-US" sz="1050" dirty="0">
                <a:solidFill>
                  <a:srgbClr val="36454F"/>
                </a:solidFill>
                <a:latin typeface="Courier New" pitchFamily="34" charset="0"/>
                <a:ea typeface="Courier New" pitchFamily="34" charset="-122"/>
                <a:cs typeface="Courier New" pitchFamily="34" charset="-120"/>
              </a:rPr>
              <a:t>Infrastructure/</a:t>
            </a:r>
            <a:endParaRPr lang="en-US" sz="1050" dirty="0"/>
          </a:p>
        </p:txBody>
      </p:sp>
      <p:sp>
        <p:nvSpPr>
          <p:cNvPr id="43" name="Text 41"/>
          <p:cNvSpPr txBox="1"/>
          <p:nvPr/>
        </p:nvSpPr>
        <p:spPr>
          <a:xfrm>
            <a:off x="548640" y="5870448"/>
            <a:ext cx="11094415" cy="457200"/>
          </a:xfrm>
          <a:prstGeom prst="rect">
            <a:avLst/>
          </a:prstGeom>
          <a:noFill/>
          <a:ln/>
        </p:spPr>
        <p:txBody>
          <a:bodyPr wrap="square" lIns="0" tIns="0" rIns="0" bIns="0" rtlCol="0" anchor="t"/>
          <a:lstStyle/>
          <a:p>
            <a:pPr algn="ctr" indent="0" marL="0">
              <a:lnSpc>
                <a:spcPct val="115000"/>
              </a:lnSpc>
              <a:buNone/>
            </a:pPr>
            <a:r>
              <a:rPr lang="en-US" sz="1250" i="1" dirty="0">
                <a:solidFill>
                  <a:srgbClr val="1D2433"/>
                </a:solidFill>
                <a:latin typeface="Calibri" pitchFamily="34" charset="0"/>
                <a:ea typeface="Calibri" pitchFamily="34" charset="-122"/>
                <a:cs typeface="Calibri" pitchFamily="34" charset="-120"/>
              </a:rPr>
              <a:t>Dependencies only ever point downwards. That is what lets the Order Service’s rules be driven by a Kafka consumer in week 4 without being rewritten — nothing about them was ever tied to HTTP.</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2433"/>
        </a:solidFill>
      </p:bgPr>
    </p:bg>
    <p:spTree>
      <p:nvGrpSpPr>
        <p:cNvPr id="1" name=""/>
        <p:cNvGrpSpPr/>
        <p:nvPr/>
      </p:nvGrpSpPr>
      <p:grpSpPr>
        <a:xfrm>
          <a:off x="0" y="0"/>
          <a:ext cx="0" cy="0"/>
          <a:chOff x="0" y="0"/>
          <a:chExt cx="0" cy="0"/>
        </a:xfrm>
      </p:grpSpPr>
      <p:sp>
        <p:nvSpPr>
          <p:cNvPr id="2" name="Shape 0"/>
          <p:cNvSpPr/>
          <p:nvPr/>
        </p:nvSpPr>
        <p:spPr>
          <a:xfrm>
            <a:off x="548640" y="1417320"/>
            <a:ext cx="786384" cy="786384"/>
          </a:xfrm>
          <a:prstGeom prst="ellipse">
            <a:avLst/>
          </a:prstGeom>
          <a:solidFill>
            <a:srgbClr val="8FB861"/>
          </a:solidFill>
          <a:ln/>
        </p:spPr>
      </p:sp>
      <p:sp>
        <p:nvSpPr>
          <p:cNvPr id="3" name="Text 1"/>
          <p:cNvSpPr txBox="1"/>
          <p:nvPr/>
        </p:nvSpPr>
        <p:spPr>
          <a:xfrm>
            <a:off x="548640" y="1417320"/>
            <a:ext cx="786384" cy="786384"/>
          </a:xfrm>
          <a:prstGeom prst="rect">
            <a:avLst/>
          </a:prstGeom>
          <a:noFill/>
          <a:ln/>
        </p:spPr>
        <p:txBody>
          <a:bodyPr wrap="square" lIns="0" tIns="0" rIns="0" bIns="0" rtlCol="0" anchor="ctr"/>
          <a:lstStyle/>
          <a:p>
            <a:pPr algn="ctr" indent="0" marL="0">
              <a:buNone/>
            </a:pPr>
            <a:r>
              <a:rPr lang="en-US" sz="2600" b="1" dirty="0">
                <a:solidFill>
                  <a:srgbClr val="1D2433"/>
                </a:solidFill>
                <a:latin typeface="Calibri" pitchFamily="34" charset="0"/>
                <a:ea typeface="Calibri" pitchFamily="34" charset="-122"/>
                <a:cs typeface="Calibri" pitchFamily="34" charset="-120"/>
              </a:rPr>
              <a:t>2</a:t>
            </a:r>
            <a:endParaRPr lang="en-US" sz="2600" dirty="0"/>
          </a:p>
        </p:txBody>
      </p:sp>
      <p:sp>
        <p:nvSpPr>
          <p:cNvPr id="4" name="Text 2"/>
          <p:cNvSpPr txBox="1"/>
          <p:nvPr/>
        </p:nvSpPr>
        <p:spPr>
          <a:xfrm>
            <a:off x="548640" y="2432304"/>
            <a:ext cx="11094415" cy="256032"/>
          </a:xfrm>
          <a:prstGeom prst="rect">
            <a:avLst/>
          </a:prstGeom>
          <a:noFill/>
          <a:ln/>
        </p:spPr>
        <p:txBody>
          <a:bodyPr wrap="square" lIns="0" tIns="0" rIns="0" bIns="0" rtlCol="0" anchor="t"/>
          <a:lstStyle/>
          <a:p>
            <a:pPr algn="l" indent="0" marL="0">
              <a:lnSpc>
                <a:spcPct val="112000"/>
              </a:lnSpc>
              <a:buNone/>
            </a:pPr>
            <a:r>
              <a:rPr lang="en-US" sz="1200" b="1" spc="250" kern="0" dirty="0">
                <a:solidFill>
                  <a:srgbClr val="8FB861"/>
                </a:solidFill>
                <a:latin typeface="Calibri" pitchFamily="34" charset="0"/>
                <a:ea typeface="Calibri" pitchFamily="34" charset="-122"/>
                <a:cs typeface="Calibri" pitchFamily="34" charset="-120"/>
              </a:rPr>
              <a:t>WEEK 2  ·  DAYS 8-14</a:t>
            </a:r>
            <a:endParaRPr lang="en-US" sz="1200" dirty="0"/>
          </a:p>
        </p:txBody>
      </p:sp>
      <p:sp>
        <p:nvSpPr>
          <p:cNvPr id="5" name="Text 3"/>
          <p:cNvSpPr txBox="1"/>
          <p:nvPr/>
        </p:nvSpPr>
        <p:spPr>
          <a:xfrm>
            <a:off x="548640" y="2743200"/>
            <a:ext cx="10424160" cy="804672"/>
          </a:xfrm>
          <a:prstGeom prst="rect">
            <a:avLst/>
          </a:prstGeom>
          <a:noFill/>
          <a:ln/>
        </p:spPr>
        <p:txBody>
          <a:bodyPr wrap="square" lIns="0" tIns="0" rIns="0" bIns="0" rtlCol="0" anchor="t"/>
          <a:lstStyle/>
          <a:p>
            <a:pPr algn="l" indent="0" marL="0">
              <a:lnSpc>
                <a:spcPct val="112000"/>
              </a:lnSpc>
              <a:buNone/>
            </a:pPr>
            <a:r>
              <a:rPr lang="en-US" sz="3300" b="1" dirty="0">
                <a:solidFill>
                  <a:srgbClr val="FFFFFF"/>
                </a:solidFill>
                <a:latin typeface="Cambria" pitchFamily="34" charset="0"/>
                <a:ea typeface="Cambria" pitchFamily="34" charset="-122"/>
                <a:cs typeface="Cambria" pitchFamily="34" charset="-120"/>
              </a:rPr>
              <a:t>The first two services, and how to start one</a:t>
            </a:r>
            <a:endParaRPr lang="en-US" sz="3300" dirty="0"/>
          </a:p>
        </p:txBody>
      </p:sp>
      <p:sp>
        <p:nvSpPr>
          <p:cNvPr id="6" name="Text 4"/>
          <p:cNvSpPr txBox="1"/>
          <p:nvPr/>
        </p:nvSpPr>
        <p:spPr>
          <a:xfrm>
            <a:off x="585216" y="3703320"/>
            <a:ext cx="8778240" cy="1737360"/>
          </a:xfrm>
          <a:prstGeom prst="rect">
            <a:avLst/>
          </a:prstGeom>
          <a:noFill/>
          <a:ln/>
        </p:spPr>
        <p:txBody>
          <a:bodyPr wrap="square" lIns="0" tIns="0" rIns="0" bIns="0" rtlCol="0" anchor="ctr"/>
          <a:lstStyle/>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User Service — FastAPI, SQLAlchemy 2.0, PostgreSQL · 24 tests</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Product Service — Spring Boot 3, JPA, Flyway, PostgreSQL · 21 tests</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Docker Compose: two services, two databases, one network</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The concepts that showed up in code: DTOs vs entities, where rules live, status codes as contract</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SERVICE 1 OF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Initialising the User Service — FastAPI + PostgreSQL</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Python has no scaffolding tool here on purpose: the layout is the design decision, so it is made by hand.</a:t>
            </a:r>
            <a:endParaRPr lang="en-US" sz="1350" dirty="0"/>
          </a:p>
        </p:txBody>
      </p:sp>
      <p:sp>
        <p:nvSpPr>
          <p:cNvPr id="5" name="Text 3"/>
          <p:cNvSpPr txBox="1"/>
          <p:nvPr/>
        </p:nvSpPr>
        <p:spPr>
          <a:xfrm>
            <a:off x="548640" y="1517904"/>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028090"/>
                </a:solidFill>
                <a:latin typeface="Calibri" pitchFamily="34" charset="0"/>
                <a:ea typeface="Calibri" pitchFamily="34" charset="-122"/>
                <a:cs typeface="Calibri" pitchFamily="34" charset="-120"/>
              </a:rPr>
              <a:t>Step 1 — create the project and its dependencies</a:t>
            </a:r>
            <a:endParaRPr lang="en-US" sz="1250" dirty="0"/>
          </a:p>
        </p:txBody>
      </p:sp>
      <p:sp>
        <p:nvSpPr>
          <p:cNvPr id="6" name="Shape 4"/>
          <p:cNvSpPr/>
          <p:nvPr/>
        </p:nvSpPr>
        <p:spPr>
          <a:xfrm>
            <a:off x="548640" y="1792224"/>
            <a:ext cx="5486400" cy="2340864"/>
          </a:xfrm>
          <a:prstGeom prst="roundRect">
            <a:avLst>
              <a:gd name="adj" fmla="val 1563"/>
            </a:avLst>
          </a:prstGeom>
          <a:solidFill>
            <a:srgbClr val="222A35"/>
          </a:solidFill>
          <a:ln/>
          <a:effectLst>
            <a:outerShdw sx="100000" sy="100000" kx="0" ky="0" algn="bl" rotWithShape="0" blurRad="127000" dist="25400" dir="5400000">
              <a:srgbClr val="8F9EAC">
                <a:alpha val="22000"/>
              </a:srgbClr>
            </a:outerShdw>
          </a:effectLst>
        </p:spPr>
      </p:sp>
      <p:sp>
        <p:nvSpPr>
          <p:cNvPr id="7" name="Text 5"/>
          <p:cNvSpPr txBox="1"/>
          <p:nvPr/>
        </p:nvSpPr>
        <p:spPr>
          <a:xfrm>
            <a:off x="731520" y="1938528"/>
            <a:ext cx="5120640" cy="2048256"/>
          </a:xfrm>
          <a:prstGeom prst="rect">
            <a:avLst/>
          </a:prstGeom>
          <a:noFill/>
          <a:ln/>
        </p:spPr>
        <p:txBody>
          <a:bodyPr wrap="square" lIns="0" tIns="0" rIns="0" bIns="0" rtlCol="0" anchor="t"/>
          <a:lstStyle/>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from the repository root</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mkdir -p services/user-service &amp;&amp; cd services/user-service</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python -m venv .venv</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.venv/Scripts/python -m pip install fastapi "uvicorn[standard]"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sqlalchemy pydantic-settings email-validator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"psycopg[binary]"</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.venv/Scripts/python -m pip install pytest httpx ruff</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the layer folders, each with an __init__.py</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mkdir app app/core app/db app/models app/schemas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app/repositories app/services app/api/v1 tests</a:t>
            </a:r>
            <a:endParaRPr lang="en-US" sz="1000" dirty="0"/>
          </a:p>
        </p:txBody>
      </p:sp>
      <p:sp>
        <p:nvSpPr>
          <p:cNvPr id="8" name="Text 6"/>
          <p:cNvSpPr txBox="1"/>
          <p:nvPr/>
        </p:nvSpPr>
        <p:spPr>
          <a:xfrm>
            <a:off x="548640" y="4370832"/>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028090"/>
                </a:solidFill>
                <a:latin typeface="Calibri" pitchFamily="34" charset="0"/>
                <a:ea typeface="Calibri" pitchFamily="34" charset="-122"/>
                <a:cs typeface="Calibri" pitchFamily="34" charset="-120"/>
              </a:rPr>
              <a:t>Step 2 — run it and test it</a:t>
            </a:r>
            <a:endParaRPr lang="en-US" sz="1250" dirty="0"/>
          </a:p>
        </p:txBody>
      </p:sp>
      <p:sp>
        <p:nvSpPr>
          <p:cNvPr id="9" name="Shape 7"/>
          <p:cNvSpPr/>
          <p:nvPr/>
        </p:nvSpPr>
        <p:spPr>
          <a:xfrm>
            <a:off x="548640" y="4645152"/>
            <a:ext cx="5486400" cy="1591056"/>
          </a:xfrm>
          <a:prstGeom prst="roundRect">
            <a:avLst>
              <a:gd name="adj" fmla="val 2299"/>
            </a:avLst>
          </a:prstGeom>
          <a:solidFill>
            <a:srgbClr val="222A35"/>
          </a:solidFill>
          <a:ln/>
          <a:effectLst>
            <a:outerShdw sx="100000" sy="100000" kx="0" ky="0" algn="bl" rotWithShape="0" blurRad="127000" dist="25400" dir="5400000">
              <a:srgbClr val="8F9EAC">
                <a:alpha val="22000"/>
              </a:srgbClr>
            </a:outerShdw>
          </a:effectLst>
        </p:spPr>
      </p:sp>
      <p:sp>
        <p:nvSpPr>
          <p:cNvPr id="10" name="Text 8"/>
          <p:cNvSpPr txBox="1"/>
          <p:nvPr/>
        </p:nvSpPr>
        <p:spPr>
          <a:xfrm>
            <a:off x="731520" y="4791456"/>
            <a:ext cx="5120640" cy="1298448"/>
          </a:xfrm>
          <a:prstGeom prst="rect">
            <a:avLst/>
          </a:prstGeom>
          <a:noFill/>
          <a:ln/>
        </p:spPr>
        <p:txBody>
          <a:bodyPr wrap="square" lIns="0" tIns="0" rIns="0" bIns="0" rtlCol="0" anchor="t"/>
          <a:lstStyle/>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defaults to SQLite, so no Postgres is needed to start</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cp .env.example .env</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.venv/Scripts/python -m uvicorn app.main:app --reload --port 8000</a:t>
            </a:r>
            <a:endParaRPr lang="en-US" sz="1000" dirty="0"/>
          </a:p>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open http://localhost:8000/docs   (generated, always current)</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.venv/Scripts/python -m pytest -q        # 24 passed</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.venv/Scripts/python -m ruff check app tests</a:t>
            </a:r>
            <a:endParaRPr lang="en-US" sz="1000" dirty="0"/>
          </a:p>
        </p:txBody>
      </p:sp>
      <p:sp>
        <p:nvSpPr>
          <p:cNvPr id="11" name="Text 9"/>
          <p:cNvSpPr txBox="1"/>
          <p:nvPr/>
        </p:nvSpPr>
        <p:spPr>
          <a:xfrm>
            <a:off x="6227064" y="1517904"/>
            <a:ext cx="5415991" cy="256032"/>
          </a:xfrm>
          <a:prstGeom prst="rect">
            <a:avLst/>
          </a:prstGeom>
          <a:noFill/>
          <a:ln/>
        </p:spPr>
        <p:txBody>
          <a:bodyPr wrap="square" lIns="0" tIns="0" rIns="0" bIns="0" rtlCol="0" anchor="t"/>
          <a:lstStyle/>
          <a:p>
            <a:pPr algn="l" indent="0" marL="0">
              <a:lnSpc>
                <a:spcPct val="112000"/>
              </a:lnSpc>
              <a:buNone/>
            </a:pPr>
            <a:r>
              <a:rPr lang="en-US" sz="1250" b="1" dirty="0">
                <a:solidFill>
                  <a:srgbClr val="028090"/>
                </a:solidFill>
                <a:latin typeface="Calibri" pitchFamily="34" charset="0"/>
                <a:ea typeface="Calibri" pitchFamily="34" charset="-122"/>
                <a:cs typeface="Calibri" pitchFamily="34" charset="-120"/>
              </a:rPr>
              <a:t>What each folder is for</a:t>
            </a:r>
            <a:endParaRPr lang="en-US" sz="1250" dirty="0"/>
          </a:p>
        </p:txBody>
      </p:sp>
      <p:sp>
        <p:nvSpPr>
          <p:cNvPr id="12" name="Shape 10"/>
          <p:cNvSpPr/>
          <p:nvPr/>
        </p:nvSpPr>
        <p:spPr>
          <a:xfrm>
            <a:off x="6227064" y="1792224"/>
            <a:ext cx="5415991" cy="2651760"/>
          </a:xfrm>
          <a:prstGeom prst="roundRect">
            <a:avLst>
              <a:gd name="adj" fmla="val 2414"/>
            </a:avLst>
          </a:prstGeom>
          <a:solidFill>
            <a:srgbClr val="F4F6F8"/>
          </a:solidFill>
          <a:ln/>
        </p:spPr>
      </p:sp>
      <p:sp>
        <p:nvSpPr>
          <p:cNvPr id="13" name="Text 11"/>
          <p:cNvSpPr txBox="1"/>
          <p:nvPr/>
        </p:nvSpPr>
        <p:spPr>
          <a:xfrm>
            <a:off x="6464808" y="1938528"/>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app/main.py</a:t>
            </a:r>
            <a:endParaRPr lang="en-US" sz="1050" dirty="0"/>
          </a:p>
        </p:txBody>
      </p:sp>
      <p:sp>
        <p:nvSpPr>
          <p:cNvPr id="14" name="Text 12"/>
          <p:cNvSpPr txBox="1"/>
          <p:nvPr/>
        </p:nvSpPr>
        <p:spPr>
          <a:xfrm>
            <a:off x="8339328" y="1938528"/>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app + error → HTTP mapping</a:t>
            </a:r>
            <a:endParaRPr lang="en-US" sz="1050" dirty="0"/>
          </a:p>
        </p:txBody>
      </p:sp>
      <p:sp>
        <p:nvSpPr>
          <p:cNvPr id="15" name="Text 13"/>
          <p:cNvSpPr txBox="1"/>
          <p:nvPr/>
        </p:nvSpPr>
        <p:spPr>
          <a:xfrm>
            <a:off x="6464808" y="2208276"/>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app/core/</a:t>
            </a:r>
            <a:endParaRPr lang="en-US" sz="1050" dirty="0"/>
          </a:p>
        </p:txBody>
      </p:sp>
      <p:sp>
        <p:nvSpPr>
          <p:cNvPr id="16" name="Text 14"/>
          <p:cNvSpPr txBox="1"/>
          <p:nvPr/>
        </p:nvSpPr>
        <p:spPr>
          <a:xfrm>
            <a:off x="8339328" y="2208276"/>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settings, logging, PBKDF2 hashing</a:t>
            </a:r>
            <a:endParaRPr lang="en-US" sz="1050" dirty="0"/>
          </a:p>
        </p:txBody>
      </p:sp>
      <p:sp>
        <p:nvSpPr>
          <p:cNvPr id="17" name="Text 15"/>
          <p:cNvSpPr txBox="1"/>
          <p:nvPr/>
        </p:nvSpPr>
        <p:spPr>
          <a:xfrm>
            <a:off x="6464808" y="2478024"/>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app/db/</a:t>
            </a:r>
            <a:endParaRPr lang="en-US" sz="1050" dirty="0"/>
          </a:p>
        </p:txBody>
      </p:sp>
      <p:sp>
        <p:nvSpPr>
          <p:cNvPr id="18" name="Text 16"/>
          <p:cNvSpPr txBox="1"/>
          <p:nvPr/>
        </p:nvSpPr>
        <p:spPr>
          <a:xfrm>
            <a:off x="8339328" y="2478024"/>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engine, session, declarative base</a:t>
            </a:r>
            <a:endParaRPr lang="en-US" sz="1050" dirty="0"/>
          </a:p>
        </p:txBody>
      </p:sp>
      <p:sp>
        <p:nvSpPr>
          <p:cNvPr id="19" name="Text 17"/>
          <p:cNvSpPr txBox="1"/>
          <p:nvPr/>
        </p:nvSpPr>
        <p:spPr>
          <a:xfrm>
            <a:off x="6464808" y="2747772"/>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app/models/</a:t>
            </a:r>
            <a:endParaRPr lang="en-US" sz="1050" dirty="0"/>
          </a:p>
        </p:txBody>
      </p:sp>
      <p:sp>
        <p:nvSpPr>
          <p:cNvPr id="20" name="Text 18"/>
          <p:cNvSpPr txBox="1"/>
          <p:nvPr/>
        </p:nvSpPr>
        <p:spPr>
          <a:xfrm>
            <a:off x="8339328" y="2747772"/>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SQLAlchemy ORM — private</a:t>
            </a:r>
            <a:endParaRPr lang="en-US" sz="1050" dirty="0"/>
          </a:p>
        </p:txBody>
      </p:sp>
      <p:sp>
        <p:nvSpPr>
          <p:cNvPr id="21" name="Text 19"/>
          <p:cNvSpPr txBox="1"/>
          <p:nvPr/>
        </p:nvSpPr>
        <p:spPr>
          <a:xfrm>
            <a:off x="6464808" y="3017520"/>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app/schemas/</a:t>
            </a:r>
            <a:endParaRPr lang="en-US" sz="1050" dirty="0"/>
          </a:p>
        </p:txBody>
      </p:sp>
      <p:sp>
        <p:nvSpPr>
          <p:cNvPr id="22" name="Text 20"/>
          <p:cNvSpPr txBox="1"/>
          <p:nvPr/>
        </p:nvSpPr>
        <p:spPr>
          <a:xfrm>
            <a:off x="8339328" y="3017520"/>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Pydantic contracts — public</a:t>
            </a:r>
            <a:endParaRPr lang="en-US" sz="1050" dirty="0"/>
          </a:p>
        </p:txBody>
      </p:sp>
      <p:sp>
        <p:nvSpPr>
          <p:cNvPr id="23" name="Text 21"/>
          <p:cNvSpPr txBox="1"/>
          <p:nvPr/>
        </p:nvSpPr>
        <p:spPr>
          <a:xfrm>
            <a:off x="6464808" y="3287268"/>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app/repositories/</a:t>
            </a:r>
            <a:endParaRPr lang="en-US" sz="1050" dirty="0"/>
          </a:p>
        </p:txBody>
      </p:sp>
      <p:sp>
        <p:nvSpPr>
          <p:cNvPr id="24" name="Text 22"/>
          <p:cNvSpPr txBox="1"/>
          <p:nvPr/>
        </p:nvSpPr>
        <p:spPr>
          <a:xfrm>
            <a:off x="8339328" y="3287268"/>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the only layer that writes SQL</a:t>
            </a:r>
            <a:endParaRPr lang="en-US" sz="1050" dirty="0"/>
          </a:p>
        </p:txBody>
      </p:sp>
      <p:sp>
        <p:nvSpPr>
          <p:cNvPr id="25" name="Text 23"/>
          <p:cNvSpPr txBox="1"/>
          <p:nvPr/>
        </p:nvSpPr>
        <p:spPr>
          <a:xfrm>
            <a:off x="6464808" y="3557016"/>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app/services/</a:t>
            </a:r>
            <a:endParaRPr lang="en-US" sz="1050" dirty="0"/>
          </a:p>
        </p:txBody>
      </p:sp>
      <p:sp>
        <p:nvSpPr>
          <p:cNvPr id="26" name="Text 24"/>
          <p:cNvSpPr txBox="1"/>
          <p:nvPr/>
        </p:nvSpPr>
        <p:spPr>
          <a:xfrm>
            <a:off x="8339328" y="3557016"/>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business rules, no HTTP types</a:t>
            </a:r>
            <a:endParaRPr lang="en-US" sz="1050" dirty="0"/>
          </a:p>
        </p:txBody>
      </p:sp>
      <p:sp>
        <p:nvSpPr>
          <p:cNvPr id="27" name="Text 25"/>
          <p:cNvSpPr txBox="1"/>
          <p:nvPr/>
        </p:nvSpPr>
        <p:spPr>
          <a:xfrm>
            <a:off x="6464808" y="3826764"/>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app/api/v1/</a:t>
            </a:r>
            <a:endParaRPr lang="en-US" sz="1050" dirty="0"/>
          </a:p>
        </p:txBody>
      </p:sp>
      <p:sp>
        <p:nvSpPr>
          <p:cNvPr id="28" name="Text 26"/>
          <p:cNvSpPr txBox="1"/>
          <p:nvPr/>
        </p:nvSpPr>
        <p:spPr>
          <a:xfrm>
            <a:off x="8339328" y="3826764"/>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routes and the two health probes</a:t>
            </a:r>
            <a:endParaRPr lang="en-US" sz="1050" dirty="0"/>
          </a:p>
        </p:txBody>
      </p:sp>
      <p:sp>
        <p:nvSpPr>
          <p:cNvPr id="29" name="Text 27"/>
          <p:cNvSpPr txBox="1"/>
          <p:nvPr/>
        </p:nvSpPr>
        <p:spPr>
          <a:xfrm>
            <a:off x="6464808" y="4096512"/>
            <a:ext cx="1783080" cy="246888"/>
          </a:xfrm>
          <a:prstGeom prst="rect">
            <a:avLst/>
          </a:prstGeom>
          <a:noFill/>
          <a:ln/>
        </p:spPr>
        <p:txBody>
          <a:bodyPr wrap="square" lIns="0" tIns="0" rIns="0" bIns="0" rtlCol="0" anchor="ctr"/>
          <a:lstStyle/>
          <a:p>
            <a:pPr algn="l" indent="0" marL="0">
              <a:lnSpc>
                <a:spcPct val="112000"/>
              </a:lnSpc>
              <a:buNone/>
            </a:pPr>
            <a:r>
              <a:rPr lang="en-US" sz="1050" dirty="0">
                <a:solidFill>
                  <a:srgbClr val="028090"/>
                </a:solidFill>
                <a:latin typeface="Courier New" pitchFamily="34" charset="0"/>
                <a:ea typeface="Courier New" pitchFamily="34" charset="-122"/>
                <a:cs typeface="Courier New" pitchFamily="34" charset="-120"/>
              </a:rPr>
              <a:t>tests/</a:t>
            </a:r>
            <a:endParaRPr lang="en-US" sz="1050" dirty="0"/>
          </a:p>
        </p:txBody>
      </p:sp>
      <p:sp>
        <p:nvSpPr>
          <p:cNvPr id="30" name="Text 28"/>
          <p:cNvSpPr txBox="1"/>
          <p:nvPr/>
        </p:nvSpPr>
        <p:spPr>
          <a:xfrm>
            <a:off x="8339328" y="4096512"/>
            <a:ext cx="306598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pytest against in-memory SQLite</a:t>
            </a:r>
            <a:endParaRPr lang="en-US" sz="1050" dirty="0"/>
          </a:p>
        </p:txBody>
      </p:sp>
      <p:sp>
        <p:nvSpPr>
          <p:cNvPr id="31" name="Shape 29"/>
          <p:cNvSpPr/>
          <p:nvPr/>
        </p:nvSpPr>
        <p:spPr>
          <a:xfrm>
            <a:off x="6227064" y="4681728"/>
            <a:ext cx="5415991" cy="1554480"/>
          </a:xfrm>
          <a:prstGeom prst="roundRect">
            <a:avLst>
              <a:gd name="adj" fmla="val 4118"/>
            </a:avLst>
          </a:prstGeom>
          <a:solidFill>
            <a:srgbClr val="E6F1F2"/>
          </a:solidFill>
          <a:ln/>
        </p:spPr>
      </p:sp>
      <p:sp>
        <p:nvSpPr>
          <p:cNvPr id="32" name="Text 30"/>
          <p:cNvSpPr txBox="1"/>
          <p:nvPr/>
        </p:nvSpPr>
        <p:spPr>
          <a:xfrm>
            <a:off x="6483096" y="4864608"/>
            <a:ext cx="4903927" cy="256032"/>
          </a:xfrm>
          <a:prstGeom prst="rect">
            <a:avLst/>
          </a:prstGeom>
          <a:noFill/>
          <a:ln/>
        </p:spPr>
        <p:txBody>
          <a:bodyPr wrap="square" lIns="0" tIns="0" rIns="0" bIns="0" rtlCol="0" anchor="t"/>
          <a:lstStyle/>
          <a:p>
            <a:pPr algn="l" indent="0" marL="0">
              <a:lnSpc>
                <a:spcPct val="112000"/>
              </a:lnSpc>
              <a:buNone/>
            </a:pPr>
            <a:r>
              <a:rPr lang="en-US" sz="1350" b="1" dirty="0">
                <a:solidFill>
                  <a:srgbClr val="028090"/>
                </a:solidFill>
                <a:latin typeface="Calibri" pitchFamily="34" charset="0"/>
                <a:ea typeface="Calibri" pitchFamily="34" charset="-122"/>
                <a:cs typeface="Calibri" pitchFamily="34" charset="-120"/>
              </a:rPr>
              <a:t>Two decisions worth naming</a:t>
            </a:r>
            <a:endParaRPr lang="en-US" sz="1350" dirty="0"/>
          </a:p>
        </p:txBody>
      </p:sp>
      <p:sp>
        <p:nvSpPr>
          <p:cNvPr id="33" name="Text 31"/>
          <p:cNvSpPr txBox="1"/>
          <p:nvPr/>
        </p:nvSpPr>
        <p:spPr>
          <a:xfrm>
            <a:off x="6483096" y="5157216"/>
            <a:ext cx="4903927" cy="896112"/>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Settings are one pydantic-settings class reading USER_SERVICE_* variables — nothing else reads os.environ. Tables are created on startup with create_all(), which is fine locally and wrong in production; Alembic is the carried-forward item.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3A6B2E"/>
                </a:solidFill>
                <a:latin typeface="Calibri" pitchFamily="34" charset="0"/>
                <a:ea typeface="Calibri" pitchFamily="34" charset="-122"/>
                <a:cs typeface="Calibri" pitchFamily="34" charset="-120"/>
              </a:rPr>
              <a:t>SERVICE 2 OF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Initialising the Product Service — Spring Boot 3 + Flyway</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Here a generator does exist, so use it: Spring Initializr picks consistent versions for every starter.</a:t>
            </a:r>
            <a:endParaRPr lang="en-US" sz="1350" dirty="0"/>
          </a:p>
        </p:txBody>
      </p:sp>
      <p:sp>
        <p:nvSpPr>
          <p:cNvPr id="5" name="Text 3"/>
          <p:cNvSpPr txBox="1"/>
          <p:nvPr/>
        </p:nvSpPr>
        <p:spPr>
          <a:xfrm>
            <a:off x="548640" y="1517904"/>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3A6B2E"/>
                </a:solidFill>
                <a:latin typeface="Calibri" pitchFamily="34" charset="0"/>
                <a:ea typeface="Calibri" pitchFamily="34" charset="-122"/>
                <a:cs typeface="Calibri" pitchFamily="34" charset="-120"/>
              </a:rPr>
              <a:t>Step 1 — generate from Spring Initializr</a:t>
            </a:r>
            <a:endParaRPr lang="en-US" sz="1250" dirty="0"/>
          </a:p>
        </p:txBody>
      </p:sp>
      <p:sp>
        <p:nvSpPr>
          <p:cNvPr id="6" name="Shape 4"/>
          <p:cNvSpPr/>
          <p:nvPr/>
        </p:nvSpPr>
        <p:spPr>
          <a:xfrm>
            <a:off x="548640" y="1792224"/>
            <a:ext cx="5486400" cy="2139696"/>
          </a:xfrm>
          <a:prstGeom prst="roundRect">
            <a:avLst>
              <a:gd name="adj" fmla="val 1709"/>
            </a:avLst>
          </a:prstGeom>
          <a:solidFill>
            <a:srgbClr val="222A35"/>
          </a:solidFill>
          <a:ln/>
          <a:effectLst>
            <a:outerShdw sx="100000" sy="100000" kx="0" ky="0" algn="bl" rotWithShape="0" blurRad="127000" dist="25400" dir="5400000">
              <a:srgbClr val="8F9EAC">
                <a:alpha val="22000"/>
              </a:srgbClr>
            </a:outerShdw>
          </a:effectLst>
        </p:spPr>
      </p:sp>
      <p:sp>
        <p:nvSpPr>
          <p:cNvPr id="7" name="Text 5"/>
          <p:cNvSpPr txBox="1"/>
          <p:nvPr/>
        </p:nvSpPr>
        <p:spPr>
          <a:xfrm>
            <a:off x="731520" y="1938528"/>
            <a:ext cx="5120640" cy="1847088"/>
          </a:xfrm>
          <a:prstGeom prst="rect">
            <a:avLst/>
          </a:prstGeom>
          <a:noFill/>
          <a:ln/>
        </p:spPr>
        <p:txBody>
          <a:bodyPr wrap="square" lIns="0" tIns="0" rIns="0" bIns="0" rtlCol="0" anchor="t"/>
          <a:lstStyle/>
          <a:p>
            <a:pPr indent="0" marL="0">
              <a:lnSpc>
                <a:spcPct val="120000"/>
              </a:lnSpc>
              <a:buNone/>
            </a:pPr>
            <a:r>
              <a:rPr lang="en-US" sz="900" i="1" dirty="0">
                <a:solidFill>
                  <a:srgbClr val="93A5B8"/>
                </a:solidFill>
                <a:latin typeface="Courier New" pitchFamily="34" charset="0"/>
                <a:ea typeface="Courier New" pitchFamily="34" charset="-122"/>
                <a:cs typeface="Courier New" pitchFamily="34" charset="-120"/>
              </a:rPr>
              <a:t># start.spring.io in a browser, or entirely from the shell:</a:t>
            </a:r>
            <a:endParaRPr lang="en-US" sz="900" dirty="0"/>
          </a:p>
          <a:p>
            <a:pPr indent="0" marL="0">
              <a:lnSpc>
                <a:spcPct val="120000"/>
              </a:lnSpc>
              <a:buNone/>
            </a:pPr>
            <a:r>
              <a:rPr lang="en-US" sz="900" dirty="0">
                <a:solidFill>
                  <a:srgbClr val="7FD8B8"/>
                </a:solidFill>
                <a:latin typeface="Courier New" pitchFamily="34" charset="0"/>
                <a:ea typeface="Courier New" pitchFamily="34" charset="-122"/>
                <a:cs typeface="Courier New" pitchFamily="34" charset="-120"/>
              </a:rPr>
              <a:t>$ curl https://start.spring.io/starter.zip \</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-d type=maven-project -d language=java \</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-d bootVersion=3.3.4 -d javaVersion=21 \</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-d groupId=com.onlineshop -d artifactId=product-service \</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-d dependencies=web,data-jpa,validation,actuator,flyway,postgresql \</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-o product-service.zip</a:t>
            </a:r>
            <a:endParaRPr lang="en-US" sz="900" dirty="0"/>
          </a:p>
          <a:p>
            <a:pPr indent="0" marL="0">
              <a:lnSpc>
                <a:spcPct val="120000"/>
              </a:lnSpc>
              <a:buNone/>
            </a:pPr>
            <a:r>
              <a:rPr lang="en-US" sz="900" dirty="0">
                <a:solidFill>
                  <a:srgbClr val="7FD8B8"/>
                </a:solidFill>
                <a:latin typeface="Courier New" pitchFamily="34" charset="0"/>
                <a:ea typeface="Courier New" pitchFamily="34" charset="-122"/>
                <a:cs typeface="Courier New" pitchFamily="34" charset="-120"/>
              </a:rPr>
              <a:t>$ unzip product-service.zip -d services/product-service</a:t>
            </a:r>
            <a:endParaRPr lang="en-US" sz="900" dirty="0"/>
          </a:p>
          <a:p>
            <a:pPr indent="0" marL="0">
              <a:lnSpc>
                <a:spcPct val="120000"/>
              </a:lnSpc>
              <a:buNone/>
            </a:pPr>
            <a:r>
              <a:rPr lang="en-US" sz="900" dirty="0">
                <a:solidFill>
                  <a:srgbClr val="E3EAF2"/>
                </a:solidFill>
                <a:latin typeface="Courier New" pitchFamily="34" charset="0"/>
                <a:ea typeface="Courier New" pitchFamily="34" charset="-122"/>
                <a:cs typeface="Courier New" pitchFamily="34" charset="-120"/>
              </a:rPr>
              <a:t> </a:t>
            </a:r>
            <a:endParaRPr lang="en-US" sz="900" dirty="0"/>
          </a:p>
          <a:p>
            <a:pPr indent="0" marL="0">
              <a:lnSpc>
                <a:spcPct val="120000"/>
              </a:lnSpc>
              <a:buNone/>
            </a:pPr>
            <a:r>
              <a:rPr lang="en-US" sz="900" i="1" dirty="0">
                <a:solidFill>
                  <a:srgbClr val="93A5B8"/>
                </a:solidFill>
                <a:latin typeface="Courier New" pitchFamily="34" charset="0"/>
                <a:ea typeface="Courier New" pitchFamily="34" charset="-122"/>
                <a:cs typeface="Courier New" pitchFamily="34" charset="-120"/>
              </a:rPr>
              <a:t># springdoc-openapi is then added to pom.xml by hand</a:t>
            </a:r>
            <a:endParaRPr lang="en-US" sz="900" dirty="0"/>
          </a:p>
        </p:txBody>
      </p:sp>
      <p:sp>
        <p:nvSpPr>
          <p:cNvPr id="8" name="Text 6"/>
          <p:cNvSpPr txBox="1"/>
          <p:nvPr/>
        </p:nvSpPr>
        <p:spPr>
          <a:xfrm>
            <a:off x="548640" y="4169664"/>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3A6B2E"/>
                </a:solidFill>
                <a:latin typeface="Calibri" pitchFamily="34" charset="0"/>
                <a:ea typeface="Calibri" pitchFamily="34" charset="-122"/>
                <a:cs typeface="Calibri" pitchFamily="34" charset="-120"/>
              </a:rPr>
              <a:t>Step 2 — run it and test it</a:t>
            </a:r>
            <a:endParaRPr lang="en-US" sz="1250" dirty="0"/>
          </a:p>
        </p:txBody>
      </p:sp>
      <p:sp>
        <p:nvSpPr>
          <p:cNvPr id="9" name="Shape 7"/>
          <p:cNvSpPr/>
          <p:nvPr/>
        </p:nvSpPr>
        <p:spPr>
          <a:xfrm>
            <a:off x="548640" y="4443984"/>
            <a:ext cx="5486400" cy="1682496"/>
          </a:xfrm>
          <a:prstGeom prst="roundRect">
            <a:avLst>
              <a:gd name="adj" fmla="val 2174"/>
            </a:avLst>
          </a:prstGeom>
          <a:solidFill>
            <a:srgbClr val="222A35"/>
          </a:solidFill>
          <a:ln/>
          <a:effectLst>
            <a:outerShdw sx="100000" sy="100000" kx="0" ky="0" algn="bl" rotWithShape="0" blurRad="127000" dist="25400" dir="5400000">
              <a:srgbClr val="8F9EAC">
                <a:alpha val="22000"/>
              </a:srgbClr>
            </a:outerShdw>
          </a:effectLst>
        </p:spPr>
      </p:sp>
      <p:sp>
        <p:nvSpPr>
          <p:cNvPr id="10" name="Text 8"/>
          <p:cNvSpPr txBox="1"/>
          <p:nvPr/>
        </p:nvSpPr>
        <p:spPr>
          <a:xfrm>
            <a:off x="731520" y="4590288"/>
            <a:ext cx="5120640" cy="1389888"/>
          </a:xfrm>
          <a:prstGeom prst="rect">
            <a:avLst/>
          </a:prstGeom>
          <a:noFill/>
          <a:ln/>
        </p:spPr>
        <p:txBody>
          <a:bodyPr wrap="square" lIns="0" tIns="0" rIns="0" bIns="0" rtlCol="0" anchor="t"/>
          <a:lstStyle/>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the Maven Wrapper is committed, so no Maven install is required</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docker compose up -d product-db          # Postgres on :5433</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./mvnw spring-boot:run                   # Windows: .\mvnw.cmd</a:t>
            </a:r>
            <a:endParaRPr lang="en-US" sz="1000" dirty="0"/>
          </a:p>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open http://localhost:8081/swagger-ui.html</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./mvnw test        # 21 passed: 7 aggregate + 14 MockMvc</a:t>
            </a:r>
            <a:endParaRPr lang="en-US" sz="1000" dirty="0"/>
          </a:p>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tests use the "test" profile: in-memory H2, Flyway disabled</a:t>
            </a:r>
            <a:endParaRPr lang="en-US" sz="1000" dirty="0"/>
          </a:p>
        </p:txBody>
      </p:sp>
      <p:sp>
        <p:nvSpPr>
          <p:cNvPr id="11" name="Text 9"/>
          <p:cNvSpPr txBox="1"/>
          <p:nvPr/>
        </p:nvSpPr>
        <p:spPr>
          <a:xfrm>
            <a:off x="6227064" y="1517904"/>
            <a:ext cx="5415991" cy="256032"/>
          </a:xfrm>
          <a:prstGeom prst="rect">
            <a:avLst/>
          </a:prstGeom>
          <a:noFill/>
          <a:ln/>
        </p:spPr>
        <p:txBody>
          <a:bodyPr wrap="square" lIns="0" tIns="0" rIns="0" bIns="0" rtlCol="0" anchor="t"/>
          <a:lstStyle/>
          <a:p>
            <a:pPr algn="l" indent="0" marL="0">
              <a:lnSpc>
                <a:spcPct val="112000"/>
              </a:lnSpc>
              <a:buNone/>
            </a:pPr>
            <a:r>
              <a:rPr lang="en-US" sz="1250" b="1" dirty="0">
                <a:solidFill>
                  <a:srgbClr val="3A6B2E"/>
                </a:solidFill>
                <a:latin typeface="Calibri" pitchFamily="34" charset="0"/>
                <a:ea typeface="Calibri" pitchFamily="34" charset="-122"/>
                <a:cs typeface="Calibri" pitchFamily="34" charset="-120"/>
              </a:rPr>
              <a:t>What each package is for</a:t>
            </a:r>
            <a:endParaRPr lang="en-US" sz="1250" dirty="0"/>
          </a:p>
        </p:txBody>
      </p:sp>
      <p:sp>
        <p:nvSpPr>
          <p:cNvPr id="12" name="Shape 10"/>
          <p:cNvSpPr/>
          <p:nvPr/>
        </p:nvSpPr>
        <p:spPr>
          <a:xfrm>
            <a:off x="6227064" y="1792224"/>
            <a:ext cx="5415991" cy="2651760"/>
          </a:xfrm>
          <a:prstGeom prst="roundRect">
            <a:avLst>
              <a:gd name="adj" fmla="val 2414"/>
            </a:avLst>
          </a:prstGeom>
          <a:solidFill>
            <a:srgbClr val="F4F6F8"/>
          </a:solidFill>
          <a:ln/>
        </p:spPr>
      </p:sp>
      <p:sp>
        <p:nvSpPr>
          <p:cNvPr id="13" name="Text 11"/>
          <p:cNvSpPr txBox="1"/>
          <p:nvPr/>
        </p:nvSpPr>
        <p:spPr>
          <a:xfrm>
            <a:off x="6464808" y="1938528"/>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domain/</a:t>
            </a:r>
            <a:endParaRPr lang="en-US" sz="1050" dirty="0"/>
          </a:p>
        </p:txBody>
      </p:sp>
      <p:sp>
        <p:nvSpPr>
          <p:cNvPr id="14" name="Text 12"/>
          <p:cNvSpPr txBox="1"/>
          <p:nvPr/>
        </p:nvSpPr>
        <p:spPr>
          <a:xfrm>
            <a:off x="8613648" y="1938528"/>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the Product aggregate + invariants</a:t>
            </a:r>
            <a:endParaRPr lang="en-US" sz="1050" dirty="0"/>
          </a:p>
        </p:txBody>
      </p:sp>
      <p:sp>
        <p:nvSpPr>
          <p:cNvPr id="15" name="Text 13"/>
          <p:cNvSpPr txBox="1"/>
          <p:nvPr/>
        </p:nvSpPr>
        <p:spPr>
          <a:xfrm>
            <a:off x="6464808" y="2208276"/>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repository/</a:t>
            </a:r>
            <a:endParaRPr lang="en-US" sz="1050" dirty="0"/>
          </a:p>
        </p:txBody>
      </p:sp>
      <p:sp>
        <p:nvSpPr>
          <p:cNvPr id="16" name="Text 14"/>
          <p:cNvSpPr txBox="1"/>
          <p:nvPr/>
        </p:nvSpPr>
        <p:spPr>
          <a:xfrm>
            <a:off x="8613648" y="2208276"/>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Spring Data JPA interface</a:t>
            </a:r>
            <a:endParaRPr lang="en-US" sz="1050" dirty="0"/>
          </a:p>
        </p:txBody>
      </p:sp>
      <p:sp>
        <p:nvSpPr>
          <p:cNvPr id="17" name="Text 15"/>
          <p:cNvSpPr txBox="1"/>
          <p:nvPr/>
        </p:nvSpPr>
        <p:spPr>
          <a:xfrm>
            <a:off x="6464808" y="2478024"/>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service/</a:t>
            </a:r>
            <a:endParaRPr lang="en-US" sz="1050" dirty="0"/>
          </a:p>
        </p:txBody>
      </p:sp>
      <p:sp>
        <p:nvSpPr>
          <p:cNvPr id="18" name="Text 16"/>
          <p:cNvSpPr txBox="1"/>
          <p:nvPr/>
        </p:nvSpPr>
        <p:spPr>
          <a:xfrm>
            <a:off x="8613648" y="2478024"/>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business rules, no HTTP types</a:t>
            </a:r>
            <a:endParaRPr lang="en-US" sz="1050" dirty="0"/>
          </a:p>
        </p:txBody>
      </p:sp>
      <p:sp>
        <p:nvSpPr>
          <p:cNvPr id="19" name="Text 17"/>
          <p:cNvSpPr txBox="1"/>
          <p:nvPr/>
        </p:nvSpPr>
        <p:spPr>
          <a:xfrm>
            <a:off x="6464808" y="2747772"/>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web/</a:t>
            </a:r>
            <a:endParaRPr lang="en-US" sz="1050" dirty="0"/>
          </a:p>
        </p:txBody>
      </p:sp>
      <p:sp>
        <p:nvSpPr>
          <p:cNvPr id="20" name="Text 18"/>
          <p:cNvSpPr txBox="1"/>
          <p:nvPr/>
        </p:nvSpPr>
        <p:spPr>
          <a:xfrm>
            <a:off x="8613648" y="2747772"/>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controller + global error handler</a:t>
            </a:r>
            <a:endParaRPr lang="en-US" sz="1050" dirty="0"/>
          </a:p>
        </p:txBody>
      </p:sp>
      <p:sp>
        <p:nvSpPr>
          <p:cNvPr id="21" name="Text 19"/>
          <p:cNvSpPr txBox="1"/>
          <p:nvPr/>
        </p:nvSpPr>
        <p:spPr>
          <a:xfrm>
            <a:off x="6464808" y="3017520"/>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dto/</a:t>
            </a:r>
            <a:endParaRPr lang="en-US" sz="1050" dirty="0"/>
          </a:p>
        </p:txBody>
      </p:sp>
      <p:sp>
        <p:nvSpPr>
          <p:cNvPr id="22" name="Text 20"/>
          <p:cNvSpPr txBox="1"/>
          <p:nvPr/>
        </p:nvSpPr>
        <p:spPr>
          <a:xfrm>
            <a:off x="8613648" y="3017520"/>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request/response records — public</a:t>
            </a:r>
            <a:endParaRPr lang="en-US" sz="1050" dirty="0"/>
          </a:p>
        </p:txBody>
      </p:sp>
      <p:sp>
        <p:nvSpPr>
          <p:cNvPr id="23" name="Text 21"/>
          <p:cNvSpPr txBox="1"/>
          <p:nvPr/>
        </p:nvSpPr>
        <p:spPr>
          <a:xfrm>
            <a:off x="6464808" y="3287268"/>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exception/</a:t>
            </a:r>
            <a:endParaRPr lang="en-US" sz="1050" dirty="0"/>
          </a:p>
        </p:txBody>
      </p:sp>
      <p:sp>
        <p:nvSpPr>
          <p:cNvPr id="24" name="Text 22"/>
          <p:cNvSpPr txBox="1"/>
          <p:nvPr/>
        </p:nvSpPr>
        <p:spPr>
          <a:xfrm>
            <a:off x="8613648" y="3287268"/>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domain exceptions</a:t>
            </a:r>
            <a:endParaRPr lang="en-US" sz="1050" dirty="0"/>
          </a:p>
        </p:txBody>
      </p:sp>
      <p:sp>
        <p:nvSpPr>
          <p:cNvPr id="25" name="Text 23"/>
          <p:cNvSpPr txBox="1"/>
          <p:nvPr/>
        </p:nvSpPr>
        <p:spPr>
          <a:xfrm>
            <a:off x="6464808" y="3557016"/>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config/</a:t>
            </a:r>
            <a:endParaRPr lang="en-US" sz="1050" dirty="0"/>
          </a:p>
        </p:txBody>
      </p:sp>
      <p:sp>
        <p:nvSpPr>
          <p:cNvPr id="26" name="Text 24"/>
          <p:cNvSpPr txBox="1"/>
          <p:nvPr/>
        </p:nvSpPr>
        <p:spPr>
          <a:xfrm>
            <a:off x="8613648" y="3557016"/>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OpenAPI metadata</a:t>
            </a:r>
            <a:endParaRPr lang="en-US" sz="1050" dirty="0"/>
          </a:p>
        </p:txBody>
      </p:sp>
      <p:sp>
        <p:nvSpPr>
          <p:cNvPr id="27" name="Text 25"/>
          <p:cNvSpPr txBox="1"/>
          <p:nvPr/>
        </p:nvSpPr>
        <p:spPr>
          <a:xfrm>
            <a:off x="6464808" y="3826764"/>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resources/db/migration/</a:t>
            </a:r>
            <a:endParaRPr lang="en-US" sz="1050" dirty="0"/>
          </a:p>
        </p:txBody>
      </p:sp>
      <p:sp>
        <p:nvSpPr>
          <p:cNvPr id="28" name="Text 26"/>
          <p:cNvSpPr txBox="1"/>
          <p:nvPr/>
        </p:nvSpPr>
        <p:spPr>
          <a:xfrm>
            <a:off x="8613648" y="3826764"/>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Flyway V1__create_products.sql</a:t>
            </a:r>
            <a:endParaRPr lang="en-US" sz="1050" dirty="0"/>
          </a:p>
        </p:txBody>
      </p:sp>
      <p:sp>
        <p:nvSpPr>
          <p:cNvPr id="29" name="Text 27"/>
          <p:cNvSpPr txBox="1"/>
          <p:nvPr/>
        </p:nvSpPr>
        <p:spPr>
          <a:xfrm>
            <a:off x="6464808" y="4096512"/>
            <a:ext cx="2057400" cy="246888"/>
          </a:xfrm>
          <a:prstGeom prst="rect">
            <a:avLst/>
          </a:prstGeom>
          <a:noFill/>
          <a:ln/>
        </p:spPr>
        <p:txBody>
          <a:bodyPr wrap="square" lIns="0" tIns="0" rIns="0" bIns="0" rtlCol="0" anchor="ctr"/>
          <a:lstStyle/>
          <a:p>
            <a:pPr algn="l" indent="0" marL="0">
              <a:lnSpc>
                <a:spcPct val="112000"/>
              </a:lnSpc>
              <a:buNone/>
            </a:pPr>
            <a:r>
              <a:rPr lang="en-US" sz="1050" dirty="0">
                <a:solidFill>
                  <a:srgbClr val="3A6B2E"/>
                </a:solidFill>
                <a:latin typeface="Courier New" pitchFamily="34" charset="0"/>
                <a:ea typeface="Courier New" pitchFamily="34" charset="-122"/>
                <a:cs typeface="Courier New" pitchFamily="34" charset="-120"/>
              </a:rPr>
              <a:t>src/test/</a:t>
            </a:r>
            <a:endParaRPr lang="en-US" sz="1050" dirty="0"/>
          </a:p>
        </p:txBody>
      </p:sp>
      <p:sp>
        <p:nvSpPr>
          <p:cNvPr id="30" name="Text 28"/>
          <p:cNvSpPr txBox="1"/>
          <p:nvPr/>
        </p:nvSpPr>
        <p:spPr>
          <a:xfrm>
            <a:off x="8613648" y="4096512"/>
            <a:ext cx="279166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JUnit rules, MockMvc API</a:t>
            </a:r>
            <a:endParaRPr lang="en-US" sz="1050" dirty="0"/>
          </a:p>
        </p:txBody>
      </p:sp>
      <p:sp>
        <p:nvSpPr>
          <p:cNvPr id="31" name="Shape 29"/>
          <p:cNvSpPr/>
          <p:nvPr/>
        </p:nvSpPr>
        <p:spPr>
          <a:xfrm>
            <a:off x="6227064" y="4681728"/>
            <a:ext cx="5415991" cy="1554480"/>
          </a:xfrm>
          <a:prstGeom prst="roundRect">
            <a:avLst>
              <a:gd name="adj" fmla="val 4118"/>
            </a:avLst>
          </a:prstGeom>
          <a:solidFill>
            <a:srgbClr val="EDF2E7"/>
          </a:solidFill>
          <a:ln/>
        </p:spPr>
      </p:sp>
      <p:sp>
        <p:nvSpPr>
          <p:cNvPr id="32" name="Text 30"/>
          <p:cNvSpPr txBox="1"/>
          <p:nvPr/>
        </p:nvSpPr>
        <p:spPr>
          <a:xfrm>
            <a:off x="6483096" y="4864608"/>
            <a:ext cx="4903927" cy="256032"/>
          </a:xfrm>
          <a:prstGeom prst="rect">
            <a:avLst/>
          </a:prstGeom>
          <a:noFill/>
          <a:ln/>
        </p:spPr>
        <p:txBody>
          <a:bodyPr wrap="square" lIns="0" tIns="0" rIns="0" bIns="0" rtlCol="0" anchor="t"/>
          <a:lstStyle/>
          <a:p>
            <a:pPr algn="l" indent="0" marL="0">
              <a:lnSpc>
                <a:spcPct val="112000"/>
              </a:lnSpc>
              <a:buNone/>
            </a:pPr>
            <a:r>
              <a:rPr lang="en-US" sz="1350" b="1" dirty="0">
                <a:solidFill>
                  <a:srgbClr val="3A6B2E"/>
                </a:solidFill>
                <a:latin typeface="Calibri" pitchFamily="34" charset="0"/>
                <a:ea typeface="Calibri" pitchFamily="34" charset="-122"/>
                <a:cs typeface="Calibri" pitchFamily="34" charset="-120"/>
              </a:rPr>
              <a:t>Flyway owns the schema</a:t>
            </a:r>
            <a:endParaRPr lang="en-US" sz="1350" dirty="0"/>
          </a:p>
        </p:txBody>
      </p:sp>
      <p:sp>
        <p:nvSpPr>
          <p:cNvPr id="33" name="Text 31"/>
          <p:cNvSpPr txBox="1"/>
          <p:nvPr/>
        </p:nvSpPr>
        <p:spPr>
          <a:xfrm>
            <a:off x="6483096" y="5157216"/>
            <a:ext cx="4903927" cy="896112"/>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Hibernate runs with ddl-auto: validate. Migrations are versioned files that are never edited once applied, and the application refuses to start if the entities and the migrated tables disagree — a deployment-time failure instead of a 3 a.m. one.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SERVICE 3 OF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Initialising the Order Service — .NET 8, four projects</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One service, four assemblies. The project references are the architecture, enforced by the compiler.</a:t>
            </a:r>
            <a:endParaRPr lang="en-US" sz="1350" dirty="0"/>
          </a:p>
        </p:txBody>
      </p:sp>
      <p:sp>
        <p:nvSpPr>
          <p:cNvPr id="5" name="Text 3"/>
          <p:cNvSpPr txBox="1"/>
          <p:nvPr/>
        </p:nvSpPr>
        <p:spPr>
          <a:xfrm>
            <a:off x="548640" y="1517904"/>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6D2E46"/>
                </a:solidFill>
                <a:latin typeface="Calibri" pitchFamily="34" charset="0"/>
                <a:ea typeface="Calibri" pitchFamily="34" charset="-122"/>
                <a:cs typeface="Calibri" pitchFamily="34" charset="-120"/>
              </a:rPr>
              <a:t>Step 1 — solution, projects, and references pointing inwards</a:t>
            </a:r>
            <a:endParaRPr lang="en-US" sz="1250" dirty="0"/>
          </a:p>
        </p:txBody>
      </p:sp>
      <p:sp>
        <p:nvSpPr>
          <p:cNvPr id="6" name="Shape 4"/>
          <p:cNvSpPr/>
          <p:nvPr/>
        </p:nvSpPr>
        <p:spPr>
          <a:xfrm>
            <a:off x="548640" y="1792224"/>
            <a:ext cx="5486400" cy="2487168"/>
          </a:xfrm>
          <a:prstGeom prst="roundRect">
            <a:avLst>
              <a:gd name="adj" fmla="val 1471"/>
            </a:avLst>
          </a:prstGeom>
          <a:solidFill>
            <a:srgbClr val="222A35"/>
          </a:solidFill>
          <a:ln/>
          <a:effectLst>
            <a:outerShdw sx="100000" sy="100000" kx="0" ky="0" algn="bl" rotWithShape="0" blurRad="127000" dist="25400" dir="5400000">
              <a:srgbClr val="8F9EAC">
                <a:alpha val="22000"/>
              </a:srgbClr>
            </a:outerShdw>
          </a:effectLst>
        </p:spPr>
      </p:sp>
      <p:sp>
        <p:nvSpPr>
          <p:cNvPr id="7" name="Text 5"/>
          <p:cNvSpPr txBox="1"/>
          <p:nvPr/>
        </p:nvSpPr>
        <p:spPr>
          <a:xfrm>
            <a:off x="731520" y="1938528"/>
            <a:ext cx="5120640" cy="2194560"/>
          </a:xfrm>
          <a:prstGeom prst="rect">
            <a:avLst/>
          </a:prstGeom>
          <a:noFill/>
          <a:ln/>
        </p:spPr>
        <p:txBody>
          <a:bodyPr wrap="square" lIns="0" tIns="0" rIns="0" bIns="0" rtlCol="0" anchor="t"/>
          <a:lstStyle/>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sln -n OrderService</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classlib -o src/OrderService.Domain</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classlib -o src/OrderService.Application</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classlib -o src/OrderService.Infrastructure</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webapi   -o src/OrderService.Api</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xunit    -o tests/OrderService.Domain.Tests</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new xunit    -o tests/OrderService.Api.Tests</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sln add src/**/*.csproj tests/**/*.csproj</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a:t>
            </a:r>
            <a:endParaRPr lang="en-US" sz="1000" dirty="0"/>
          </a:p>
          <a:p>
            <a:pPr indent="0" marL="0">
              <a:lnSpc>
                <a:spcPct val="120000"/>
              </a:lnSpc>
              <a:buNone/>
            </a:pPr>
            <a:r>
              <a:rPr lang="en-US" sz="1000" i="1" dirty="0">
                <a:solidFill>
                  <a:srgbClr val="93A5B8"/>
                </a:solidFill>
                <a:latin typeface="Courier New" pitchFamily="34" charset="0"/>
                <a:ea typeface="Courier New" pitchFamily="34" charset="-122"/>
                <a:cs typeface="Courier New" pitchFamily="34" charset="-120"/>
              </a:rPr>
              <a:t># Api -&gt; Infrastructure -&gt; Application -&gt; Domain, and never back</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add src/OrderService.Application reference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src/OrderService.Domain</a:t>
            </a:r>
            <a:endParaRPr lang="en-US" sz="1000" dirty="0"/>
          </a:p>
        </p:txBody>
      </p:sp>
      <p:sp>
        <p:nvSpPr>
          <p:cNvPr id="8" name="Text 6"/>
          <p:cNvSpPr txBox="1"/>
          <p:nvPr/>
        </p:nvSpPr>
        <p:spPr>
          <a:xfrm>
            <a:off x="548640" y="4517136"/>
            <a:ext cx="5486400" cy="256032"/>
          </a:xfrm>
          <a:prstGeom prst="rect">
            <a:avLst/>
          </a:prstGeom>
          <a:noFill/>
          <a:ln/>
        </p:spPr>
        <p:txBody>
          <a:bodyPr wrap="square" lIns="0" tIns="0" rIns="0" bIns="0" rtlCol="0" anchor="t"/>
          <a:lstStyle/>
          <a:p>
            <a:pPr algn="l" indent="0" marL="0">
              <a:lnSpc>
                <a:spcPct val="112000"/>
              </a:lnSpc>
              <a:buNone/>
            </a:pPr>
            <a:r>
              <a:rPr lang="en-US" sz="1250" b="1" dirty="0">
                <a:solidFill>
                  <a:srgbClr val="6D2E46"/>
                </a:solidFill>
                <a:latin typeface="Calibri" pitchFamily="34" charset="0"/>
                <a:ea typeface="Calibri" pitchFamily="34" charset="-122"/>
                <a:cs typeface="Calibri" pitchFamily="34" charset="-120"/>
              </a:rPr>
              <a:t>Step 2 — packages, migration, run, test</a:t>
            </a:r>
            <a:endParaRPr lang="en-US" sz="1250" dirty="0"/>
          </a:p>
        </p:txBody>
      </p:sp>
      <p:sp>
        <p:nvSpPr>
          <p:cNvPr id="9" name="Shape 7"/>
          <p:cNvSpPr/>
          <p:nvPr/>
        </p:nvSpPr>
        <p:spPr>
          <a:xfrm>
            <a:off x="548640" y="4791456"/>
            <a:ext cx="5486400" cy="1408176"/>
          </a:xfrm>
          <a:prstGeom prst="roundRect">
            <a:avLst>
              <a:gd name="adj" fmla="val 2597"/>
            </a:avLst>
          </a:prstGeom>
          <a:solidFill>
            <a:srgbClr val="222A35"/>
          </a:solidFill>
          <a:ln/>
          <a:effectLst>
            <a:outerShdw sx="100000" sy="100000" kx="0" ky="0" algn="bl" rotWithShape="0" blurRad="127000" dist="25400" dir="5400000">
              <a:srgbClr val="8F9EAC">
                <a:alpha val="22000"/>
              </a:srgbClr>
            </a:outerShdw>
          </a:effectLst>
        </p:spPr>
      </p:sp>
      <p:sp>
        <p:nvSpPr>
          <p:cNvPr id="10" name="Text 8"/>
          <p:cNvSpPr txBox="1"/>
          <p:nvPr/>
        </p:nvSpPr>
        <p:spPr>
          <a:xfrm>
            <a:off x="731520" y="4937760"/>
            <a:ext cx="5120640" cy="1115568"/>
          </a:xfrm>
          <a:prstGeom prst="rect">
            <a:avLst/>
          </a:prstGeom>
          <a:noFill/>
          <a:ln/>
        </p:spPr>
        <p:txBody>
          <a:bodyPr wrap="square" lIns="0" tIns="0" rIns="0" bIns="0" rtlCol="0" anchor="t"/>
          <a:lstStyle/>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add src/OrderService.Infrastructure package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Npgsql.EntityFrameworkCore.PostgreSQL</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ef migrations add InitialSchema \</a:t>
            </a:r>
            <a:endParaRPr lang="en-US" sz="1000" dirty="0"/>
          </a:p>
          <a:p>
            <a:pPr indent="0" marL="0">
              <a:lnSpc>
                <a:spcPct val="120000"/>
              </a:lnSpc>
              <a:buNone/>
            </a:pPr>
            <a:r>
              <a:rPr lang="en-US" sz="1000" dirty="0">
                <a:solidFill>
                  <a:srgbClr val="E3EAF2"/>
                </a:solidFill>
                <a:latin typeface="Courier New" pitchFamily="34" charset="0"/>
                <a:ea typeface="Courier New" pitchFamily="34" charset="-122"/>
                <a:cs typeface="Courier New" pitchFamily="34" charset="-120"/>
              </a:rPr>
              <a:t>      --output-dir Persistence/Migrations</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run --project src/OrderService.Api    # :8082/swagger</a:t>
            </a:r>
            <a:endParaRPr lang="en-US" sz="1000" dirty="0"/>
          </a:p>
          <a:p>
            <a:pPr indent="0" marL="0">
              <a:lnSpc>
                <a:spcPct val="120000"/>
              </a:lnSpc>
              <a:buNone/>
            </a:pPr>
            <a:r>
              <a:rPr lang="en-US" sz="1000" dirty="0">
                <a:solidFill>
                  <a:srgbClr val="7FD8B8"/>
                </a:solidFill>
                <a:latin typeface="Courier New" pitchFamily="34" charset="0"/>
                <a:ea typeface="Courier New" pitchFamily="34" charset="-122"/>
                <a:cs typeface="Courier New" pitchFamily="34" charset="-120"/>
              </a:rPr>
              <a:t>$ dotnet test                                  # 70 passed</a:t>
            </a:r>
            <a:endParaRPr lang="en-US" sz="1000" dirty="0"/>
          </a:p>
        </p:txBody>
      </p:sp>
      <p:sp>
        <p:nvSpPr>
          <p:cNvPr id="11" name="Text 9"/>
          <p:cNvSpPr txBox="1"/>
          <p:nvPr/>
        </p:nvSpPr>
        <p:spPr>
          <a:xfrm>
            <a:off x="6227064" y="1517904"/>
            <a:ext cx="5415991" cy="256032"/>
          </a:xfrm>
          <a:prstGeom prst="rect">
            <a:avLst/>
          </a:prstGeom>
          <a:noFill/>
          <a:ln/>
        </p:spPr>
        <p:txBody>
          <a:bodyPr wrap="square" lIns="0" tIns="0" rIns="0" bIns="0" rtlCol="0" anchor="t"/>
          <a:lstStyle/>
          <a:p>
            <a:pPr algn="l" indent="0" marL="0">
              <a:lnSpc>
                <a:spcPct val="112000"/>
              </a:lnSpc>
              <a:buNone/>
            </a:pPr>
            <a:r>
              <a:rPr lang="en-US" sz="1250" b="1" dirty="0">
                <a:solidFill>
                  <a:srgbClr val="6D2E46"/>
                </a:solidFill>
                <a:latin typeface="Calibri" pitchFamily="34" charset="0"/>
                <a:ea typeface="Calibri" pitchFamily="34" charset="-122"/>
                <a:cs typeface="Calibri" pitchFamily="34" charset="-120"/>
              </a:rPr>
              <a:t>What each project is for</a:t>
            </a:r>
            <a:endParaRPr lang="en-US" sz="1250" dirty="0"/>
          </a:p>
        </p:txBody>
      </p:sp>
      <p:sp>
        <p:nvSpPr>
          <p:cNvPr id="12" name="Shape 10"/>
          <p:cNvSpPr/>
          <p:nvPr/>
        </p:nvSpPr>
        <p:spPr>
          <a:xfrm>
            <a:off x="6227064" y="1792224"/>
            <a:ext cx="5415991" cy="2304288"/>
          </a:xfrm>
          <a:prstGeom prst="roundRect">
            <a:avLst>
              <a:gd name="adj" fmla="val 2778"/>
            </a:avLst>
          </a:prstGeom>
          <a:solidFill>
            <a:srgbClr val="F4F6F8"/>
          </a:solidFill>
          <a:ln/>
        </p:spPr>
      </p:sp>
      <p:sp>
        <p:nvSpPr>
          <p:cNvPr id="13" name="Text 11"/>
          <p:cNvSpPr txBox="1"/>
          <p:nvPr/>
        </p:nvSpPr>
        <p:spPr>
          <a:xfrm>
            <a:off x="6464808" y="1938528"/>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OrderService.Domain</a:t>
            </a:r>
            <a:endParaRPr lang="en-US" sz="1050" dirty="0"/>
          </a:p>
        </p:txBody>
      </p:sp>
      <p:sp>
        <p:nvSpPr>
          <p:cNvPr id="14" name="Text 12"/>
          <p:cNvSpPr txBox="1"/>
          <p:nvPr/>
        </p:nvSpPr>
        <p:spPr>
          <a:xfrm>
            <a:off x="8979408" y="1938528"/>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Order, OrderLine, state machine</a:t>
            </a:r>
            <a:endParaRPr lang="en-US" sz="1050" dirty="0"/>
          </a:p>
        </p:txBody>
      </p:sp>
      <p:sp>
        <p:nvSpPr>
          <p:cNvPr id="15" name="Text 13"/>
          <p:cNvSpPr txBox="1"/>
          <p:nvPr/>
        </p:nvSpPr>
        <p:spPr>
          <a:xfrm>
            <a:off x="6464808" y="2208276"/>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  → references</a:t>
            </a:r>
            <a:endParaRPr lang="en-US" sz="1050" dirty="0"/>
          </a:p>
        </p:txBody>
      </p:sp>
      <p:sp>
        <p:nvSpPr>
          <p:cNvPr id="16" name="Text 14"/>
          <p:cNvSpPr txBox="1"/>
          <p:nvPr/>
        </p:nvSpPr>
        <p:spPr>
          <a:xfrm>
            <a:off x="8979408" y="2208276"/>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nothing. No EF, no ASP.NET.</a:t>
            </a:r>
            <a:endParaRPr lang="en-US" sz="1050" dirty="0"/>
          </a:p>
        </p:txBody>
      </p:sp>
      <p:sp>
        <p:nvSpPr>
          <p:cNvPr id="17" name="Text 15"/>
          <p:cNvSpPr txBox="1"/>
          <p:nvPr/>
        </p:nvSpPr>
        <p:spPr>
          <a:xfrm>
            <a:off x="6464808" y="2478024"/>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OrderService.Application</a:t>
            </a:r>
            <a:endParaRPr lang="en-US" sz="1050" dirty="0"/>
          </a:p>
        </p:txBody>
      </p:sp>
      <p:sp>
        <p:nvSpPr>
          <p:cNvPr id="18" name="Text 16"/>
          <p:cNvSpPr txBox="1"/>
          <p:nvPr/>
        </p:nvSpPr>
        <p:spPr>
          <a:xfrm>
            <a:off x="8979408" y="2478024"/>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use cases + their ports</a:t>
            </a:r>
            <a:endParaRPr lang="en-US" sz="1050" dirty="0"/>
          </a:p>
        </p:txBody>
      </p:sp>
      <p:sp>
        <p:nvSpPr>
          <p:cNvPr id="19" name="Text 17"/>
          <p:cNvSpPr txBox="1"/>
          <p:nvPr/>
        </p:nvSpPr>
        <p:spPr>
          <a:xfrm>
            <a:off x="6464808" y="2747772"/>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  → ports</a:t>
            </a:r>
            <a:endParaRPr lang="en-US" sz="1050" dirty="0"/>
          </a:p>
        </p:txBody>
      </p:sp>
      <p:sp>
        <p:nvSpPr>
          <p:cNvPr id="20" name="Text 18"/>
          <p:cNvSpPr txBox="1"/>
          <p:nvPr/>
        </p:nvSpPr>
        <p:spPr>
          <a:xfrm>
            <a:off x="8979408" y="2747772"/>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IProductCatalog, IUserDirectory</a:t>
            </a:r>
            <a:endParaRPr lang="en-US" sz="1050" dirty="0"/>
          </a:p>
        </p:txBody>
      </p:sp>
      <p:sp>
        <p:nvSpPr>
          <p:cNvPr id="21" name="Text 19"/>
          <p:cNvSpPr txBox="1"/>
          <p:nvPr/>
        </p:nvSpPr>
        <p:spPr>
          <a:xfrm>
            <a:off x="6464808" y="3017520"/>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OrderService.Infrastructure</a:t>
            </a:r>
            <a:endParaRPr lang="en-US" sz="1050" dirty="0"/>
          </a:p>
        </p:txBody>
      </p:sp>
      <p:sp>
        <p:nvSpPr>
          <p:cNvPr id="22" name="Text 20"/>
          <p:cNvSpPr txBox="1"/>
          <p:nvPr/>
        </p:nvSpPr>
        <p:spPr>
          <a:xfrm>
            <a:off x="8979408" y="3017520"/>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EF Core, clients, resilience</a:t>
            </a:r>
            <a:endParaRPr lang="en-US" sz="1050" dirty="0"/>
          </a:p>
        </p:txBody>
      </p:sp>
      <p:sp>
        <p:nvSpPr>
          <p:cNvPr id="23" name="Text 21"/>
          <p:cNvSpPr txBox="1"/>
          <p:nvPr/>
        </p:nvSpPr>
        <p:spPr>
          <a:xfrm>
            <a:off x="6464808" y="3287268"/>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OrderService.Api</a:t>
            </a:r>
            <a:endParaRPr lang="en-US" sz="1050" dirty="0"/>
          </a:p>
        </p:txBody>
      </p:sp>
      <p:sp>
        <p:nvSpPr>
          <p:cNvPr id="24" name="Text 22"/>
          <p:cNvSpPr txBox="1"/>
          <p:nvPr/>
        </p:nvSpPr>
        <p:spPr>
          <a:xfrm>
            <a:off x="8979408" y="3287268"/>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endpoints, errors, health probes</a:t>
            </a:r>
            <a:endParaRPr lang="en-US" sz="1050" dirty="0"/>
          </a:p>
        </p:txBody>
      </p:sp>
      <p:sp>
        <p:nvSpPr>
          <p:cNvPr id="25" name="Text 23"/>
          <p:cNvSpPr txBox="1"/>
          <p:nvPr/>
        </p:nvSpPr>
        <p:spPr>
          <a:xfrm>
            <a:off x="6464808" y="3557016"/>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tests/Domain.Tests</a:t>
            </a:r>
            <a:endParaRPr lang="en-US" sz="1050" dirty="0"/>
          </a:p>
        </p:txBody>
      </p:sp>
      <p:sp>
        <p:nvSpPr>
          <p:cNvPr id="26" name="Text 24"/>
          <p:cNvSpPr txBox="1"/>
          <p:nvPr/>
        </p:nvSpPr>
        <p:spPr>
          <a:xfrm>
            <a:off x="8979408" y="3557016"/>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36 tests, no framework at all</a:t>
            </a:r>
            <a:endParaRPr lang="en-US" sz="1050" dirty="0"/>
          </a:p>
        </p:txBody>
      </p:sp>
      <p:sp>
        <p:nvSpPr>
          <p:cNvPr id="27" name="Text 25"/>
          <p:cNvSpPr txBox="1"/>
          <p:nvPr/>
        </p:nvSpPr>
        <p:spPr>
          <a:xfrm>
            <a:off x="6464808" y="3826764"/>
            <a:ext cx="2423160" cy="246888"/>
          </a:xfrm>
          <a:prstGeom prst="rect">
            <a:avLst/>
          </a:prstGeom>
          <a:noFill/>
          <a:ln/>
        </p:spPr>
        <p:txBody>
          <a:bodyPr wrap="square" lIns="0" tIns="0" rIns="0" bIns="0" rtlCol="0" anchor="ctr"/>
          <a:lstStyle/>
          <a:p>
            <a:pPr algn="l" indent="0" marL="0">
              <a:lnSpc>
                <a:spcPct val="112000"/>
              </a:lnSpc>
              <a:buNone/>
            </a:pPr>
            <a:r>
              <a:rPr lang="en-US" sz="1050" dirty="0">
                <a:solidFill>
                  <a:srgbClr val="6D2E46"/>
                </a:solidFill>
                <a:latin typeface="Courier New" pitchFamily="34" charset="0"/>
                <a:ea typeface="Courier New" pitchFamily="34" charset="-122"/>
                <a:cs typeface="Courier New" pitchFamily="34" charset="-120"/>
              </a:rPr>
              <a:t>tests/Api.Tests</a:t>
            </a:r>
            <a:endParaRPr lang="en-US" sz="1050" dirty="0"/>
          </a:p>
        </p:txBody>
      </p:sp>
      <p:sp>
        <p:nvSpPr>
          <p:cNvPr id="28" name="Text 26"/>
          <p:cNvSpPr txBox="1"/>
          <p:nvPr/>
        </p:nvSpPr>
        <p:spPr>
          <a:xfrm>
            <a:off x="8979408" y="3826764"/>
            <a:ext cx="2425903" cy="246888"/>
          </a:xfrm>
          <a:prstGeom prst="rect">
            <a:avLst/>
          </a:prstGeom>
          <a:noFill/>
          <a:ln/>
        </p:spPr>
        <p:txBody>
          <a:bodyPr wrap="square" lIns="0" tIns="0" rIns="0" bIns="0" rtlCol="0" anchor="ctr"/>
          <a:lstStyle/>
          <a:p>
            <a:pPr algn="l" indent="0" marL="0">
              <a:lnSpc>
                <a:spcPct val="112000"/>
              </a:lnSpc>
              <a:buNone/>
            </a:pPr>
            <a:r>
              <a:rPr lang="en-US" sz="1050" dirty="0">
                <a:solidFill>
                  <a:srgbClr val="6B7A8D"/>
                </a:solidFill>
                <a:latin typeface="Calibri" pitchFamily="34" charset="0"/>
                <a:ea typeface="Calibri" pitchFamily="34" charset="-122"/>
                <a:cs typeface="Calibri" pitchFamily="34" charset="-120"/>
              </a:rPr>
              <a:t>34 tests: API + pipelines</a:t>
            </a:r>
            <a:endParaRPr lang="en-US" sz="1050" dirty="0"/>
          </a:p>
        </p:txBody>
      </p:sp>
      <p:sp>
        <p:nvSpPr>
          <p:cNvPr id="29" name="Shape 27"/>
          <p:cNvSpPr/>
          <p:nvPr/>
        </p:nvSpPr>
        <p:spPr>
          <a:xfrm>
            <a:off x="6227064" y="4334256"/>
            <a:ext cx="5415991" cy="1828800"/>
          </a:xfrm>
          <a:prstGeom prst="roundRect">
            <a:avLst>
              <a:gd name="adj" fmla="val 3500"/>
            </a:avLst>
          </a:prstGeom>
          <a:solidFill>
            <a:srgbClr val="F6EAEE"/>
          </a:solidFill>
          <a:ln/>
        </p:spPr>
      </p:sp>
      <p:sp>
        <p:nvSpPr>
          <p:cNvPr id="30" name="Text 28"/>
          <p:cNvSpPr txBox="1"/>
          <p:nvPr/>
        </p:nvSpPr>
        <p:spPr>
          <a:xfrm>
            <a:off x="6483096" y="4517136"/>
            <a:ext cx="4903927" cy="256032"/>
          </a:xfrm>
          <a:prstGeom prst="rect">
            <a:avLst/>
          </a:prstGeom>
          <a:noFill/>
          <a:ln/>
        </p:spPr>
        <p:txBody>
          <a:bodyPr wrap="square" lIns="0" tIns="0" rIns="0" bIns="0" rtlCol="0" anchor="t"/>
          <a:lstStyle/>
          <a:p>
            <a:pPr algn="l" indent="0" marL="0">
              <a:lnSpc>
                <a:spcPct val="112000"/>
              </a:lnSpc>
              <a:buNone/>
            </a:pPr>
            <a:r>
              <a:rPr lang="en-US" sz="1350" b="1" dirty="0">
                <a:solidFill>
                  <a:srgbClr val="6D2E46"/>
                </a:solidFill>
                <a:latin typeface="Calibri" pitchFamily="34" charset="0"/>
                <a:ea typeface="Calibri" pitchFamily="34" charset="-122"/>
                <a:cs typeface="Calibri" pitchFamily="34" charset="-120"/>
              </a:rPr>
              <a:t>Why the ports live in Application, not in a shared library</a:t>
            </a:r>
            <a:endParaRPr lang="en-US" sz="1350" dirty="0"/>
          </a:p>
        </p:txBody>
      </p:sp>
      <p:sp>
        <p:nvSpPr>
          <p:cNvPr id="31" name="Text 29"/>
          <p:cNvSpPr txBox="1"/>
          <p:nvPr/>
        </p:nvSpPr>
        <p:spPr>
          <a:xfrm>
            <a:off x="6483096" y="4809744"/>
            <a:ext cx="4903927" cy="1170432"/>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IProductCatalog describes only what the Order Service needs from the catalogue — nothing more. A narrow port owned by the consumer is far easier to keep stable than a shared model, and it means tests substitute a fake object instead of a network.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SIDE BY SIDE</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One architecture, three toolchains</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Read a row across: the same job, three vocabularies. This table is the whole “polyglot” exercise in one place.</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404872"/>
                <a:gridCol w="2898648"/>
                <a:gridCol w="2898648"/>
                <a:gridCol w="2898648"/>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Concern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User Service  ·  Python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02809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Product Service  ·  Java</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3A6B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Order Service  ·  C#</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6D2E46"/>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Framework</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FastAPI</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Spring Boot 3 (Java 21)</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ASP.NET Core (.NET 8)</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Project file</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pyproject.toml + requirements.txt</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pom.xml (Maven Wrapper)</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.sln + four .csproj</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Scaffolded by</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by hand</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Spring Initializr</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dotnet new</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Dependency injection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FastAPI Depends()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Spring container</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IServiceCollection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Data access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SQLAlchemy 2.0</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Spring Data JPA / Hibernate</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EF Core 8</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Migrations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create_all() — gap, Alembic next</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Flyway, ddl-auto: validate</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EF migrations, applied on start</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Pydantic models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Bean Validation (@Valid)</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explicit guards in the domain</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Wire contract</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app/schemas/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dto/ records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Api/Contracts/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Generated API docs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/docs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/swagger-ui.html</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/swagger</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Health probes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/health/live, /health/ready</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/actuator/health/{liveness,readiness}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/health/live, /health/ready</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D2433"/>
                          </a:solidFill>
                          <a:latin typeface="Calibri" pitchFamily="34" charset="0"/>
                          <a:ea typeface="Calibri" pitchFamily="34" charset="-122"/>
                          <a:cs typeface="Calibri" pitchFamily="34" charset="-120"/>
                        </a:rPr>
                        <a:t>Tests</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pytest + httpx · 24</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JUnit + MockMvc · 21</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050" dirty="0">
                          <a:solidFill>
                            <a:srgbClr val="36454F"/>
                          </a:solidFill>
                          <a:latin typeface="Calibri" pitchFamily="34" charset="0"/>
                          <a:ea typeface="Calibri" pitchFamily="34" charset="-122"/>
                          <a:cs typeface="Calibri" pitchFamily="34" charset="-120"/>
                        </a:rPr>
                        <a:t>xUnit + WebApplicationFactory · 70</a:t>
                      </a:r>
                      <a:endParaRPr lang="en-US" sz="1050" dirty="0">
                        <a:latin typeface="Calibri" charset="0"/>
                        <a:ea typeface="Calibri" charset="0"/>
                        <a:cs typeface="Calibri" charset="0"/>
                      </a:endParaRPr>
                    </a:p>
                  </a:txBody>
                  <a:tcPr marL="76200" marR="762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3A6B2E"/>
                </a:solidFill>
                <a:latin typeface="Calibri" pitchFamily="34" charset="0"/>
                <a:ea typeface="Calibri" pitchFamily="34" charset="-122"/>
                <a:cs typeface="Calibri" pitchFamily="34" charset="-120"/>
              </a:rPr>
              <a:t>WEEK 2 CONCEPTS</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Two habits that stop a service rotting</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Both look like pointless duplication on day one. Both stop being duplication the first time something changes.</a:t>
            </a:r>
            <a:endParaRPr lang="en-US" sz="1350" dirty="0"/>
          </a:p>
        </p:txBody>
      </p:sp>
      <p:sp>
        <p:nvSpPr>
          <p:cNvPr id="5" name="Shape 3"/>
          <p:cNvSpPr/>
          <p:nvPr/>
        </p:nvSpPr>
        <p:spPr>
          <a:xfrm>
            <a:off x="548640" y="1554480"/>
            <a:ext cx="5449824" cy="2148840"/>
          </a:xfrm>
          <a:prstGeom prst="roundRect">
            <a:avLst>
              <a:gd name="adj" fmla="val 2979"/>
            </a:avLst>
          </a:prstGeom>
          <a:solidFill>
            <a:srgbClr val="F4F6F8"/>
          </a:solidFill>
          <a:ln/>
        </p:spPr>
      </p:sp>
      <p:sp>
        <p:nvSpPr>
          <p:cNvPr id="6" name="Shape 4"/>
          <p:cNvSpPr/>
          <p:nvPr/>
        </p:nvSpPr>
        <p:spPr>
          <a:xfrm>
            <a:off x="822960" y="1773936"/>
            <a:ext cx="420624" cy="420624"/>
          </a:xfrm>
          <a:prstGeom prst="ellipse">
            <a:avLst/>
          </a:prstGeom>
          <a:solidFill>
            <a:srgbClr val="3A6B2E"/>
          </a:solidFill>
          <a:ln/>
        </p:spPr>
      </p:sp>
      <p:sp>
        <p:nvSpPr>
          <p:cNvPr id="7" name="Text 5"/>
          <p:cNvSpPr txBox="1"/>
          <p:nvPr/>
        </p:nvSpPr>
        <p:spPr>
          <a:xfrm>
            <a:off x="822960" y="1773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89888" y="1792224"/>
            <a:ext cx="4352544" cy="310896"/>
          </a:xfrm>
          <a:prstGeom prst="rect">
            <a:avLst/>
          </a:prstGeom>
          <a:noFill/>
          <a:ln/>
        </p:spPr>
        <p:txBody>
          <a:bodyPr wrap="square" lIns="0" tIns="0" rIns="0" bIns="0" rtlCol="0" anchor="t"/>
          <a:lstStyle/>
          <a:p>
            <a:pPr algn="l" indent="0" marL="0">
              <a:lnSpc>
                <a:spcPct val="112000"/>
              </a:lnSpc>
              <a:buNone/>
            </a:pPr>
            <a:r>
              <a:rPr lang="en-US" sz="1700" b="1" dirty="0">
                <a:solidFill>
                  <a:srgbClr val="1D2433"/>
                </a:solidFill>
                <a:latin typeface="Calibri" pitchFamily="34" charset="0"/>
                <a:ea typeface="Calibri" pitchFamily="34" charset="-122"/>
                <a:cs typeface="Calibri" pitchFamily="34" charset="-120"/>
              </a:rPr>
              <a:t>A DTO is not an entity</a:t>
            </a:r>
            <a:endParaRPr lang="en-US" sz="1700" dirty="0"/>
          </a:p>
        </p:txBody>
      </p:sp>
      <p:sp>
        <p:nvSpPr>
          <p:cNvPr id="9" name="Text 7"/>
          <p:cNvSpPr txBox="1"/>
          <p:nvPr/>
        </p:nvSpPr>
        <p:spPr>
          <a:xfrm>
            <a:off x="822960" y="2286000"/>
            <a:ext cx="4901184" cy="1280160"/>
          </a:xfrm>
          <a:prstGeom prst="rect">
            <a:avLst/>
          </a:prstGeom>
          <a:noFill/>
          <a:ln/>
        </p:spPr>
        <p:txBody>
          <a:bodyPr wrap="square" lIns="0" tIns="0" rIns="0" bIns="0" rtlCol="0" anchor="t"/>
          <a:lstStyle/>
          <a:p>
            <a:pPr algn="l" indent="0" marL="0">
              <a:lnSpc>
                <a:spcPct val="120000"/>
              </a:lnSpc>
              <a:buNone/>
            </a:pPr>
            <a:r>
              <a:rPr lang="en-US" sz="1250" dirty="0">
                <a:solidFill>
                  <a:srgbClr val="36454F"/>
                </a:solidFill>
                <a:latin typeface="Calibri" pitchFamily="34" charset="0"/>
                <a:ea typeface="Calibri" pitchFamily="34" charset="-122"/>
                <a:cs typeface="Calibri" pitchFamily="34" charset="-120"/>
              </a:rPr>
              <a:t>The wire contract (app/schemas/, dto/) is kept separate from the persistence model (app/models/, domain/). So a column can be renamed without forty consumers noticing — and password_hash can never leave the process by accident, because it is not in the response model at all.</a:t>
            </a:r>
            <a:endParaRPr lang="en-US" sz="1250" dirty="0"/>
          </a:p>
        </p:txBody>
      </p:sp>
      <p:sp>
        <p:nvSpPr>
          <p:cNvPr id="10" name="Shape 8"/>
          <p:cNvSpPr/>
          <p:nvPr/>
        </p:nvSpPr>
        <p:spPr>
          <a:xfrm>
            <a:off x="6190488" y="1554480"/>
            <a:ext cx="5449824" cy="2148840"/>
          </a:xfrm>
          <a:prstGeom prst="roundRect">
            <a:avLst>
              <a:gd name="adj" fmla="val 2979"/>
            </a:avLst>
          </a:prstGeom>
          <a:solidFill>
            <a:srgbClr val="F4F6F8"/>
          </a:solidFill>
          <a:ln/>
        </p:spPr>
      </p:sp>
      <p:sp>
        <p:nvSpPr>
          <p:cNvPr id="11" name="Shape 9"/>
          <p:cNvSpPr/>
          <p:nvPr/>
        </p:nvSpPr>
        <p:spPr>
          <a:xfrm>
            <a:off x="6464808" y="1773936"/>
            <a:ext cx="420624" cy="420624"/>
          </a:xfrm>
          <a:prstGeom prst="ellipse">
            <a:avLst/>
          </a:prstGeom>
          <a:solidFill>
            <a:srgbClr val="3A6B2E"/>
          </a:solidFill>
          <a:ln/>
        </p:spPr>
      </p:sp>
      <p:sp>
        <p:nvSpPr>
          <p:cNvPr id="12" name="Text 10"/>
          <p:cNvSpPr txBox="1"/>
          <p:nvPr/>
        </p:nvSpPr>
        <p:spPr>
          <a:xfrm>
            <a:off x="6464808" y="17739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7031736" y="1792224"/>
            <a:ext cx="4352544" cy="310896"/>
          </a:xfrm>
          <a:prstGeom prst="rect">
            <a:avLst/>
          </a:prstGeom>
          <a:noFill/>
          <a:ln/>
        </p:spPr>
        <p:txBody>
          <a:bodyPr wrap="square" lIns="0" tIns="0" rIns="0" bIns="0" rtlCol="0" anchor="t"/>
          <a:lstStyle/>
          <a:p>
            <a:pPr algn="l" indent="0" marL="0">
              <a:lnSpc>
                <a:spcPct val="112000"/>
              </a:lnSpc>
              <a:buNone/>
            </a:pPr>
            <a:r>
              <a:rPr lang="en-US" sz="1700" b="1" dirty="0">
                <a:solidFill>
                  <a:srgbClr val="1D2433"/>
                </a:solidFill>
                <a:latin typeface="Calibri" pitchFamily="34" charset="0"/>
                <a:ea typeface="Calibri" pitchFamily="34" charset="-122"/>
                <a:cs typeface="Calibri" pitchFamily="34" charset="-120"/>
              </a:rPr>
              <a:t>Rules live on the object they constrain</a:t>
            </a:r>
            <a:endParaRPr lang="en-US" sz="1700" dirty="0"/>
          </a:p>
        </p:txBody>
      </p:sp>
      <p:sp>
        <p:nvSpPr>
          <p:cNvPr id="14" name="Text 12"/>
          <p:cNvSpPr txBox="1"/>
          <p:nvPr/>
        </p:nvSpPr>
        <p:spPr>
          <a:xfrm>
            <a:off x="6464808" y="2286000"/>
            <a:ext cx="4901184" cy="1280160"/>
          </a:xfrm>
          <a:prstGeom prst="rect">
            <a:avLst/>
          </a:prstGeom>
          <a:noFill/>
          <a:ln/>
        </p:spPr>
        <p:txBody>
          <a:bodyPr wrap="square" lIns="0" tIns="0" rIns="0" bIns="0" rtlCol="0" anchor="t"/>
          <a:lstStyle/>
          <a:p>
            <a:pPr algn="l" indent="0" marL="0">
              <a:lnSpc>
                <a:spcPct val="120000"/>
              </a:lnSpc>
              <a:buNone/>
            </a:pPr>
            <a:r>
              <a:rPr lang="en-US" sz="1250" dirty="0">
                <a:solidFill>
                  <a:srgbClr val="36454F"/>
                </a:solidFill>
                <a:latin typeface="Calibri" pitchFamily="34" charset="0"/>
                <a:ea typeface="Calibri" pitchFamily="34" charset="-122"/>
                <a:cs typeface="Calibri" pitchFamily="34" charset="-120"/>
              </a:rPr>
              <a:t>Product.reserveStock() is a method on the entity, not a block inside the service class. A rule that must always hold belongs on the thing it protects, so it holds no matter which code path gets there. The service layer coordinates; the entity defends itself.</a:t>
            </a:r>
            <a:endParaRPr lang="en-US" sz="1250" dirty="0"/>
          </a:p>
        </p:txBody>
      </p:sp>
      <p:sp>
        <p:nvSpPr>
          <p:cNvPr id="15" name="Shape 13"/>
          <p:cNvSpPr/>
          <p:nvPr/>
        </p:nvSpPr>
        <p:spPr>
          <a:xfrm>
            <a:off x="548640" y="3877056"/>
            <a:ext cx="5449824" cy="1225296"/>
          </a:xfrm>
          <a:prstGeom prst="roundRect">
            <a:avLst>
              <a:gd name="adj" fmla="val 5224"/>
            </a:avLst>
          </a:prstGeom>
          <a:solidFill>
            <a:srgbClr val="EDF2E7"/>
          </a:solidFill>
          <a:ln/>
        </p:spPr>
      </p:sp>
      <p:sp>
        <p:nvSpPr>
          <p:cNvPr id="16" name="Text 14"/>
          <p:cNvSpPr txBox="1"/>
          <p:nvPr/>
        </p:nvSpPr>
        <p:spPr>
          <a:xfrm>
            <a:off x="822960" y="4041648"/>
            <a:ext cx="4901184" cy="256032"/>
          </a:xfrm>
          <a:prstGeom prst="rect">
            <a:avLst/>
          </a:prstGeom>
          <a:noFill/>
          <a:ln/>
        </p:spPr>
        <p:txBody>
          <a:bodyPr wrap="square" lIns="0" tIns="0" rIns="0" bIns="0" rtlCol="0" anchor="t"/>
          <a:lstStyle/>
          <a:p>
            <a:pPr algn="l" indent="0" marL="0">
              <a:lnSpc>
                <a:spcPct val="112000"/>
              </a:lnSpc>
              <a:buNone/>
            </a:pPr>
            <a:r>
              <a:rPr lang="en-US" sz="1300" b="1" dirty="0">
                <a:solidFill>
                  <a:srgbClr val="3A6B2E"/>
                </a:solidFill>
                <a:latin typeface="Calibri" pitchFamily="34" charset="0"/>
                <a:ea typeface="Calibri" pitchFamily="34" charset="-122"/>
                <a:cs typeface="Calibri" pitchFamily="34" charset="-120"/>
              </a:rPr>
              <a:t>Java — the aggregate protects itself</a:t>
            </a:r>
            <a:endParaRPr lang="en-US" sz="1300" dirty="0"/>
          </a:p>
        </p:txBody>
      </p:sp>
      <p:sp>
        <p:nvSpPr>
          <p:cNvPr id="17" name="Text 15"/>
          <p:cNvSpPr txBox="1"/>
          <p:nvPr/>
        </p:nvSpPr>
        <p:spPr>
          <a:xfrm>
            <a:off x="822960" y="4315968"/>
            <a:ext cx="4901184" cy="694944"/>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product.reserveStock(qty) throws InsufficientStockException rather than letting stock go negative. The controller only decides that this maps to 409.</a:t>
            </a:r>
            <a:endParaRPr lang="en-US" sz="1200" dirty="0"/>
          </a:p>
        </p:txBody>
      </p:sp>
      <p:sp>
        <p:nvSpPr>
          <p:cNvPr id="18" name="Shape 16"/>
          <p:cNvSpPr/>
          <p:nvPr/>
        </p:nvSpPr>
        <p:spPr>
          <a:xfrm>
            <a:off x="6190488" y="3877056"/>
            <a:ext cx="5449824" cy="1225296"/>
          </a:xfrm>
          <a:prstGeom prst="roundRect">
            <a:avLst>
              <a:gd name="adj" fmla="val 5224"/>
            </a:avLst>
          </a:prstGeom>
          <a:solidFill>
            <a:srgbClr val="E6F1F2"/>
          </a:solidFill>
          <a:ln/>
        </p:spPr>
      </p:sp>
      <p:sp>
        <p:nvSpPr>
          <p:cNvPr id="19" name="Text 17"/>
          <p:cNvSpPr txBox="1"/>
          <p:nvPr/>
        </p:nvSpPr>
        <p:spPr>
          <a:xfrm>
            <a:off x="6464808" y="4041648"/>
            <a:ext cx="4901184" cy="256032"/>
          </a:xfrm>
          <a:prstGeom prst="rect">
            <a:avLst/>
          </a:prstGeom>
          <a:noFill/>
          <a:ln/>
        </p:spPr>
        <p:txBody>
          <a:bodyPr wrap="square" lIns="0" tIns="0" rIns="0" bIns="0" rtlCol="0" anchor="t"/>
          <a:lstStyle/>
          <a:p>
            <a:pPr algn="l" indent="0" marL="0">
              <a:lnSpc>
                <a:spcPct val="112000"/>
              </a:lnSpc>
              <a:buNone/>
            </a:pPr>
            <a:r>
              <a:rPr lang="en-US" sz="1300" b="1" dirty="0">
                <a:solidFill>
                  <a:srgbClr val="028090"/>
                </a:solidFill>
                <a:latin typeface="Calibri" pitchFamily="34" charset="0"/>
                <a:ea typeface="Calibri" pitchFamily="34" charset="-122"/>
                <a:cs typeface="Calibri" pitchFamily="34" charset="-120"/>
              </a:rPr>
              <a:t>Python — the same idea, a different rule</a:t>
            </a:r>
            <a:endParaRPr lang="en-US" sz="1300" dirty="0"/>
          </a:p>
        </p:txBody>
      </p:sp>
      <p:sp>
        <p:nvSpPr>
          <p:cNvPr id="20" name="Text 18"/>
          <p:cNvSpPr txBox="1"/>
          <p:nvPr/>
        </p:nvSpPr>
        <p:spPr>
          <a:xfrm>
            <a:off x="6464808" y="4315968"/>
            <a:ext cx="4901184" cy="694944"/>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UserService.verify_credentials() collapses “unknown email” and “wrong password” into one answer. That is a rule about account enumeration, so it lives in the service layer — not in the route.</a:t>
            </a:r>
            <a:endParaRPr lang="en-US" sz="1200" dirty="0"/>
          </a:p>
        </p:txBody>
      </p:sp>
      <p:sp>
        <p:nvSpPr>
          <p:cNvPr id="21" name="Shape 19"/>
          <p:cNvSpPr/>
          <p:nvPr/>
        </p:nvSpPr>
        <p:spPr>
          <a:xfrm>
            <a:off x="548640" y="5276088"/>
            <a:ext cx="11094415" cy="868680"/>
          </a:xfrm>
          <a:prstGeom prst="roundRect">
            <a:avLst>
              <a:gd name="adj" fmla="val 7368"/>
            </a:avLst>
          </a:prstGeom>
          <a:solidFill>
            <a:srgbClr val="FBF2E4"/>
          </a:solidFill>
          <a:ln/>
        </p:spPr>
      </p:sp>
      <p:sp>
        <p:nvSpPr>
          <p:cNvPr id="22" name="Text 20"/>
          <p:cNvSpPr txBox="1"/>
          <p:nvPr/>
        </p:nvSpPr>
        <p:spPr>
          <a:xfrm>
            <a:off x="841248" y="5468112"/>
            <a:ext cx="10509199" cy="548640"/>
          </a:xfrm>
          <a:prstGeom prst="rect">
            <a:avLst/>
          </a:prstGeom>
          <a:noFill/>
          <a:ln/>
        </p:spPr>
        <p:txBody>
          <a:bodyPr wrap="square" lIns="0" tIns="0" rIns="0" bIns="0" rtlCol="0" anchor="t"/>
          <a:lstStyle/>
          <a:p>
            <a:pPr algn="l" indent="0" marL="0">
              <a:lnSpc>
                <a:spcPct val="115000"/>
              </a:lnSpc>
              <a:buNone/>
            </a:pPr>
            <a:r>
              <a:rPr lang="en-US" sz="1300" i="1" dirty="0">
                <a:solidFill>
                  <a:srgbClr val="1D2433"/>
                </a:solidFill>
                <a:latin typeface="Calibri" pitchFamily="34" charset="0"/>
                <a:ea typeface="Calibri" pitchFamily="34" charset="-122"/>
                <a:cs typeface="Calibri" pitchFamily="34" charset="-120"/>
              </a:rPr>
              <a:t>The general form: if a rule can be broken by calling a different entry point, it is in the wrong layer. Put it where it cannot be bypassed — then an event consumer added in week 4 inherits it for free.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3A6B2E"/>
                </a:solidFill>
                <a:latin typeface="Calibri" pitchFamily="34" charset="0"/>
                <a:ea typeface="Calibri" pitchFamily="34" charset="-122"/>
                <a:cs typeface="Calibri" pitchFamily="34" charset="-120"/>
              </a:rPr>
              <a:t>WEEK 2 CONCEPTS</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Status codes are part of the contract</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A status code tells the caller what to do next. Getting it wrong sends them down the wrong path.</a:t>
            </a:r>
            <a:endParaRPr lang="en-US" sz="1350" dirty="0"/>
          </a:p>
        </p:txBody>
      </p:sp>
      <p:sp>
        <p:nvSpPr>
          <p:cNvPr id="5" name="Shape 3"/>
          <p:cNvSpPr/>
          <p:nvPr/>
        </p:nvSpPr>
        <p:spPr>
          <a:xfrm>
            <a:off x="548640" y="1554480"/>
            <a:ext cx="6766560" cy="566928"/>
          </a:xfrm>
          <a:prstGeom prst="roundRect">
            <a:avLst>
              <a:gd name="adj" fmla="val 11290"/>
            </a:avLst>
          </a:prstGeom>
          <a:solidFill>
            <a:srgbClr val="F4F6F8"/>
          </a:solidFill>
          <a:ln/>
        </p:spPr>
      </p:sp>
      <p:sp>
        <p:nvSpPr>
          <p:cNvPr id="6" name="Shape 4"/>
          <p:cNvSpPr/>
          <p:nvPr/>
        </p:nvSpPr>
        <p:spPr>
          <a:xfrm>
            <a:off x="713232" y="1636776"/>
            <a:ext cx="402336" cy="402336"/>
          </a:xfrm>
          <a:prstGeom prst="ellipse">
            <a:avLst/>
          </a:prstGeom>
          <a:solidFill>
            <a:srgbClr val="6B7A8D"/>
          </a:solidFill>
          <a:ln/>
        </p:spPr>
      </p:sp>
      <p:sp>
        <p:nvSpPr>
          <p:cNvPr id="7" name="Text 5"/>
          <p:cNvSpPr txBox="1"/>
          <p:nvPr/>
        </p:nvSpPr>
        <p:spPr>
          <a:xfrm>
            <a:off x="713232" y="1636776"/>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400</a:t>
            </a:r>
            <a:endParaRPr lang="en-US" sz="1150" dirty="0"/>
          </a:p>
        </p:txBody>
      </p:sp>
      <p:sp>
        <p:nvSpPr>
          <p:cNvPr id="8" name="Text 6"/>
          <p:cNvSpPr txBox="1"/>
          <p:nvPr/>
        </p:nvSpPr>
        <p:spPr>
          <a:xfrm>
            <a:off x="1261872" y="1554480"/>
            <a:ext cx="2834640" cy="566928"/>
          </a:xfrm>
          <a:prstGeom prst="rect">
            <a:avLst/>
          </a:prstGeom>
          <a:noFill/>
          <a:ln/>
        </p:spPr>
        <p:txBody>
          <a:bodyPr wrap="square" lIns="0" tIns="0" rIns="0" bIns="0" rtlCol="0" anchor="ctr"/>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the request is malformed</a:t>
            </a:r>
            <a:endParaRPr lang="en-US" sz="1300" dirty="0"/>
          </a:p>
        </p:txBody>
      </p:sp>
      <p:sp>
        <p:nvSpPr>
          <p:cNvPr id="9" name="Text 7"/>
          <p:cNvSpPr txBox="1"/>
          <p:nvPr/>
        </p:nvSpPr>
        <p:spPr>
          <a:xfrm>
            <a:off x="4160520" y="1554480"/>
            <a:ext cx="3017520" cy="566928"/>
          </a:xfrm>
          <a:prstGeom prst="rect">
            <a:avLst/>
          </a:prstGeom>
          <a:noFill/>
          <a:ln/>
        </p:spPr>
        <p:txBody>
          <a:bodyPr wrap="square" lIns="0" tIns="0" rIns="0" bIns="0" rtlCol="0" anchor="ctr"/>
          <a:lstStyle/>
          <a:p>
            <a:pPr algn="l" indent="0" marL="0">
              <a:lnSpc>
                <a:spcPct val="105000"/>
              </a:lnSpc>
              <a:buNone/>
            </a:pPr>
            <a:r>
              <a:rPr lang="en-US" sz="1150" dirty="0">
                <a:solidFill>
                  <a:srgbClr val="6B7A8D"/>
                </a:solidFill>
                <a:latin typeface="Calibri" pitchFamily="34" charset="0"/>
                <a:ea typeface="Calibri" pitchFamily="34" charset="-122"/>
                <a:cs typeface="Calibri" pitchFamily="34" charset="-120"/>
              </a:rPr>
              <a:t>Fix the request and send it again.</a:t>
            </a:r>
            <a:endParaRPr lang="en-US" sz="1150" dirty="0"/>
          </a:p>
        </p:txBody>
      </p:sp>
      <p:sp>
        <p:nvSpPr>
          <p:cNvPr id="10" name="Shape 8"/>
          <p:cNvSpPr/>
          <p:nvPr/>
        </p:nvSpPr>
        <p:spPr>
          <a:xfrm>
            <a:off x="548640" y="2212848"/>
            <a:ext cx="6766560" cy="566928"/>
          </a:xfrm>
          <a:prstGeom prst="roundRect">
            <a:avLst>
              <a:gd name="adj" fmla="val 11290"/>
            </a:avLst>
          </a:prstGeom>
          <a:solidFill>
            <a:srgbClr val="FFFFFF"/>
          </a:solidFill>
          <a:ln/>
        </p:spPr>
      </p:sp>
      <p:sp>
        <p:nvSpPr>
          <p:cNvPr id="11" name="Shape 9"/>
          <p:cNvSpPr/>
          <p:nvPr/>
        </p:nvSpPr>
        <p:spPr>
          <a:xfrm>
            <a:off x="713232" y="2295144"/>
            <a:ext cx="402336" cy="402336"/>
          </a:xfrm>
          <a:prstGeom prst="ellipse">
            <a:avLst/>
          </a:prstGeom>
          <a:solidFill>
            <a:srgbClr val="6B7A8D"/>
          </a:solidFill>
          <a:ln/>
        </p:spPr>
      </p:sp>
      <p:sp>
        <p:nvSpPr>
          <p:cNvPr id="12" name="Text 10"/>
          <p:cNvSpPr txBox="1"/>
          <p:nvPr/>
        </p:nvSpPr>
        <p:spPr>
          <a:xfrm>
            <a:off x="713232" y="2295144"/>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422</a:t>
            </a:r>
            <a:endParaRPr lang="en-US" sz="1150" dirty="0"/>
          </a:p>
        </p:txBody>
      </p:sp>
      <p:sp>
        <p:nvSpPr>
          <p:cNvPr id="13" name="Text 11"/>
          <p:cNvSpPr txBox="1"/>
          <p:nvPr/>
        </p:nvSpPr>
        <p:spPr>
          <a:xfrm>
            <a:off x="1261872" y="2212848"/>
            <a:ext cx="2834640" cy="566928"/>
          </a:xfrm>
          <a:prstGeom prst="rect">
            <a:avLst/>
          </a:prstGeom>
          <a:noFill/>
          <a:ln/>
        </p:spPr>
        <p:txBody>
          <a:bodyPr wrap="square" lIns="0" tIns="0" rIns="0" bIns="0" rtlCol="0" anchor="ctr"/>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the request fails validation</a:t>
            </a:r>
            <a:endParaRPr lang="en-US" sz="1300" dirty="0"/>
          </a:p>
        </p:txBody>
      </p:sp>
      <p:sp>
        <p:nvSpPr>
          <p:cNvPr id="14" name="Text 12"/>
          <p:cNvSpPr txBox="1"/>
          <p:nvPr/>
        </p:nvSpPr>
        <p:spPr>
          <a:xfrm>
            <a:off x="4160520" y="2212848"/>
            <a:ext cx="3017520" cy="566928"/>
          </a:xfrm>
          <a:prstGeom prst="rect">
            <a:avLst/>
          </a:prstGeom>
          <a:noFill/>
          <a:ln/>
        </p:spPr>
        <p:txBody>
          <a:bodyPr wrap="square" lIns="0" tIns="0" rIns="0" bIns="0" rtlCol="0" anchor="ctr"/>
          <a:lstStyle/>
          <a:p>
            <a:pPr algn="l" indent="0" marL="0">
              <a:lnSpc>
                <a:spcPct val="105000"/>
              </a:lnSpc>
              <a:buNone/>
            </a:pPr>
            <a:r>
              <a:rPr lang="en-US" sz="1150" dirty="0">
                <a:solidFill>
                  <a:srgbClr val="6B7A8D"/>
                </a:solidFill>
                <a:latin typeface="Calibri" pitchFamily="34" charset="0"/>
                <a:ea typeface="Calibri" pitchFamily="34" charset="-122"/>
                <a:cs typeface="Calibri" pitchFamily="34" charset="-120"/>
              </a:rPr>
              <a:t>Same: the client has the bug.</a:t>
            </a:r>
            <a:endParaRPr lang="en-US" sz="1150" dirty="0"/>
          </a:p>
        </p:txBody>
      </p:sp>
      <p:sp>
        <p:nvSpPr>
          <p:cNvPr id="15" name="Shape 13"/>
          <p:cNvSpPr/>
          <p:nvPr/>
        </p:nvSpPr>
        <p:spPr>
          <a:xfrm>
            <a:off x="548640" y="2871216"/>
            <a:ext cx="6766560" cy="566928"/>
          </a:xfrm>
          <a:prstGeom prst="roundRect">
            <a:avLst>
              <a:gd name="adj" fmla="val 11290"/>
            </a:avLst>
          </a:prstGeom>
          <a:solidFill>
            <a:srgbClr val="F4F6F8"/>
          </a:solidFill>
          <a:ln/>
        </p:spPr>
      </p:sp>
      <p:sp>
        <p:nvSpPr>
          <p:cNvPr id="16" name="Shape 14"/>
          <p:cNvSpPr/>
          <p:nvPr/>
        </p:nvSpPr>
        <p:spPr>
          <a:xfrm>
            <a:off x="713232" y="2953512"/>
            <a:ext cx="402336" cy="402336"/>
          </a:xfrm>
          <a:prstGeom prst="ellipse">
            <a:avLst/>
          </a:prstGeom>
          <a:solidFill>
            <a:srgbClr val="028090"/>
          </a:solidFill>
          <a:ln/>
        </p:spPr>
      </p:sp>
      <p:sp>
        <p:nvSpPr>
          <p:cNvPr id="17" name="Text 15"/>
          <p:cNvSpPr txBox="1"/>
          <p:nvPr/>
        </p:nvSpPr>
        <p:spPr>
          <a:xfrm>
            <a:off x="713232" y="2953512"/>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404</a:t>
            </a:r>
            <a:endParaRPr lang="en-US" sz="1150" dirty="0"/>
          </a:p>
        </p:txBody>
      </p:sp>
      <p:sp>
        <p:nvSpPr>
          <p:cNvPr id="18" name="Text 16"/>
          <p:cNvSpPr txBox="1"/>
          <p:nvPr/>
        </p:nvSpPr>
        <p:spPr>
          <a:xfrm>
            <a:off x="1261872" y="2871216"/>
            <a:ext cx="2834640" cy="566928"/>
          </a:xfrm>
          <a:prstGeom prst="rect">
            <a:avLst/>
          </a:prstGeom>
          <a:noFill/>
          <a:ln/>
        </p:spPr>
        <p:txBody>
          <a:bodyPr wrap="square" lIns="0" tIns="0" rIns="0" bIns="0" rtlCol="0" anchor="ctr"/>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that resource does not exist</a:t>
            </a:r>
            <a:endParaRPr lang="en-US" sz="1300" dirty="0"/>
          </a:p>
        </p:txBody>
      </p:sp>
      <p:sp>
        <p:nvSpPr>
          <p:cNvPr id="19" name="Text 17"/>
          <p:cNvSpPr txBox="1"/>
          <p:nvPr/>
        </p:nvSpPr>
        <p:spPr>
          <a:xfrm>
            <a:off x="4160520" y="2871216"/>
            <a:ext cx="3017520" cy="566928"/>
          </a:xfrm>
          <a:prstGeom prst="rect">
            <a:avLst/>
          </a:prstGeom>
          <a:noFill/>
          <a:ln/>
        </p:spPr>
        <p:txBody>
          <a:bodyPr wrap="square" lIns="0" tIns="0" rIns="0" bIns="0" rtlCol="0" anchor="ctr"/>
          <a:lstStyle/>
          <a:p>
            <a:pPr algn="l" indent="0" marL="0">
              <a:lnSpc>
                <a:spcPct val="105000"/>
              </a:lnSpc>
              <a:buNone/>
            </a:pPr>
            <a:r>
              <a:rPr lang="en-US" sz="1150" dirty="0">
                <a:solidFill>
                  <a:srgbClr val="6B7A8D"/>
                </a:solidFill>
                <a:latin typeface="Calibri" pitchFamily="34" charset="0"/>
                <a:ea typeface="Calibri" pitchFamily="34" charset="-122"/>
                <a:cs typeface="Calibri" pitchFamily="34" charset="-120"/>
              </a:rPr>
              <a:t>Stop. Do not retry — this is a correct answer.</a:t>
            </a:r>
            <a:endParaRPr lang="en-US" sz="1150" dirty="0"/>
          </a:p>
        </p:txBody>
      </p:sp>
      <p:sp>
        <p:nvSpPr>
          <p:cNvPr id="20" name="Shape 18"/>
          <p:cNvSpPr/>
          <p:nvPr/>
        </p:nvSpPr>
        <p:spPr>
          <a:xfrm>
            <a:off x="548640" y="3529584"/>
            <a:ext cx="6766560" cy="566928"/>
          </a:xfrm>
          <a:prstGeom prst="roundRect">
            <a:avLst>
              <a:gd name="adj" fmla="val 11290"/>
            </a:avLst>
          </a:prstGeom>
          <a:solidFill>
            <a:srgbClr val="FFFFFF"/>
          </a:solidFill>
          <a:ln/>
        </p:spPr>
      </p:sp>
      <p:sp>
        <p:nvSpPr>
          <p:cNvPr id="21" name="Shape 19"/>
          <p:cNvSpPr/>
          <p:nvPr/>
        </p:nvSpPr>
        <p:spPr>
          <a:xfrm>
            <a:off x="713232" y="3611880"/>
            <a:ext cx="402336" cy="402336"/>
          </a:xfrm>
          <a:prstGeom prst="ellipse">
            <a:avLst/>
          </a:prstGeom>
          <a:solidFill>
            <a:srgbClr val="6D2E46"/>
          </a:solidFill>
          <a:ln/>
        </p:spPr>
      </p:sp>
      <p:sp>
        <p:nvSpPr>
          <p:cNvPr id="22" name="Text 20"/>
          <p:cNvSpPr txBox="1"/>
          <p:nvPr/>
        </p:nvSpPr>
        <p:spPr>
          <a:xfrm>
            <a:off x="713232" y="3611880"/>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409</a:t>
            </a:r>
            <a:endParaRPr lang="en-US" sz="1150" dirty="0"/>
          </a:p>
        </p:txBody>
      </p:sp>
      <p:sp>
        <p:nvSpPr>
          <p:cNvPr id="23" name="Text 21"/>
          <p:cNvSpPr txBox="1"/>
          <p:nvPr/>
        </p:nvSpPr>
        <p:spPr>
          <a:xfrm>
            <a:off x="1261872" y="3529584"/>
            <a:ext cx="2834640" cy="566928"/>
          </a:xfrm>
          <a:prstGeom prst="rect">
            <a:avLst/>
          </a:prstGeom>
          <a:noFill/>
          <a:ln/>
        </p:spPr>
        <p:txBody>
          <a:bodyPr wrap="square" lIns="0" tIns="0" rIns="0" bIns="0" rtlCol="0" anchor="ctr"/>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the request is fine, the state is not</a:t>
            </a:r>
            <a:endParaRPr lang="en-US" sz="1300" dirty="0"/>
          </a:p>
        </p:txBody>
      </p:sp>
      <p:sp>
        <p:nvSpPr>
          <p:cNvPr id="24" name="Text 22"/>
          <p:cNvSpPr txBox="1"/>
          <p:nvPr/>
        </p:nvSpPr>
        <p:spPr>
          <a:xfrm>
            <a:off x="4160520" y="3529584"/>
            <a:ext cx="3017520" cy="566928"/>
          </a:xfrm>
          <a:prstGeom prst="rect">
            <a:avLst/>
          </a:prstGeom>
          <a:noFill/>
          <a:ln/>
        </p:spPr>
        <p:txBody>
          <a:bodyPr wrap="square" lIns="0" tIns="0" rIns="0" bIns="0" rtlCol="0" anchor="ctr"/>
          <a:lstStyle/>
          <a:p>
            <a:pPr algn="l" indent="0" marL="0">
              <a:lnSpc>
                <a:spcPct val="105000"/>
              </a:lnSpc>
              <a:buNone/>
            </a:pPr>
            <a:r>
              <a:rPr lang="en-US" sz="1150" dirty="0">
                <a:solidFill>
                  <a:srgbClr val="6B7A8D"/>
                </a:solidFill>
                <a:latin typeface="Calibri" pitchFamily="34" charset="0"/>
                <a:ea typeface="Calibri" pitchFamily="34" charset="-122"/>
                <a:cs typeface="Calibri" pitchFamily="34" charset="-120"/>
              </a:rPr>
              <a:t>Duplicate email; not enough stock. Change what you asked for.</a:t>
            </a:r>
            <a:endParaRPr lang="en-US" sz="1150" dirty="0"/>
          </a:p>
        </p:txBody>
      </p:sp>
      <p:sp>
        <p:nvSpPr>
          <p:cNvPr id="25" name="Shape 23"/>
          <p:cNvSpPr/>
          <p:nvPr/>
        </p:nvSpPr>
        <p:spPr>
          <a:xfrm>
            <a:off x="548640" y="4187952"/>
            <a:ext cx="6766560" cy="566928"/>
          </a:xfrm>
          <a:prstGeom prst="roundRect">
            <a:avLst>
              <a:gd name="adj" fmla="val 11290"/>
            </a:avLst>
          </a:prstGeom>
          <a:solidFill>
            <a:srgbClr val="F4F6F8"/>
          </a:solidFill>
          <a:ln/>
        </p:spPr>
      </p:sp>
      <p:sp>
        <p:nvSpPr>
          <p:cNvPr id="26" name="Shape 24"/>
          <p:cNvSpPr/>
          <p:nvPr/>
        </p:nvSpPr>
        <p:spPr>
          <a:xfrm>
            <a:off x="713232" y="4270248"/>
            <a:ext cx="402336" cy="402336"/>
          </a:xfrm>
          <a:prstGeom prst="ellipse">
            <a:avLst/>
          </a:prstGeom>
          <a:solidFill>
            <a:srgbClr val="6B7A8D"/>
          </a:solidFill>
          <a:ln/>
        </p:spPr>
      </p:sp>
      <p:sp>
        <p:nvSpPr>
          <p:cNvPr id="27" name="Text 25"/>
          <p:cNvSpPr txBox="1"/>
          <p:nvPr/>
        </p:nvSpPr>
        <p:spPr>
          <a:xfrm>
            <a:off x="713232" y="4270248"/>
            <a:ext cx="402336" cy="40233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204</a:t>
            </a:r>
            <a:endParaRPr lang="en-US" sz="1150" dirty="0"/>
          </a:p>
        </p:txBody>
      </p:sp>
      <p:sp>
        <p:nvSpPr>
          <p:cNvPr id="28" name="Text 26"/>
          <p:cNvSpPr txBox="1"/>
          <p:nvPr/>
        </p:nvSpPr>
        <p:spPr>
          <a:xfrm>
            <a:off x="1261872" y="4187952"/>
            <a:ext cx="2834640" cy="566928"/>
          </a:xfrm>
          <a:prstGeom prst="rect">
            <a:avLst/>
          </a:prstGeom>
          <a:noFill/>
          <a:ln/>
        </p:spPr>
        <p:txBody>
          <a:bodyPr wrap="square" lIns="0" tIns="0" rIns="0" bIns="0" rtlCol="0" anchor="ctr"/>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done, nothing to return</a:t>
            </a:r>
            <a:endParaRPr lang="en-US" sz="1300" dirty="0"/>
          </a:p>
        </p:txBody>
      </p:sp>
      <p:sp>
        <p:nvSpPr>
          <p:cNvPr id="29" name="Text 27"/>
          <p:cNvSpPr txBox="1"/>
          <p:nvPr/>
        </p:nvSpPr>
        <p:spPr>
          <a:xfrm>
            <a:off x="4160520" y="4187952"/>
            <a:ext cx="3017520" cy="566928"/>
          </a:xfrm>
          <a:prstGeom prst="rect">
            <a:avLst/>
          </a:prstGeom>
          <a:noFill/>
          <a:ln/>
        </p:spPr>
        <p:txBody>
          <a:bodyPr wrap="square" lIns="0" tIns="0" rIns="0" bIns="0" rtlCol="0" anchor="ctr"/>
          <a:lstStyle/>
          <a:p>
            <a:pPr algn="l" indent="0" marL="0">
              <a:lnSpc>
                <a:spcPct val="105000"/>
              </a:lnSpc>
              <a:buNone/>
            </a:pPr>
            <a:r>
              <a:rPr lang="en-US" sz="1150" dirty="0">
                <a:solidFill>
                  <a:srgbClr val="6B7A8D"/>
                </a:solidFill>
                <a:latin typeface="Calibri" pitchFamily="34" charset="0"/>
                <a:ea typeface="Calibri" pitchFamily="34" charset="-122"/>
                <a:cs typeface="Calibri" pitchFamily="34" charset="-120"/>
              </a:rPr>
              <a:t>Used by DELETE. No body at all.</a:t>
            </a:r>
            <a:endParaRPr lang="en-US" sz="1150" dirty="0"/>
          </a:p>
        </p:txBody>
      </p:sp>
      <p:sp>
        <p:nvSpPr>
          <p:cNvPr id="30" name="Shape 28"/>
          <p:cNvSpPr/>
          <p:nvPr/>
        </p:nvSpPr>
        <p:spPr>
          <a:xfrm>
            <a:off x="7498080" y="1554480"/>
            <a:ext cx="4144975" cy="1920240"/>
          </a:xfrm>
          <a:prstGeom prst="roundRect">
            <a:avLst>
              <a:gd name="adj" fmla="val 3333"/>
            </a:avLst>
          </a:prstGeom>
          <a:solidFill>
            <a:srgbClr val="F6EAEE"/>
          </a:solidFill>
          <a:ln/>
        </p:spPr>
      </p:sp>
      <p:sp>
        <p:nvSpPr>
          <p:cNvPr id="31" name="Text 29"/>
          <p:cNvSpPr txBox="1"/>
          <p:nvPr/>
        </p:nvSpPr>
        <p:spPr>
          <a:xfrm>
            <a:off x="7754112" y="1737360"/>
            <a:ext cx="3632911" cy="256032"/>
          </a:xfrm>
          <a:prstGeom prst="rect">
            <a:avLst/>
          </a:prstGeom>
          <a:noFill/>
          <a:ln/>
        </p:spPr>
        <p:txBody>
          <a:bodyPr wrap="square" lIns="0" tIns="0" rIns="0" bIns="0" rtlCol="0" anchor="t"/>
          <a:lstStyle/>
          <a:p>
            <a:pPr algn="l" indent="0" marL="0">
              <a:lnSpc>
                <a:spcPct val="112000"/>
              </a:lnSpc>
              <a:buNone/>
            </a:pPr>
            <a:r>
              <a:rPr lang="en-US" sz="1400" b="1" dirty="0">
                <a:solidFill>
                  <a:srgbClr val="6D2E46"/>
                </a:solidFill>
                <a:latin typeface="Calibri" pitchFamily="34" charset="0"/>
                <a:ea typeface="Calibri" pitchFamily="34" charset="-122"/>
                <a:cs typeface="Calibri" pitchFamily="34" charset="-120"/>
              </a:rPr>
              <a:t>Why 409 and not 400?</a:t>
            </a:r>
            <a:endParaRPr lang="en-US" sz="1400" dirty="0"/>
          </a:p>
        </p:txBody>
      </p:sp>
      <p:sp>
        <p:nvSpPr>
          <p:cNvPr id="32" name="Text 30"/>
          <p:cNvSpPr txBox="1"/>
          <p:nvPr/>
        </p:nvSpPr>
        <p:spPr>
          <a:xfrm>
            <a:off x="7754112" y="2029968"/>
            <a:ext cx="3632911" cy="128016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“Email already registered” and “insufficient stock” are both perfectly well-formed requests. What fails is the state of the system, and resending the identical request later may well succeed. 400 would tell the client to fix something that is not broken.</a:t>
            </a:r>
            <a:endParaRPr lang="en-US" sz="1200" dirty="0"/>
          </a:p>
        </p:txBody>
      </p:sp>
      <p:sp>
        <p:nvSpPr>
          <p:cNvPr id="33" name="Shape 31"/>
          <p:cNvSpPr/>
          <p:nvPr/>
        </p:nvSpPr>
        <p:spPr>
          <a:xfrm>
            <a:off x="7498080" y="3639312"/>
            <a:ext cx="4144975" cy="2212848"/>
          </a:xfrm>
          <a:prstGeom prst="roundRect">
            <a:avLst>
              <a:gd name="adj" fmla="val 2893"/>
            </a:avLst>
          </a:prstGeom>
          <a:solidFill>
            <a:srgbClr val="F4F6F8"/>
          </a:solidFill>
          <a:ln/>
        </p:spPr>
      </p:sp>
      <p:sp>
        <p:nvSpPr>
          <p:cNvPr id="34" name="Text 32"/>
          <p:cNvSpPr txBox="1"/>
          <p:nvPr/>
        </p:nvSpPr>
        <p:spPr>
          <a:xfrm>
            <a:off x="7754112" y="3822192"/>
            <a:ext cx="3632911" cy="256032"/>
          </a:xfrm>
          <a:prstGeom prst="rect">
            <a:avLst/>
          </a:prstGeom>
          <a:noFill/>
          <a:ln/>
        </p:spPr>
        <p:txBody>
          <a:bodyPr wrap="square" lIns="0" tIns="0" rIns="0" bIns="0" rtlCol="0" anchor="t"/>
          <a:lstStyle/>
          <a:p>
            <a:pPr algn="l" indent="0" marL="0">
              <a:lnSpc>
                <a:spcPct val="112000"/>
              </a:lnSpc>
              <a:buNone/>
            </a:pPr>
            <a:r>
              <a:rPr lang="en-US" sz="1400" b="1" dirty="0">
                <a:solidFill>
                  <a:srgbClr val="3A6B2E"/>
                </a:solidFill>
                <a:latin typeface="Calibri" pitchFamily="34" charset="0"/>
                <a:ea typeface="Calibri" pitchFamily="34" charset="-122"/>
                <a:cs typeface="Calibri" pitchFamily="34" charset="-120"/>
              </a:rPr>
              <a:t>Optimistic locking, in one line</a:t>
            </a:r>
            <a:endParaRPr lang="en-US" sz="1400" dirty="0"/>
          </a:p>
        </p:txBody>
      </p:sp>
      <p:sp>
        <p:nvSpPr>
          <p:cNvPr id="35" name="Text 33"/>
          <p:cNvSpPr txBox="1"/>
          <p:nvPr/>
        </p:nvSpPr>
        <p:spPr>
          <a:xfrm>
            <a:off x="7754112" y="4114800"/>
            <a:ext cx="3632911" cy="91440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Product carries a @Version column. Without it, two concurrent reservations both read stock = 10, both write 8, and four units vanish. With it, the second write fails and can be retried.</a:t>
            </a:r>
            <a:endParaRPr lang="en-US" sz="1200" dirty="0"/>
          </a:p>
        </p:txBody>
      </p:sp>
      <p:sp>
        <p:nvSpPr>
          <p:cNvPr id="36" name="Text 34"/>
          <p:cNvSpPr txBox="1"/>
          <p:nvPr/>
        </p:nvSpPr>
        <p:spPr>
          <a:xfrm>
            <a:off x="7754112" y="5138928"/>
            <a:ext cx="3632911" cy="548640"/>
          </a:xfrm>
          <a:prstGeom prst="rect">
            <a:avLst/>
          </a:prstGeom>
          <a:noFill/>
          <a:ln/>
        </p:spPr>
        <p:txBody>
          <a:bodyPr wrap="square" lIns="0" tIns="0" rIns="0" bIns="0" rtlCol="0" anchor="t"/>
          <a:lstStyle/>
          <a:p>
            <a:pPr algn="l" indent="0" marL="0">
              <a:lnSpc>
                <a:spcPct val="115000"/>
              </a:lnSpc>
              <a:buNone/>
            </a:pPr>
            <a:r>
              <a:rPr lang="en-US" sz="1200" i="1" dirty="0">
                <a:solidFill>
                  <a:srgbClr val="6B7A8D"/>
                </a:solidFill>
                <a:latin typeface="Calibri" pitchFamily="34" charset="0"/>
                <a:ea typeface="Calibri" pitchFamily="34" charset="-122"/>
                <a:cs typeface="Calibri" pitchFamily="34" charset="-120"/>
              </a:rPr>
              <a:t>This becomes essential in week 7, when sagas start compensating stock reservations.</a:t>
            </a:r>
            <a:endParaRPr lang="en-US" sz="1200" dirty="0"/>
          </a:p>
        </p:txBody>
      </p:sp>
      <p:sp>
        <p:nvSpPr>
          <p:cNvPr id="37" name="Text 35"/>
          <p:cNvSpPr txBox="1"/>
          <p:nvPr/>
        </p:nvSpPr>
        <p:spPr>
          <a:xfrm>
            <a:off x="548640" y="5029200"/>
            <a:ext cx="6766560" cy="237744"/>
          </a:xfrm>
          <a:prstGeom prst="rect">
            <a:avLst/>
          </a:prstGeom>
          <a:noFill/>
          <a:ln/>
        </p:spPr>
        <p:txBody>
          <a:bodyPr wrap="square" lIns="0" tIns="0" rIns="0" bIns="0" rtlCol="0" anchor="t"/>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One error shape everywhere:</a:t>
            </a:r>
            <a:endParaRPr lang="en-US" sz="1200" dirty="0"/>
          </a:p>
        </p:txBody>
      </p:sp>
      <p:sp>
        <p:nvSpPr>
          <p:cNvPr id="38" name="Shape 36"/>
          <p:cNvSpPr/>
          <p:nvPr/>
        </p:nvSpPr>
        <p:spPr>
          <a:xfrm>
            <a:off x="548640" y="5303520"/>
            <a:ext cx="6766560" cy="768096"/>
          </a:xfrm>
          <a:prstGeom prst="roundRect">
            <a:avLst>
              <a:gd name="adj" fmla="val 4762"/>
            </a:avLst>
          </a:prstGeom>
          <a:solidFill>
            <a:srgbClr val="222A35"/>
          </a:solidFill>
          <a:ln/>
          <a:effectLst>
            <a:outerShdw sx="100000" sy="100000" kx="0" ky="0" algn="bl" rotWithShape="0" blurRad="127000" dist="25400" dir="5400000">
              <a:srgbClr val="8F9EAC">
                <a:alpha val="22000"/>
              </a:srgbClr>
            </a:outerShdw>
          </a:effectLst>
        </p:spPr>
      </p:sp>
      <p:sp>
        <p:nvSpPr>
          <p:cNvPr id="39" name="Text 37"/>
          <p:cNvSpPr txBox="1"/>
          <p:nvPr/>
        </p:nvSpPr>
        <p:spPr>
          <a:xfrm>
            <a:off x="731520" y="5449824"/>
            <a:ext cx="6400800" cy="475488"/>
          </a:xfrm>
          <a:prstGeom prst="rect">
            <a:avLst/>
          </a:prstGeom>
          <a:noFill/>
          <a:ln/>
        </p:spPr>
        <p:txBody>
          <a:bodyPr wrap="square" lIns="0" tIns="0" rIns="0" bIns="0" rtlCol="0" anchor="t"/>
          <a:lstStyle/>
          <a:p>
            <a:pPr indent="0" marL="0">
              <a:lnSpc>
                <a:spcPct val="120000"/>
              </a:lnSpc>
              <a:buNone/>
            </a:pPr>
            <a:r>
              <a:rPr lang="en-US" sz="1100" dirty="0">
                <a:solidFill>
                  <a:srgbClr val="E3EAF2"/>
                </a:solidFill>
                <a:latin typeface="Courier New" pitchFamily="34" charset="0"/>
                <a:ea typeface="Courier New" pitchFamily="34" charset="-122"/>
                <a:cs typeface="Courier New" pitchFamily="34" charset="-120"/>
              </a:rPr>
              <a:t>{ "error":   "insufficient_stock",</a:t>
            </a:r>
            <a:endParaRPr lang="en-US" sz="1100" dirty="0"/>
          </a:p>
          <a:p>
            <a:pPr indent="0" marL="0">
              <a:lnSpc>
                <a:spcPct val="120000"/>
              </a:lnSpc>
              <a:buNone/>
            </a:pPr>
            <a:r>
              <a:rPr lang="en-US" sz="1100" dirty="0">
                <a:solidFill>
                  <a:srgbClr val="E3EAF2"/>
                </a:solidFill>
                <a:latin typeface="Courier New" pitchFamily="34" charset="0"/>
                <a:ea typeface="Courier New" pitchFamily="34" charset="-122"/>
                <a:cs typeface="Courier New" pitchFamily="34" charset="-120"/>
              </a:rPr>
              <a:t>  "message": "Only 3 units of SKU-12 remain"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3A6B2E"/>
                </a:solidFill>
                <a:latin typeface="Calibri" pitchFamily="34" charset="0"/>
                <a:ea typeface="Calibri" pitchFamily="34" charset="-122"/>
                <a:cs typeface="Calibri" pitchFamily="34" charset="-120"/>
              </a:rPr>
              <a:t>WEEK 2 CONCEPTS</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Two operational details that matter in production</a:t>
            </a:r>
            <a:endParaRPr lang="en-US" sz="2900" dirty="0"/>
          </a:p>
        </p:txBody>
      </p:sp>
      <p:sp>
        <p:nvSpPr>
          <p:cNvPr id="4" name="Shape 2"/>
          <p:cNvSpPr/>
          <p:nvPr/>
        </p:nvSpPr>
        <p:spPr>
          <a:xfrm>
            <a:off x="548640" y="1554480"/>
            <a:ext cx="5449824" cy="2743200"/>
          </a:xfrm>
          <a:prstGeom prst="roundRect">
            <a:avLst>
              <a:gd name="adj" fmla="val 2333"/>
            </a:avLst>
          </a:prstGeom>
          <a:solidFill>
            <a:srgbClr val="E6F1F2"/>
          </a:solidFill>
          <a:ln/>
        </p:spPr>
      </p:sp>
      <p:sp>
        <p:nvSpPr>
          <p:cNvPr id="5" name="Shape 3"/>
          <p:cNvSpPr/>
          <p:nvPr/>
        </p:nvSpPr>
        <p:spPr>
          <a:xfrm>
            <a:off x="822960" y="1773936"/>
            <a:ext cx="420624" cy="420624"/>
          </a:xfrm>
          <a:prstGeom prst="ellipse">
            <a:avLst/>
          </a:prstGeom>
          <a:solidFill>
            <a:srgbClr val="028090"/>
          </a:solidFill>
          <a:ln/>
        </p:spPr>
      </p:sp>
      <p:sp>
        <p:nvSpPr>
          <p:cNvPr id="6" name="Text 4"/>
          <p:cNvSpPr txBox="1"/>
          <p:nvPr/>
        </p:nvSpPr>
        <p:spPr>
          <a:xfrm>
            <a:off x="822960" y="177393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OK</a:t>
            </a:r>
            <a:endParaRPr lang="en-US" sz="1300" dirty="0"/>
          </a:p>
        </p:txBody>
      </p:sp>
      <p:sp>
        <p:nvSpPr>
          <p:cNvPr id="7" name="Text 5"/>
          <p:cNvSpPr txBox="1"/>
          <p:nvPr/>
        </p:nvSpPr>
        <p:spPr>
          <a:xfrm>
            <a:off x="1389888" y="1792224"/>
            <a:ext cx="4352544" cy="310896"/>
          </a:xfrm>
          <a:prstGeom prst="rect">
            <a:avLst/>
          </a:prstGeom>
          <a:noFill/>
          <a:ln/>
        </p:spPr>
        <p:txBody>
          <a:bodyPr wrap="square" lIns="0" tIns="0" rIns="0" bIns="0" rtlCol="0" anchor="t"/>
          <a:lstStyle/>
          <a:p>
            <a:pPr algn="l" indent="0" marL="0">
              <a:lnSpc>
                <a:spcPct val="112000"/>
              </a:lnSpc>
              <a:buNone/>
            </a:pPr>
            <a:r>
              <a:rPr lang="en-US" sz="1700" b="1" dirty="0">
                <a:solidFill>
                  <a:srgbClr val="028090"/>
                </a:solidFill>
                <a:latin typeface="Calibri" pitchFamily="34" charset="0"/>
                <a:ea typeface="Calibri" pitchFamily="34" charset="-122"/>
                <a:cs typeface="Calibri" pitchFamily="34" charset="-120"/>
              </a:rPr>
              <a:t>Liveness ≠ readiness</a:t>
            </a:r>
            <a:endParaRPr lang="en-US" sz="1700" dirty="0"/>
          </a:p>
        </p:txBody>
      </p:sp>
      <p:sp>
        <p:nvSpPr>
          <p:cNvPr id="8" name="Text 6"/>
          <p:cNvSpPr txBox="1"/>
          <p:nvPr/>
        </p:nvSpPr>
        <p:spPr>
          <a:xfrm>
            <a:off x="822960" y="2286000"/>
            <a:ext cx="4901184" cy="256032"/>
          </a:xfrm>
          <a:prstGeom prst="rect">
            <a:avLst/>
          </a:prstGeom>
          <a:noFill/>
          <a:ln/>
        </p:spPr>
        <p:txBody>
          <a:bodyPr wrap="square" lIns="0" tIns="0" rIns="0" bIns="0" rtlCol="0" anchor="t"/>
          <a:lstStyle/>
          <a:p>
            <a:pPr algn="l" indent="0" marL="0">
              <a:lnSpc>
                <a:spcPct val="112000"/>
              </a:lnSpc>
              <a:buNone/>
            </a:pPr>
            <a:r>
              <a:rPr lang="en-US" sz="1250" i="1" dirty="0">
                <a:solidFill>
                  <a:srgbClr val="6B7A8D"/>
                </a:solidFill>
                <a:latin typeface="Calibri" pitchFamily="34" charset="0"/>
                <a:ea typeface="Calibri" pitchFamily="34" charset="-122"/>
                <a:cs typeface="Calibri" pitchFamily="34" charset="-120"/>
              </a:rPr>
              <a:t>Separate endpoints, on purpose.</a:t>
            </a:r>
            <a:endParaRPr lang="en-US" sz="1250" dirty="0"/>
          </a:p>
        </p:txBody>
      </p:sp>
      <p:sp>
        <p:nvSpPr>
          <p:cNvPr id="9" name="Text 7"/>
          <p:cNvSpPr txBox="1"/>
          <p:nvPr/>
        </p:nvSpPr>
        <p:spPr>
          <a:xfrm>
            <a:off x="822960" y="2596896"/>
            <a:ext cx="4901184" cy="731520"/>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/health/live  —  checks nothing external.</a:t>
            </a:r>
            <a:endParaRPr lang="en-US" sz="1250" dirty="0"/>
          </a:p>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A failing liveness probe restarts the container. Restarting a healthy process because Postgres is down makes the outage worse.</a:t>
            </a:r>
            <a:endParaRPr lang="en-US" sz="1250" dirty="0"/>
          </a:p>
        </p:txBody>
      </p:sp>
      <p:sp>
        <p:nvSpPr>
          <p:cNvPr id="10" name="Text 8"/>
          <p:cNvSpPr txBox="1"/>
          <p:nvPr/>
        </p:nvSpPr>
        <p:spPr>
          <a:xfrm>
            <a:off x="822960" y="3419856"/>
            <a:ext cx="4901184" cy="731520"/>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/health/ready  —  checks the database, returns 503.</a:t>
            </a:r>
            <a:endParaRPr lang="en-US" sz="1250" dirty="0"/>
          </a:p>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A failing readiness probe only removes the instance from the load balancer, which is exactly right.</a:t>
            </a:r>
            <a:endParaRPr lang="en-US" sz="1250" dirty="0"/>
          </a:p>
        </p:txBody>
      </p:sp>
      <p:sp>
        <p:nvSpPr>
          <p:cNvPr id="11" name="Shape 9"/>
          <p:cNvSpPr/>
          <p:nvPr/>
        </p:nvSpPr>
        <p:spPr>
          <a:xfrm>
            <a:off x="6190488" y="1554480"/>
            <a:ext cx="5449824" cy="2743200"/>
          </a:xfrm>
          <a:prstGeom prst="roundRect">
            <a:avLst>
              <a:gd name="adj" fmla="val 2333"/>
            </a:avLst>
          </a:prstGeom>
          <a:solidFill>
            <a:srgbClr val="EDF2E7"/>
          </a:solidFill>
          <a:ln/>
        </p:spPr>
      </p:sp>
      <p:sp>
        <p:nvSpPr>
          <p:cNvPr id="12" name="Shape 10"/>
          <p:cNvSpPr/>
          <p:nvPr/>
        </p:nvSpPr>
        <p:spPr>
          <a:xfrm>
            <a:off x="6464808" y="1773936"/>
            <a:ext cx="420624" cy="420624"/>
          </a:xfrm>
          <a:prstGeom prst="ellipse">
            <a:avLst/>
          </a:prstGeom>
          <a:solidFill>
            <a:srgbClr val="3A6B2E"/>
          </a:solidFill>
          <a:ln/>
        </p:spPr>
      </p:sp>
      <p:sp>
        <p:nvSpPr>
          <p:cNvPr id="13" name="Text 11"/>
          <p:cNvSpPr txBox="1"/>
          <p:nvPr/>
        </p:nvSpPr>
        <p:spPr>
          <a:xfrm>
            <a:off x="6464808" y="177393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V1</a:t>
            </a:r>
            <a:endParaRPr lang="en-US" sz="1200" dirty="0"/>
          </a:p>
        </p:txBody>
      </p:sp>
      <p:sp>
        <p:nvSpPr>
          <p:cNvPr id="14" name="Text 12"/>
          <p:cNvSpPr txBox="1"/>
          <p:nvPr/>
        </p:nvSpPr>
        <p:spPr>
          <a:xfrm>
            <a:off x="7031736" y="1792224"/>
            <a:ext cx="4352544" cy="310896"/>
          </a:xfrm>
          <a:prstGeom prst="rect">
            <a:avLst/>
          </a:prstGeom>
          <a:noFill/>
          <a:ln/>
        </p:spPr>
        <p:txBody>
          <a:bodyPr wrap="square" lIns="0" tIns="0" rIns="0" bIns="0" rtlCol="0" anchor="t"/>
          <a:lstStyle/>
          <a:p>
            <a:pPr algn="l" indent="0" marL="0">
              <a:lnSpc>
                <a:spcPct val="112000"/>
              </a:lnSpc>
              <a:buNone/>
            </a:pPr>
            <a:r>
              <a:rPr lang="en-US" sz="1700" b="1" dirty="0">
                <a:solidFill>
                  <a:srgbClr val="3A6B2E"/>
                </a:solidFill>
                <a:latin typeface="Calibri" pitchFamily="34" charset="0"/>
                <a:ea typeface="Calibri" pitchFamily="34" charset="-122"/>
                <a:cs typeface="Calibri" pitchFamily="34" charset="-120"/>
              </a:rPr>
              <a:t>Schema migrations</a:t>
            </a:r>
            <a:endParaRPr lang="en-US" sz="1700" dirty="0"/>
          </a:p>
        </p:txBody>
      </p:sp>
      <p:sp>
        <p:nvSpPr>
          <p:cNvPr id="15" name="Text 13"/>
          <p:cNvSpPr txBox="1"/>
          <p:nvPr/>
        </p:nvSpPr>
        <p:spPr>
          <a:xfrm>
            <a:off x="6464808" y="2286000"/>
            <a:ext cx="4901184" cy="256032"/>
          </a:xfrm>
          <a:prstGeom prst="rect">
            <a:avLst/>
          </a:prstGeom>
          <a:noFill/>
          <a:ln/>
        </p:spPr>
        <p:txBody>
          <a:bodyPr wrap="square" lIns="0" tIns="0" rIns="0" bIns="0" rtlCol="0" anchor="t"/>
          <a:lstStyle/>
          <a:p>
            <a:pPr algn="l" indent="0" marL="0">
              <a:lnSpc>
                <a:spcPct val="112000"/>
              </a:lnSpc>
              <a:buNone/>
            </a:pPr>
            <a:r>
              <a:rPr lang="en-US" sz="1250" i="1" dirty="0">
                <a:solidFill>
                  <a:srgbClr val="6B7A8D"/>
                </a:solidFill>
                <a:latin typeface="Calibri" pitchFamily="34" charset="0"/>
                <a:ea typeface="Calibri" pitchFamily="34" charset="-122"/>
                <a:cs typeface="Calibri" pitchFamily="34" charset="-120"/>
              </a:rPr>
              <a:t>The schema is code, versioned with the service.</a:t>
            </a:r>
            <a:endParaRPr lang="en-US" sz="1250" dirty="0"/>
          </a:p>
        </p:txBody>
      </p:sp>
      <p:sp>
        <p:nvSpPr>
          <p:cNvPr id="16" name="Text 14"/>
          <p:cNvSpPr txBox="1"/>
          <p:nvPr/>
        </p:nvSpPr>
        <p:spPr>
          <a:xfrm>
            <a:off x="6464808" y="2596896"/>
            <a:ext cx="4901184" cy="731520"/>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Product Service  —  Flyway files in db/migration/, never edited once applied, with ddl-auto: validate so a mismatch stops start-up.</a:t>
            </a:r>
            <a:endParaRPr lang="en-US" sz="1250" dirty="0"/>
          </a:p>
        </p:txBody>
      </p:sp>
      <p:sp>
        <p:nvSpPr>
          <p:cNvPr id="17" name="Text 15"/>
          <p:cNvSpPr txBox="1"/>
          <p:nvPr/>
        </p:nvSpPr>
        <p:spPr>
          <a:xfrm>
            <a:off x="6464808" y="3364992"/>
            <a:ext cx="4901184" cy="457200"/>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Order Service  —  EF Core migrations, committed and applied on start-up.</a:t>
            </a:r>
            <a:endParaRPr lang="en-US" sz="1250" dirty="0"/>
          </a:p>
        </p:txBody>
      </p:sp>
      <p:sp>
        <p:nvSpPr>
          <p:cNvPr id="18" name="Text 16"/>
          <p:cNvSpPr txBox="1"/>
          <p:nvPr/>
        </p:nvSpPr>
        <p:spPr>
          <a:xfrm>
            <a:off x="6464808" y="3785616"/>
            <a:ext cx="4901184" cy="457200"/>
          </a:xfrm>
          <a:prstGeom prst="rect">
            <a:avLst/>
          </a:prstGeom>
          <a:noFill/>
          <a:ln/>
        </p:spPr>
        <p:txBody>
          <a:bodyPr wrap="square" lIns="0" tIns="0" rIns="0" bIns="0" rtlCol="0" anchor="t"/>
          <a:lstStyle/>
          <a:p>
            <a:pPr algn="l" indent="0" marL="0">
              <a:lnSpc>
                <a:spcPct val="118000"/>
              </a:lnSpc>
              <a:buNone/>
            </a:pPr>
            <a:r>
              <a:rPr lang="en-US" sz="1250" dirty="0">
                <a:solidFill>
                  <a:srgbClr val="A8620A"/>
                </a:solidFill>
                <a:latin typeface="Calibri" pitchFamily="34" charset="0"/>
                <a:ea typeface="Calibri" pitchFamily="34" charset="-122"/>
                <a:cs typeface="Calibri" pitchFamily="34" charset="-120"/>
              </a:rPr>
              <a:t>User Service  —  still calls create_all(). Fine for local work, wrong for production. Alembic is the fix, and it is on the list.</a:t>
            </a:r>
            <a:endParaRPr lang="en-US" sz="1250" dirty="0"/>
          </a:p>
        </p:txBody>
      </p:sp>
      <p:sp>
        <p:nvSpPr>
          <p:cNvPr id="19" name="Shape 17"/>
          <p:cNvSpPr/>
          <p:nvPr/>
        </p:nvSpPr>
        <p:spPr>
          <a:xfrm>
            <a:off x="548640" y="4480560"/>
            <a:ext cx="11094415" cy="1572768"/>
          </a:xfrm>
          <a:prstGeom prst="roundRect">
            <a:avLst>
              <a:gd name="adj" fmla="val 4070"/>
            </a:avLst>
          </a:prstGeom>
          <a:solidFill>
            <a:srgbClr val="F4F6F8"/>
          </a:solidFill>
          <a:ln/>
        </p:spPr>
      </p:sp>
      <p:sp>
        <p:nvSpPr>
          <p:cNvPr id="20" name="Text 18"/>
          <p:cNvSpPr txBox="1"/>
          <p:nvPr/>
        </p:nvSpPr>
        <p:spPr>
          <a:xfrm>
            <a:off x="841248" y="4663440"/>
            <a:ext cx="10509199" cy="274320"/>
          </a:xfrm>
          <a:prstGeom prst="rect">
            <a:avLst/>
          </a:prstGeom>
          <a:noFill/>
          <a:ln/>
        </p:spPr>
        <p:txBody>
          <a:bodyPr wrap="square" lIns="0" tIns="0" rIns="0" bIns="0" rtlCol="0" anchor="t"/>
          <a:lstStyle/>
          <a:p>
            <a:pPr algn="l" indent="0" marL="0">
              <a:lnSpc>
                <a:spcPct val="112000"/>
              </a:lnSpc>
              <a:buNone/>
            </a:pPr>
            <a:r>
              <a:rPr lang="en-US" sz="1400" b="1" dirty="0">
                <a:solidFill>
                  <a:srgbClr val="1D2433"/>
                </a:solidFill>
                <a:latin typeface="Calibri" pitchFamily="34" charset="0"/>
                <a:ea typeface="Calibri" pitchFamily="34" charset="-122"/>
                <a:cs typeface="Calibri" pitchFamily="34" charset="-120"/>
              </a:rPr>
              <a:t>Every service reads its configuration from the environment — nothing else</a:t>
            </a:r>
            <a:endParaRPr lang="en-US" sz="1400" dirty="0"/>
          </a:p>
        </p:txBody>
      </p:sp>
      <p:sp>
        <p:nvSpPr>
          <p:cNvPr id="21" name="Text 19"/>
          <p:cNvSpPr txBox="1"/>
          <p:nvPr/>
        </p:nvSpPr>
        <p:spPr>
          <a:xfrm>
            <a:off x="841248" y="4992624"/>
            <a:ext cx="10509199" cy="292608"/>
          </a:xfrm>
          <a:prstGeom prst="rect">
            <a:avLst/>
          </a:prstGeom>
          <a:noFill/>
          <a:ln/>
        </p:spPr>
        <p:txBody>
          <a:bodyPr wrap="square" lIns="0" tIns="0" rIns="0" bIns="0" rtlCol="0" anchor="t"/>
          <a:lstStyle/>
          <a:p>
            <a:pPr algn="l" indent="0" marL="0">
              <a:lnSpc>
                <a:spcPct val="112000"/>
              </a:lnSpc>
              <a:buNone/>
            </a:pPr>
            <a:r>
              <a:rPr lang="en-US" sz="1100" dirty="0">
                <a:solidFill>
                  <a:srgbClr val="36454F"/>
                </a:solidFill>
                <a:latin typeface="Courier New" pitchFamily="34" charset="0"/>
                <a:ea typeface="Courier New" pitchFamily="34" charset="-122"/>
                <a:cs typeface="Courier New" pitchFamily="34" charset="-120"/>
              </a:rPr>
              <a:t>USER_SERVICE_DATABASE_URL   ·   PRODUCT_SERVICE_DATASOURCE_URL   ·   ORDER_SERVICE_ConnectionStrings__OrderDatabase</a:t>
            </a:r>
            <a:endParaRPr lang="en-US" sz="1100" dirty="0"/>
          </a:p>
        </p:txBody>
      </p:sp>
      <p:sp>
        <p:nvSpPr>
          <p:cNvPr id="22" name="Text 20"/>
          <p:cNvSpPr txBox="1"/>
          <p:nvPr/>
        </p:nvSpPr>
        <p:spPr>
          <a:xfrm>
            <a:off x="841248" y="5340096"/>
            <a:ext cx="10509199" cy="713232"/>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One prefix per service, and in .NET a double underscore is the configuration-section separator — so the same value can arrive from appsettings.json, from an env var or from a Kubernetes secret and no code knows the difference. That is what makes one image run in three places.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D2433"/>
        </a:solidFill>
      </p:bgPr>
    </p:bg>
    <p:spTree>
      <p:nvGrpSpPr>
        <p:cNvPr id="1" name=""/>
        <p:cNvGrpSpPr/>
        <p:nvPr/>
      </p:nvGrpSpPr>
      <p:grpSpPr>
        <a:xfrm>
          <a:off x="0" y="0"/>
          <a:ext cx="0" cy="0"/>
          <a:chOff x="0" y="0"/>
          <a:chExt cx="0" cy="0"/>
        </a:xfrm>
      </p:grpSpPr>
      <p:sp>
        <p:nvSpPr>
          <p:cNvPr id="2" name="Shape 0"/>
          <p:cNvSpPr/>
          <p:nvPr/>
        </p:nvSpPr>
        <p:spPr>
          <a:xfrm>
            <a:off x="548640" y="1417320"/>
            <a:ext cx="786384" cy="786384"/>
          </a:xfrm>
          <a:prstGeom prst="ellipse">
            <a:avLst/>
          </a:prstGeom>
          <a:solidFill>
            <a:srgbClr val="C98A9B"/>
          </a:solidFill>
          <a:ln/>
        </p:spPr>
      </p:sp>
      <p:sp>
        <p:nvSpPr>
          <p:cNvPr id="3" name="Text 1"/>
          <p:cNvSpPr txBox="1"/>
          <p:nvPr/>
        </p:nvSpPr>
        <p:spPr>
          <a:xfrm>
            <a:off x="548640" y="1417320"/>
            <a:ext cx="786384" cy="786384"/>
          </a:xfrm>
          <a:prstGeom prst="rect">
            <a:avLst/>
          </a:prstGeom>
          <a:noFill/>
          <a:ln/>
        </p:spPr>
        <p:txBody>
          <a:bodyPr wrap="square" lIns="0" tIns="0" rIns="0" bIns="0" rtlCol="0" anchor="ctr"/>
          <a:lstStyle/>
          <a:p>
            <a:pPr algn="ctr" indent="0" marL="0">
              <a:buNone/>
            </a:pPr>
            <a:r>
              <a:rPr lang="en-US" sz="2600" b="1" dirty="0">
                <a:solidFill>
                  <a:srgbClr val="1D2433"/>
                </a:solidFill>
                <a:latin typeface="Calibri" pitchFamily="34" charset="0"/>
                <a:ea typeface="Calibri" pitchFamily="34" charset="-122"/>
                <a:cs typeface="Calibri" pitchFamily="34" charset="-120"/>
              </a:rPr>
              <a:t>3</a:t>
            </a:r>
            <a:endParaRPr lang="en-US" sz="2600" dirty="0"/>
          </a:p>
        </p:txBody>
      </p:sp>
      <p:sp>
        <p:nvSpPr>
          <p:cNvPr id="4" name="Text 2"/>
          <p:cNvSpPr txBox="1"/>
          <p:nvPr/>
        </p:nvSpPr>
        <p:spPr>
          <a:xfrm>
            <a:off x="548640" y="2432304"/>
            <a:ext cx="11094415" cy="256032"/>
          </a:xfrm>
          <a:prstGeom prst="rect">
            <a:avLst/>
          </a:prstGeom>
          <a:noFill/>
          <a:ln/>
        </p:spPr>
        <p:txBody>
          <a:bodyPr wrap="square" lIns="0" tIns="0" rIns="0" bIns="0" rtlCol="0" anchor="t"/>
          <a:lstStyle/>
          <a:p>
            <a:pPr algn="l" indent="0" marL="0">
              <a:lnSpc>
                <a:spcPct val="112000"/>
              </a:lnSpc>
              <a:buNone/>
            </a:pPr>
            <a:r>
              <a:rPr lang="en-US" sz="1200" b="1" spc="250" kern="0" dirty="0">
                <a:solidFill>
                  <a:srgbClr val="C98A9B"/>
                </a:solidFill>
                <a:latin typeface="Calibri" pitchFamily="34" charset="0"/>
                <a:ea typeface="Calibri" pitchFamily="34" charset="-122"/>
                <a:cs typeface="Calibri" pitchFamily="34" charset="-120"/>
              </a:rPr>
              <a:t>WEEK 3  ·  DAYS 15-21</a:t>
            </a:r>
            <a:endParaRPr lang="en-US" sz="1200" dirty="0"/>
          </a:p>
        </p:txBody>
      </p:sp>
      <p:sp>
        <p:nvSpPr>
          <p:cNvPr id="5" name="Text 3"/>
          <p:cNvSpPr txBox="1"/>
          <p:nvPr/>
        </p:nvSpPr>
        <p:spPr>
          <a:xfrm>
            <a:off x="548640" y="2743200"/>
            <a:ext cx="10424160" cy="804672"/>
          </a:xfrm>
          <a:prstGeom prst="rect">
            <a:avLst/>
          </a:prstGeom>
          <a:noFill/>
          <a:ln/>
        </p:spPr>
        <p:txBody>
          <a:bodyPr wrap="square" lIns="0" tIns="0" rIns="0" bIns="0" rtlCol="0" anchor="t"/>
          <a:lstStyle/>
          <a:p>
            <a:pPr algn="l" indent="0" marL="0">
              <a:lnSpc>
                <a:spcPct val="112000"/>
              </a:lnSpc>
              <a:buNone/>
            </a:pPr>
            <a:r>
              <a:rPr lang="en-US" sz="3300" b="1" dirty="0">
                <a:solidFill>
                  <a:srgbClr val="FFFFFF"/>
                </a:solidFill>
                <a:latin typeface="Cambria" pitchFamily="34" charset="0"/>
                <a:ea typeface="Cambria" pitchFamily="34" charset="-122"/>
                <a:cs typeface="Cambria" pitchFamily="34" charset="-120"/>
              </a:rPr>
              <a:t>The Order Service, and calls that can fail</a:t>
            </a:r>
            <a:endParaRPr lang="en-US" sz="3300" dirty="0"/>
          </a:p>
        </p:txBody>
      </p:sp>
      <p:sp>
        <p:nvSpPr>
          <p:cNvPr id="6" name="Text 4"/>
          <p:cNvSpPr txBox="1"/>
          <p:nvPr/>
        </p:nvSpPr>
        <p:spPr>
          <a:xfrm>
            <a:off x="585216" y="3703320"/>
            <a:ext cx="8778240" cy="1737360"/>
          </a:xfrm>
          <a:prstGeom prst="rect">
            <a:avLst/>
          </a:prstGeom>
          <a:noFill/>
          <a:ln/>
        </p:spPr>
        <p:txBody>
          <a:bodyPr wrap="square" lIns="0" tIns="0" rIns="0" bIns="0" rtlCol="0" anchor="ctr"/>
          <a:lstStyle/>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Order Service — .NET 8, EF Core, an aggregate with an explicit state machine · 70 tests</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The first cross-service calls: Order → User and Order → Product</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Timeouts, retry with backoff and jitter, circuit breakers — and when not to retry</a:t>
            </a:r>
            <a:endParaRPr lang="en-US" sz="1550" dirty="0"/>
          </a:p>
          <a:p>
            <a:pPr marL="342900" indent="-342900">
              <a:spcAft>
                <a:spcPts val="900"/>
              </a:spcAft>
              <a:buSzPct val="100000"/>
              <a:buChar char="•"/>
            </a:pPr>
            <a:r>
              <a:rPr lang="en-US" sz="1550" dirty="0">
                <a:solidFill>
                  <a:srgbClr val="C7D2DE"/>
                </a:solidFill>
                <a:latin typeface="Calibri" pitchFamily="34" charset="0"/>
                <a:ea typeface="Calibri" pitchFamily="34" charset="-122"/>
                <a:cs typeface="Calibri" pitchFamily="34" charset="-120"/>
              </a:rPr>
              <a:t>Compensation when the third reservation fails and the first two already succeeded</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THE AGGREGATE</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An order is a state machine, not a status column</a:t>
            </a:r>
            <a:endParaRPr lang="en-US" sz="2900" dirty="0"/>
          </a:p>
        </p:txBody>
      </p:sp>
      <p:sp>
        <p:nvSpPr>
          <p:cNvPr id="4" name="Text 2"/>
          <p:cNvSpPr txBox="1"/>
          <p:nvPr/>
        </p:nvSpPr>
        <p:spPr>
          <a:xfrm>
            <a:off x="548640" y="1463040"/>
            <a:ext cx="11094415" cy="219456"/>
          </a:xfrm>
          <a:prstGeom prst="rect">
            <a:avLst/>
          </a:prstGeom>
          <a:noFill/>
          <a:ln/>
        </p:spPr>
        <p:txBody>
          <a:bodyPr wrap="square" lIns="0" tIns="0" rIns="0" bIns="0" rtlCol="0" anchor="t"/>
          <a:lstStyle/>
          <a:p>
            <a:pPr algn="l" indent="0" marL="0">
              <a:lnSpc>
                <a:spcPct val="112000"/>
              </a:lnSpc>
              <a:buNone/>
            </a:pPr>
            <a:r>
              <a:rPr lang="en-US" sz="1050" b="1" spc="150" kern="0" dirty="0">
                <a:solidFill>
                  <a:srgbClr val="6B7A8D"/>
                </a:solidFill>
                <a:latin typeface="Calibri" pitchFamily="34" charset="0"/>
                <a:ea typeface="Calibri" pitchFamily="34" charset="-122"/>
                <a:cs typeface="Calibri" pitchFamily="34" charset="-120"/>
              </a:rPr>
              <a:t>THE HAPPY PATH</a:t>
            </a:r>
            <a:endParaRPr lang="en-US" sz="1050" dirty="0"/>
          </a:p>
        </p:txBody>
      </p:sp>
      <p:sp>
        <p:nvSpPr>
          <p:cNvPr id="5" name="Shape 3"/>
          <p:cNvSpPr/>
          <p:nvPr/>
        </p:nvSpPr>
        <p:spPr>
          <a:xfrm>
            <a:off x="1020928" y="1737360"/>
            <a:ext cx="2194560" cy="676656"/>
          </a:xfrm>
          <a:prstGeom prst="roundRect">
            <a:avLst>
              <a:gd name="adj" fmla="val 9459"/>
            </a:avLst>
          </a:prstGeom>
          <a:solidFill>
            <a:srgbClr val="F6EAEE"/>
          </a:solidFill>
          <a:ln/>
        </p:spPr>
      </p:sp>
      <p:sp>
        <p:nvSpPr>
          <p:cNvPr id="6" name="Text 4"/>
          <p:cNvSpPr txBox="1"/>
          <p:nvPr/>
        </p:nvSpPr>
        <p:spPr>
          <a:xfrm>
            <a:off x="1020928" y="1737360"/>
            <a:ext cx="2194560" cy="676656"/>
          </a:xfrm>
          <a:prstGeom prst="rect">
            <a:avLst/>
          </a:prstGeom>
          <a:noFill/>
          <a:ln/>
        </p:spPr>
        <p:txBody>
          <a:bodyPr wrap="square" lIns="0" tIns="0" rIns="0" bIns="0" rtlCol="0" anchor="ctr"/>
          <a:lstStyle/>
          <a:p>
            <a:pPr algn="ctr" indent="0" marL="0">
              <a:lnSpc>
                <a:spcPct val="112000"/>
              </a:lnSpc>
              <a:buNone/>
            </a:pPr>
            <a:r>
              <a:rPr lang="en-US" sz="1400" b="1" dirty="0">
                <a:solidFill>
                  <a:srgbClr val="6D2E46"/>
                </a:solidFill>
                <a:latin typeface="Calibri" pitchFamily="34" charset="0"/>
                <a:ea typeface="Calibri" pitchFamily="34" charset="-122"/>
                <a:cs typeface="Calibri" pitchFamily="34" charset="-120"/>
              </a:rPr>
              <a:t>Pending</a:t>
            </a:r>
            <a:endParaRPr lang="en-US" sz="1400" dirty="0"/>
          </a:p>
        </p:txBody>
      </p:sp>
      <p:sp>
        <p:nvSpPr>
          <p:cNvPr id="7" name="Shape 5"/>
          <p:cNvSpPr/>
          <p:nvPr/>
        </p:nvSpPr>
        <p:spPr>
          <a:xfrm>
            <a:off x="3288640" y="2075688"/>
            <a:ext cx="310896" cy="0"/>
          </a:xfrm>
          <a:prstGeom prst="line">
            <a:avLst/>
          </a:prstGeom>
          <a:noFill/>
          <a:ln w="19050">
            <a:solidFill>
              <a:srgbClr val="6D2E46"/>
            </a:solidFill>
            <a:prstDash val="solid"/>
            <a:tailEnd type="triangle"/>
          </a:ln>
        </p:spPr>
      </p:sp>
      <p:sp>
        <p:nvSpPr>
          <p:cNvPr id="8" name="Shape 6"/>
          <p:cNvSpPr/>
          <p:nvPr/>
        </p:nvSpPr>
        <p:spPr>
          <a:xfrm>
            <a:off x="3672688" y="1737360"/>
            <a:ext cx="2194560" cy="676656"/>
          </a:xfrm>
          <a:prstGeom prst="roundRect">
            <a:avLst>
              <a:gd name="adj" fmla="val 9459"/>
            </a:avLst>
          </a:prstGeom>
          <a:solidFill>
            <a:srgbClr val="F6EAEE"/>
          </a:solidFill>
          <a:ln/>
        </p:spPr>
      </p:sp>
      <p:sp>
        <p:nvSpPr>
          <p:cNvPr id="9" name="Text 7"/>
          <p:cNvSpPr txBox="1"/>
          <p:nvPr/>
        </p:nvSpPr>
        <p:spPr>
          <a:xfrm>
            <a:off x="3672688" y="1737360"/>
            <a:ext cx="2194560" cy="676656"/>
          </a:xfrm>
          <a:prstGeom prst="rect">
            <a:avLst/>
          </a:prstGeom>
          <a:noFill/>
          <a:ln/>
        </p:spPr>
        <p:txBody>
          <a:bodyPr wrap="square" lIns="0" tIns="0" rIns="0" bIns="0" rtlCol="0" anchor="ctr"/>
          <a:lstStyle/>
          <a:p>
            <a:pPr algn="ctr" indent="0" marL="0">
              <a:lnSpc>
                <a:spcPct val="112000"/>
              </a:lnSpc>
              <a:buNone/>
            </a:pPr>
            <a:r>
              <a:rPr lang="en-US" sz="1400" b="1" dirty="0">
                <a:solidFill>
                  <a:srgbClr val="6D2E46"/>
                </a:solidFill>
                <a:latin typeface="Calibri" pitchFamily="34" charset="0"/>
                <a:ea typeface="Calibri" pitchFamily="34" charset="-122"/>
                <a:cs typeface="Calibri" pitchFamily="34" charset="-120"/>
              </a:rPr>
              <a:t>AwaitingPayment</a:t>
            </a:r>
            <a:endParaRPr lang="en-US" sz="1400" dirty="0"/>
          </a:p>
        </p:txBody>
      </p:sp>
      <p:sp>
        <p:nvSpPr>
          <p:cNvPr id="10" name="Shape 8"/>
          <p:cNvSpPr/>
          <p:nvPr/>
        </p:nvSpPr>
        <p:spPr>
          <a:xfrm>
            <a:off x="5940400" y="2075688"/>
            <a:ext cx="310896" cy="0"/>
          </a:xfrm>
          <a:prstGeom prst="line">
            <a:avLst/>
          </a:prstGeom>
          <a:noFill/>
          <a:ln w="19050">
            <a:solidFill>
              <a:srgbClr val="6D2E46"/>
            </a:solidFill>
            <a:prstDash val="solid"/>
            <a:tailEnd type="triangle"/>
          </a:ln>
        </p:spPr>
      </p:sp>
      <p:sp>
        <p:nvSpPr>
          <p:cNvPr id="11" name="Shape 9"/>
          <p:cNvSpPr/>
          <p:nvPr/>
        </p:nvSpPr>
        <p:spPr>
          <a:xfrm>
            <a:off x="6324448" y="1737360"/>
            <a:ext cx="2194560" cy="676656"/>
          </a:xfrm>
          <a:prstGeom prst="roundRect">
            <a:avLst>
              <a:gd name="adj" fmla="val 9459"/>
            </a:avLst>
          </a:prstGeom>
          <a:solidFill>
            <a:srgbClr val="F6EAEE"/>
          </a:solidFill>
          <a:ln/>
        </p:spPr>
      </p:sp>
      <p:sp>
        <p:nvSpPr>
          <p:cNvPr id="12" name="Text 10"/>
          <p:cNvSpPr txBox="1"/>
          <p:nvPr/>
        </p:nvSpPr>
        <p:spPr>
          <a:xfrm>
            <a:off x="6324448" y="1737360"/>
            <a:ext cx="2194560" cy="676656"/>
          </a:xfrm>
          <a:prstGeom prst="rect">
            <a:avLst/>
          </a:prstGeom>
          <a:noFill/>
          <a:ln/>
        </p:spPr>
        <p:txBody>
          <a:bodyPr wrap="square" lIns="0" tIns="0" rIns="0" bIns="0" rtlCol="0" anchor="ctr"/>
          <a:lstStyle/>
          <a:p>
            <a:pPr algn="ctr" indent="0" marL="0">
              <a:lnSpc>
                <a:spcPct val="112000"/>
              </a:lnSpc>
              <a:buNone/>
            </a:pPr>
            <a:r>
              <a:rPr lang="en-US" sz="1400" b="1" dirty="0">
                <a:solidFill>
                  <a:srgbClr val="6D2E46"/>
                </a:solidFill>
                <a:latin typeface="Calibri" pitchFamily="34" charset="0"/>
                <a:ea typeface="Calibri" pitchFamily="34" charset="-122"/>
                <a:cs typeface="Calibri" pitchFamily="34" charset="-120"/>
              </a:rPr>
              <a:t>Paid</a:t>
            </a:r>
            <a:endParaRPr lang="en-US" sz="1400" dirty="0"/>
          </a:p>
        </p:txBody>
      </p:sp>
      <p:sp>
        <p:nvSpPr>
          <p:cNvPr id="13" name="Shape 11"/>
          <p:cNvSpPr/>
          <p:nvPr/>
        </p:nvSpPr>
        <p:spPr>
          <a:xfrm>
            <a:off x="8592160" y="2075688"/>
            <a:ext cx="310896" cy="0"/>
          </a:xfrm>
          <a:prstGeom prst="line">
            <a:avLst/>
          </a:prstGeom>
          <a:noFill/>
          <a:ln w="19050">
            <a:solidFill>
              <a:srgbClr val="6D2E46"/>
            </a:solidFill>
            <a:prstDash val="solid"/>
            <a:tailEnd type="triangle"/>
          </a:ln>
        </p:spPr>
      </p:sp>
      <p:sp>
        <p:nvSpPr>
          <p:cNvPr id="14" name="Shape 12"/>
          <p:cNvSpPr/>
          <p:nvPr/>
        </p:nvSpPr>
        <p:spPr>
          <a:xfrm>
            <a:off x="8976208" y="1737360"/>
            <a:ext cx="2194560" cy="676656"/>
          </a:xfrm>
          <a:prstGeom prst="roundRect">
            <a:avLst>
              <a:gd name="adj" fmla="val 9459"/>
            </a:avLst>
          </a:prstGeom>
          <a:solidFill>
            <a:srgbClr val="EDF2E7"/>
          </a:solidFill>
          <a:ln/>
        </p:spPr>
      </p:sp>
      <p:sp>
        <p:nvSpPr>
          <p:cNvPr id="15" name="Text 13"/>
          <p:cNvSpPr txBox="1"/>
          <p:nvPr/>
        </p:nvSpPr>
        <p:spPr>
          <a:xfrm>
            <a:off x="8976208" y="1737360"/>
            <a:ext cx="2194560" cy="676656"/>
          </a:xfrm>
          <a:prstGeom prst="rect">
            <a:avLst/>
          </a:prstGeom>
          <a:noFill/>
          <a:ln/>
        </p:spPr>
        <p:txBody>
          <a:bodyPr wrap="square" lIns="0" tIns="0" rIns="0" bIns="0" rtlCol="0" anchor="ctr"/>
          <a:lstStyle/>
          <a:p>
            <a:pPr algn="ctr" indent="0" marL="0">
              <a:lnSpc>
                <a:spcPct val="112000"/>
              </a:lnSpc>
              <a:buNone/>
            </a:pPr>
            <a:r>
              <a:rPr lang="en-US" sz="1400" b="1" dirty="0">
                <a:solidFill>
                  <a:srgbClr val="3A6B2E"/>
                </a:solidFill>
                <a:latin typeface="Calibri" pitchFamily="34" charset="0"/>
                <a:ea typeface="Calibri" pitchFamily="34" charset="-122"/>
                <a:cs typeface="Calibri" pitchFamily="34" charset="-120"/>
              </a:rPr>
              <a:t>Shipped</a:t>
            </a:r>
            <a:endParaRPr lang="en-US" sz="1400" dirty="0"/>
          </a:p>
        </p:txBody>
      </p:sp>
      <p:sp>
        <p:nvSpPr>
          <p:cNvPr id="16" name="Text 14"/>
          <p:cNvSpPr txBox="1"/>
          <p:nvPr/>
        </p:nvSpPr>
        <p:spPr>
          <a:xfrm>
            <a:off x="2758288" y="1481328"/>
            <a:ext cx="1371600" cy="219456"/>
          </a:xfrm>
          <a:prstGeom prst="rect">
            <a:avLst/>
          </a:prstGeom>
          <a:noFill/>
          <a:ln/>
        </p:spPr>
        <p:txBody>
          <a:bodyPr wrap="square" lIns="0" tIns="0" rIns="0" bIns="0" rtlCol="0" anchor="t"/>
          <a:lstStyle/>
          <a:p>
            <a:pPr algn="ctr" indent="0" marL="0">
              <a:lnSpc>
                <a:spcPct val="112000"/>
              </a:lnSpc>
              <a:buNone/>
            </a:pPr>
            <a:r>
              <a:rPr lang="en-US" sz="950" dirty="0">
                <a:solidFill>
                  <a:srgbClr val="6B7A8D"/>
                </a:solidFill>
                <a:latin typeface="Calibri" pitchFamily="34" charset="0"/>
                <a:ea typeface="Calibri" pitchFamily="34" charset="-122"/>
                <a:cs typeface="Calibri" pitchFamily="34" charset="-120"/>
              </a:rPr>
              <a:t>stock reserved</a:t>
            </a:r>
            <a:endParaRPr lang="en-US" sz="950" dirty="0"/>
          </a:p>
        </p:txBody>
      </p:sp>
      <p:sp>
        <p:nvSpPr>
          <p:cNvPr id="17" name="Text 15"/>
          <p:cNvSpPr txBox="1"/>
          <p:nvPr/>
        </p:nvSpPr>
        <p:spPr>
          <a:xfrm>
            <a:off x="5410048" y="1481328"/>
            <a:ext cx="1371600" cy="219456"/>
          </a:xfrm>
          <a:prstGeom prst="rect">
            <a:avLst/>
          </a:prstGeom>
          <a:noFill/>
          <a:ln/>
        </p:spPr>
        <p:txBody>
          <a:bodyPr wrap="square" lIns="0" tIns="0" rIns="0" bIns="0" rtlCol="0" anchor="t"/>
          <a:lstStyle/>
          <a:p>
            <a:pPr algn="ctr" indent="0" marL="0">
              <a:lnSpc>
                <a:spcPct val="112000"/>
              </a:lnSpc>
              <a:buNone/>
            </a:pPr>
            <a:r>
              <a:rPr lang="en-US" sz="950" dirty="0">
                <a:solidFill>
                  <a:srgbClr val="6B7A8D"/>
                </a:solidFill>
                <a:latin typeface="Calibri" pitchFamily="34" charset="0"/>
                <a:ea typeface="Calibri" pitchFamily="34" charset="-122"/>
                <a:cs typeface="Calibri" pitchFamily="34" charset="-120"/>
              </a:rPr>
              <a:t>payment taken</a:t>
            </a:r>
            <a:endParaRPr lang="en-US" sz="950" dirty="0"/>
          </a:p>
        </p:txBody>
      </p:sp>
      <p:sp>
        <p:nvSpPr>
          <p:cNvPr id="18" name="Text 16"/>
          <p:cNvSpPr txBox="1"/>
          <p:nvPr/>
        </p:nvSpPr>
        <p:spPr>
          <a:xfrm>
            <a:off x="8061808" y="1481328"/>
            <a:ext cx="1371600" cy="219456"/>
          </a:xfrm>
          <a:prstGeom prst="rect">
            <a:avLst/>
          </a:prstGeom>
          <a:noFill/>
          <a:ln/>
        </p:spPr>
        <p:txBody>
          <a:bodyPr wrap="square" lIns="0" tIns="0" rIns="0" bIns="0" rtlCol="0" anchor="t"/>
          <a:lstStyle/>
          <a:p>
            <a:pPr algn="ctr" indent="0" marL="0">
              <a:lnSpc>
                <a:spcPct val="112000"/>
              </a:lnSpc>
              <a:buNone/>
            </a:pPr>
            <a:r>
              <a:rPr lang="en-US" sz="950" dirty="0">
                <a:solidFill>
                  <a:srgbClr val="6B7A8D"/>
                </a:solidFill>
                <a:latin typeface="Calibri" pitchFamily="34" charset="0"/>
                <a:ea typeface="Calibri" pitchFamily="34" charset="-122"/>
                <a:cs typeface="Calibri" pitchFamily="34" charset="-120"/>
              </a:rPr>
              <a:t>dispatched</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5486400" cy="914400"/>
        </p:xfrm>
        <a:graphic>
          <a:graphicData uri="http://schemas.openxmlformats.org/drawingml/2006/table">
            <a:tbl>
              <a:tblPr/>
              <a:tblGrid>
                <a:gridCol w="1920240"/>
                <a:gridCol w="35661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From</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May move to</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Pending</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AwaitingPayment  ·  Cancelled  ·  Failed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AwaitingPayment</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Paid  ·  Cancelled  ·  Failed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Paid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150" dirty="0">
                          <a:solidFill>
                            <a:srgbClr val="36454F"/>
                          </a:solidFill>
                          <a:latin typeface="Calibri" pitchFamily="34" charset="0"/>
                          <a:ea typeface="Calibri" pitchFamily="34" charset="-122"/>
                          <a:cs typeface="Calibri" pitchFamily="34" charset="-120"/>
                        </a:rPr>
                        <a:t>Shipped  ·  Cancelled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Shipped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150" i="1" dirty="0">
                          <a:solidFill>
                            <a:srgbClr val="6B7A8D"/>
                          </a:solidFill>
                          <a:latin typeface="Calibri" pitchFamily="34" charset="0"/>
                          <a:ea typeface="Calibri" pitchFamily="34" charset="-122"/>
                          <a:cs typeface="Calibri" pitchFamily="34" charset="-120"/>
                        </a:rPr>
                        <a:t>terminal</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Cancelled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150" i="1" dirty="0">
                          <a:solidFill>
                            <a:srgbClr val="6B7A8D"/>
                          </a:solidFill>
                          <a:latin typeface="Calibri" pitchFamily="34" charset="0"/>
                          <a:ea typeface="Calibri" pitchFamily="34" charset="-122"/>
                          <a:cs typeface="Calibri" pitchFamily="34" charset="-120"/>
                        </a:rPr>
                        <a:t>terminal</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10896">
                <a:tc>
                  <a:txBody>
                    <a:bodyPr/>
                    <a:lstStyle/>
                    <a:p>
                      <a:pPr indent="0" marL="0">
                        <a:buNone/>
                      </a:pPr>
                      <a:r>
                        <a:rPr lang="en-US" sz="1150" b="1" dirty="0">
                          <a:solidFill>
                            <a:srgbClr val="1D2433"/>
                          </a:solidFill>
                          <a:latin typeface="Calibri" pitchFamily="34" charset="0"/>
                          <a:ea typeface="Calibri" pitchFamily="34" charset="-122"/>
                          <a:cs typeface="Calibri" pitchFamily="34" charset="-120"/>
                        </a:rPr>
                        <a:t>Failed</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150" i="1" dirty="0">
                          <a:solidFill>
                            <a:srgbClr val="6B7A8D"/>
                          </a:solidFill>
                          <a:latin typeface="Calibri" pitchFamily="34" charset="0"/>
                          <a:ea typeface="Calibri" pitchFamily="34" charset="-122"/>
                          <a:cs typeface="Calibri" pitchFamily="34" charset="-120"/>
                        </a:rPr>
                        <a:t>terminal</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bl>
          </a:graphicData>
        </a:graphic>
      </p:graphicFrame>
      <p:sp>
        <p:nvSpPr>
          <p:cNvPr id="20" name="Shape 17"/>
          <p:cNvSpPr/>
          <p:nvPr/>
        </p:nvSpPr>
        <p:spPr>
          <a:xfrm>
            <a:off x="6227064" y="2834640"/>
            <a:ext cx="5415991" cy="1097280"/>
          </a:xfrm>
          <a:prstGeom prst="roundRect">
            <a:avLst>
              <a:gd name="adj" fmla="val 5833"/>
            </a:avLst>
          </a:prstGeom>
          <a:solidFill>
            <a:srgbClr val="FBF2E4"/>
          </a:solidFill>
          <a:ln/>
        </p:spPr>
      </p:sp>
      <p:sp>
        <p:nvSpPr>
          <p:cNvPr id="21" name="Text 18"/>
          <p:cNvSpPr txBox="1"/>
          <p:nvPr/>
        </p:nvSpPr>
        <p:spPr>
          <a:xfrm>
            <a:off x="6483096" y="2999232"/>
            <a:ext cx="4903927" cy="256032"/>
          </a:xfrm>
          <a:prstGeom prst="rect">
            <a:avLst/>
          </a:prstGeom>
          <a:noFill/>
          <a:ln/>
        </p:spPr>
        <p:txBody>
          <a:bodyPr wrap="square" lIns="0" tIns="0" rIns="0" bIns="0" rtlCol="0" anchor="t"/>
          <a:lstStyle/>
          <a:p>
            <a:pPr algn="l" indent="0" marL="0">
              <a:lnSpc>
                <a:spcPct val="112000"/>
              </a:lnSpc>
              <a:buNone/>
            </a:pPr>
            <a:r>
              <a:rPr lang="en-US" sz="1350" b="1" dirty="0">
                <a:solidFill>
                  <a:srgbClr val="A8620A"/>
                </a:solidFill>
                <a:latin typeface="Calibri" pitchFamily="34" charset="0"/>
                <a:ea typeface="Calibri" pitchFamily="34" charset="-122"/>
                <a:cs typeface="Calibri" pitchFamily="34" charset="-120"/>
              </a:rPr>
              <a:t>Paid → Cancelled is the refund path</a:t>
            </a:r>
            <a:endParaRPr lang="en-US" sz="1350" dirty="0"/>
          </a:p>
        </p:txBody>
      </p:sp>
      <p:sp>
        <p:nvSpPr>
          <p:cNvPr id="22" name="Text 19"/>
          <p:cNvSpPr txBox="1"/>
          <p:nvPr/>
        </p:nvSpPr>
        <p:spPr>
          <a:xfrm>
            <a:off x="6483096" y="3291840"/>
            <a:ext cx="4903927" cy="548640"/>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Which is exactly why cancelling a paid order needs a compensating action, not just a change of status. Money has already moved.</a:t>
            </a:r>
            <a:endParaRPr lang="en-US" sz="1200" dirty="0"/>
          </a:p>
        </p:txBody>
      </p:sp>
      <p:sp>
        <p:nvSpPr>
          <p:cNvPr id="23" name="Shape 20"/>
          <p:cNvSpPr/>
          <p:nvPr/>
        </p:nvSpPr>
        <p:spPr>
          <a:xfrm>
            <a:off x="6227064" y="4069080"/>
            <a:ext cx="5415991" cy="1161288"/>
          </a:xfrm>
          <a:prstGeom prst="roundRect">
            <a:avLst>
              <a:gd name="adj" fmla="val 5512"/>
            </a:avLst>
          </a:prstGeom>
          <a:solidFill>
            <a:srgbClr val="F4F6F8"/>
          </a:solidFill>
          <a:ln/>
        </p:spPr>
      </p:sp>
      <p:sp>
        <p:nvSpPr>
          <p:cNvPr id="24" name="Text 21"/>
          <p:cNvSpPr txBox="1"/>
          <p:nvPr/>
        </p:nvSpPr>
        <p:spPr>
          <a:xfrm>
            <a:off x="6483096" y="4233672"/>
            <a:ext cx="4903927"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Everything else is rejected by default</a:t>
            </a:r>
            <a:endParaRPr lang="en-US" sz="1350" dirty="0"/>
          </a:p>
        </p:txBody>
      </p:sp>
      <p:sp>
        <p:nvSpPr>
          <p:cNvPr id="25" name="Text 22"/>
          <p:cNvSpPr txBox="1"/>
          <p:nvPr/>
        </p:nvSpPr>
        <p:spPr>
          <a:xfrm>
            <a:off x="6483096" y="4526280"/>
            <a:ext cx="4903927" cy="658368"/>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The table is the single source of truth (OrderStateMachine). Any transition not in it fails with 409 invalid_order_transition — the safe direction for a state machine to fail in.</a:t>
            </a:r>
            <a:endParaRPr lang="en-US" sz="1200" dirty="0"/>
          </a:p>
        </p:txBody>
      </p:sp>
      <p:sp>
        <p:nvSpPr>
          <p:cNvPr id="26" name="Shape 23"/>
          <p:cNvSpPr/>
          <p:nvPr/>
        </p:nvSpPr>
        <p:spPr>
          <a:xfrm>
            <a:off x="548640" y="5321808"/>
            <a:ext cx="11094415" cy="932688"/>
          </a:xfrm>
          <a:prstGeom prst="roundRect">
            <a:avLst>
              <a:gd name="adj" fmla="val 6863"/>
            </a:avLst>
          </a:prstGeom>
          <a:solidFill>
            <a:srgbClr val="F6EAEE"/>
          </a:solidFill>
          <a:ln/>
        </p:spPr>
      </p:sp>
      <p:sp>
        <p:nvSpPr>
          <p:cNvPr id="27" name="Text 24"/>
          <p:cNvSpPr txBox="1"/>
          <p:nvPr/>
        </p:nvSpPr>
        <p:spPr>
          <a:xfrm>
            <a:off x="841248" y="5486400"/>
            <a:ext cx="10509199" cy="713232"/>
          </a:xfrm>
          <a:prstGeom prst="rect">
            <a:avLst/>
          </a:prstGeom>
          <a:noFill/>
          <a:ln/>
        </p:spPr>
        <p:txBody>
          <a:bodyPr wrap="square" lIns="0" tIns="0" rIns="0" bIns="0" rtlCol="0" anchor="t"/>
          <a:lstStyle/>
          <a:p>
            <a:pPr algn="l" indent="0" marL="0">
              <a:lnSpc>
                <a:spcPct val="118000"/>
              </a:lnSpc>
              <a:buNone/>
            </a:pPr>
            <a:r>
              <a:rPr lang="en-US" sz="1250" dirty="0">
                <a:solidFill>
                  <a:srgbClr val="1D2433"/>
                </a:solidFill>
                <a:latin typeface="Calibri" pitchFamily="34" charset="0"/>
                <a:ea typeface="Calibri" pitchFamily="34" charset="-122"/>
                <a:cs typeface="Calibri" pitchFamily="34" charset="-120"/>
              </a:rPr>
              <a:t>Order.MarkShipped() throws if the order is not Paid — in the aggregate, not the endpoint and not the handler. In week 4 payment confirmation stops being an HTTP call and becomes a PaymentProcessed event consumer, and these rules will not change at all, because nothing about them was ever tied to HTTP.</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WEEK 3 CONCEPT 1</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The week the missing join becomes real</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An order line stores a product_id with no foreign key, because the products table lives in another database owned by another service.</a:t>
            </a:r>
            <a:endParaRPr lang="en-US" sz="1350" dirty="0"/>
          </a:p>
        </p:txBody>
      </p:sp>
      <p:sp>
        <p:nvSpPr>
          <p:cNvPr id="5" name="Shape 3"/>
          <p:cNvSpPr/>
          <p:nvPr/>
        </p:nvSpPr>
        <p:spPr>
          <a:xfrm>
            <a:off x="548640" y="1627632"/>
            <a:ext cx="6035040" cy="2487168"/>
          </a:xfrm>
          <a:prstGeom prst="roundRect">
            <a:avLst>
              <a:gd name="adj" fmla="val 1471"/>
            </a:avLst>
          </a:prstGeom>
          <a:solidFill>
            <a:srgbClr val="222A35"/>
          </a:solidFill>
          <a:ln/>
          <a:effectLst>
            <a:outerShdw sx="100000" sy="100000" kx="0" ky="0" algn="bl" rotWithShape="0" blurRad="127000" dist="25400" dir="5400000">
              <a:srgbClr val="8F9EAC">
                <a:alpha val="22000"/>
              </a:srgbClr>
            </a:outerShdw>
          </a:effectLst>
        </p:spPr>
      </p:sp>
      <p:sp>
        <p:nvSpPr>
          <p:cNvPr id="6" name="Text 4"/>
          <p:cNvSpPr txBox="1"/>
          <p:nvPr/>
        </p:nvSpPr>
        <p:spPr>
          <a:xfrm>
            <a:off x="731520" y="1773936"/>
            <a:ext cx="5669280" cy="2194560"/>
          </a:xfrm>
          <a:prstGeom prst="rect">
            <a:avLst/>
          </a:prstGeom>
          <a:noFill/>
          <a:ln/>
        </p:spPr>
        <p:txBody>
          <a:bodyPr wrap="square" lIns="0" tIns="0" rIns="0" bIns="0" rtlCol="0" anchor="t"/>
          <a:lstStyle/>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POST /api/v1/orders  -&gt;  what gets stored on the line</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"productId": "7c9e...b21",      // the id: part of the contract</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"sku":       "SKU-12",          // copied at the moment of ordering</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"name":      "Cotton T-shirt",  // copied</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"unitPrice": 19.99,             // copied</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"quantity":  2</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Order.Create copies sku, name and price onto the line.</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Not a reference. A copy.</a:t>
            </a:r>
            <a:endParaRPr lang="en-US" sz="1050" dirty="0"/>
          </a:p>
        </p:txBody>
      </p:sp>
      <p:sp>
        <p:nvSpPr>
          <p:cNvPr id="7" name="Shape 5"/>
          <p:cNvSpPr/>
          <p:nvPr/>
        </p:nvSpPr>
        <p:spPr>
          <a:xfrm>
            <a:off x="6775704" y="1627632"/>
            <a:ext cx="4867351" cy="1170432"/>
          </a:xfrm>
          <a:prstGeom prst="roundRect">
            <a:avLst>
              <a:gd name="adj" fmla="val 5469"/>
            </a:avLst>
          </a:prstGeom>
          <a:solidFill>
            <a:srgbClr val="F4F6F8"/>
          </a:solidFill>
          <a:ln/>
        </p:spPr>
      </p:sp>
      <p:sp>
        <p:nvSpPr>
          <p:cNvPr id="8" name="Shape 6"/>
          <p:cNvSpPr/>
          <p:nvPr/>
        </p:nvSpPr>
        <p:spPr>
          <a:xfrm>
            <a:off x="7013448" y="1828800"/>
            <a:ext cx="384048" cy="384048"/>
          </a:xfrm>
          <a:prstGeom prst="ellipse">
            <a:avLst/>
          </a:prstGeom>
          <a:solidFill>
            <a:srgbClr val="6B7A8D"/>
          </a:solidFill>
          <a:ln/>
        </p:spPr>
      </p:sp>
      <p:sp>
        <p:nvSpPr>
          <p:cNvPr id="9" name="Text 7"/>
          <p:cNvSpPr txBox="1"/>
          <p:nvPr/>
        </p:nvSpPr>
        <p:spPr>
          <a:xfrm>
            <a:off x="7013448"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543800" y="1847088"/>
            <a:ext cx="3861511"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There is nothing to join to</a:t>
            </a:r>
            <a:endParaRPr lang="en-US" sz="1350" dirty="0"/>
          </a:p>
        </p:txBody>
      </p:sp>
      <p:sp>
        <p:nvSpPr>
          <p:cNvPr id="11" name="Text 9"/>
          <p:cNvSpPr txBox="1"/>
          <p:nvPr/>
        </p:nvSpPr>
        <p:spPr>
          <a:xfrm>
            <a:off x="7013448" y="2286000"/>
            <a:ext cx="4391863" cy="457200"/>
          </a:xfrm>
          <a:prstGeom prst="rect">
            <a:avLst/>
          </a:prstGeom>
          <a:noFill/>
          <a:ln/>
        </p:spPr>
        <p:txBody>
          <a:bodyPr wrap="square" lIns="0" tIns="0" rIns="0" bIns="0" rtlCol="0" anchor="t"/>
          <a:lstStyle/>
          <a:p>
            <a:pPr algn="l" indent="0" marL="0">
              <a:lnSpc>
                <a:spcPct val="115000"/>
              </a:lnSpc>
              <a:buNone/>
            </a:pPr>
            <a:r>
              <a:rPr lang="en-US" sz="1200" dirty="0">
                <a:solidFill>
                  <a:srgbClr val="6B7A8D"/>
                </a:solidFill>
                <a:latin typeface="Calibri" pitchFamily="34" charset="0"/>
                <a:ea typeface="Calibri" pitchFamily="34" charset="-122"/>
                <a:cs typeface="Calibri" pitchFamily="34" charset="-120"/>
              </a:rPr>
              <a:t>The catalogue is in product_db, reachable only over HTTP. This reason is the obvious one — and the less important one.</a:t>
            </a:r>
            <a:endParaRPr lang="en-US" sz="1200" dirty="0"/>
          </a:p>
        </p:txBody>
      </p:sp>
      <p:sp>
        <p:nvSpPr>
          <p:cNvPr id="12" name="Shape 10"/>
          <p:cNvSpPr/>
          <p:nvPr/>
        </p:nvSpPr>
        <p:spPr>
          <a:xfrm>
            <a:off x="6775704" y="2926080"/>
            <a:ext cx="4867351" cy="1353312"/>
          </a:xfrm>
          <a:prstGeom prst="roundRect">
            <a:avLst>
              <a:gd name="adj" fmla="val 4730"/>
            </a:avLst>
          </a:prstGeom>
          <a:solidFill>
            <a:srgbClr val="F6EAEE"/>
          </a:solidFill>
          <a:ln/>
        </p:spPr>
      </p:sp>
      <p:sp>
        <p:nvSpPr>
          <p:cNvPr id="13" name="Shape 11"/>
          <p:cNvSpPr/>
          <p:nvPr/>
        </p:nvSpPr>
        <p:spPr>
          <a:xfrm>
            <a:off x="7013448" y="3127248"/>
            <a:ext cx="384048" cy="384048"/>
          </a:xfrm>
          <a:prstGeom prst="ellipse">
            <a:avLst/>
          </a:prstGeom>
          <a:solidFill>
            <a:srgbClr val="6D2E46"/>
          </a:solidFill>
          <a:ln/>
        </p:spPr>
      </p:sp>
      <p:sp>
        <p:nvSpPr>
          <p:cNvPr id="14" name="Text 12"/>
          <p:cNvSpPr txBox="1"/>
          <p:nvPr/>
        </p:nvSpPr>
        <p:spPr>
          <a:xfrm>
            <a:off x="7013448" y="3127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543800" y="3145536"/>
            <a:ext cx="3861511" cy="256032"/>
          </a:xfrm>
          <a:prstGeom prst="rect">
            <a:avLst/>
          </a:prstGeom>
          <a:noFill/>
          <a:ln/>
        </p:spPr>
        <p:txBody>
          <a:bodyPr wrap="square" lIns="0" tIns="0" rIns="0" bIns="0" rtlCol="0" anchor="t"/>
          <a:lstStyle/>
          <a:p>
            <a:pPr algn="l" indent="0" marL="0">
              <a:lnSpc>
                <a:spcPct val="112000"/>
              </a:lnSpc>
              <a:buNone/>
            </a:pPr>
            <a:r>
              <a:rPr lang="en-US" sz="1350" b="1" dirty="0">
                <a:solidFill>
                  <a:srgbClr val="6D2E46"/>
                </a:solidFill>
                <a:latin typeface="Calibri" pitchFamily="34" charset="0"/>
                <a:ea typeface="Calibri" pitchFamily="34" charset="-122"/>
                <a:cs typeface="Calibri" pitchFamily="34" charset="-120"/>
              </a:rPr>
              <a:t>The domain demands it anyway</a:t>
            </a:r>
            <a:endParaRPr lang="en-US" sz="1350" dirty="0"/>
          </a:p>
        </p:txBody>
      </p:sp>
      <p:sp>
        <p:nvSpPr>
          <p:cNvPr id="16" name="Text 14"/>
          <p:cNvSpPr txBox="1"/>
          <p:nvPr/>
        </p:nvSpPr>
        <p:spPr>
          <a:xfrm>
            <a:off x="7013448" y="3566160"/>
            <a:ext cx="4391863" cy="676656"/>
          </a:xfrm>
          <a:prstGeom prst="rect">
            <a:avLst/>
          </a:prstGeom>
          <a:noFill/>
          <a:ln/>
        </p:spPr>
        <p:txBody>
          <a:bodyPr wrap="square" lIns="0" tIns="0" rIns="0" bIns="0" rtlCol="0" anchor="t"/>
          <a:lstStyle/>
          <a:p>
            <a:pPr algn="l" indent="0" marL="0">
              <a:lnSpc>
                <a:spcPct val="115000"/>
              </a:lnSpc>
              <a:buNone/>
            </a:pPr>
            <a:r>
              <a:rPr lang="en-US" sz="1200" dirty="0">
                <a:solidFill>
                  <a:srgbClr val="36454F"/>
                </a:solidFill>
                <a:latin typeface="Calibri" pitchFamily="34" charset="0"/>
                <a:ea typeface="Calibri" pitchFamily="34" charset="-122"/>
                <a:cs typeface="Calibri" pitchFamily="34" charset="-120"/>
              </a:rPr>
              <a:t>A catalogue price change must never alter what a customer already agreed to pay. Even with a join available, you would still copy.</a:t>
            </a:r>
            <a:endParaRPr lang="en-US" sz="1200" dirty="0"/>
          </a:p>
        </p:txBody>
      </p:sp>
      <p:sp>
        <p:nvSpPr>
          <p:cNvPr id="17" name="Shape 15"/>
          <p:cNvSpPr/>
          <p:nvPr/>
        </p:nvSpPr>
        <p:spPr>
          <a:xfrm>
            <a:off x="548640" y="4334256"/>
            <a:ext cx="11094415" cy="960120"/>
          </a:xfrm>
          <a:prstGeom prst="roundRect">
            <a:avLst>
              <a:gd name="adj" fmla="val 6667"/>
            </a:avLst>
          </a:prstGeom>
          <a:solidFill>
            <a:srgbClr val="FBF2E4"/>
          </a:solidFill>
          <a:ln/>
        </p:spPr>
      </p:sp>
      <p:sp>
        <p:nvSpPr>
          <p:cNvPr id="18" name="Text 16"/>
          <p:cNvSpPr txBox="1"/>
          <p:nvPr/>
        </p:nvSpPr>
        <p:spPr>
          <a:xfrm>
            <a:off x="841248" y="4553712"/>
            <a:ext cx="10509199" cy="548640"/>
          </a:xfrm>
          <a:prstGeom prst="rect">
            <a:avLst/>
          </a:prstGeom>
          <a:noFill/>
          <a:ln/>
        </p:spPr>
        <p:txBody>
          <a:bodyPr wrap="square" lIns="0" tIns="0" rIns="0" bIns="0" rtlCol="0" anchor="t"/>
          <a:lstStyle/>
          <a:p>
            <a:pPr algn="l" indent="0" marL="0">
              <a:lnSpc>
                <a:spcPct val="118000"/>
              </a:lnSpc>
              <a:buNone/>
            </a:pPr>
            <a:r>
              <a:rPr lang="en-US" sz="1300" i="1" dirty="0">
                <a:solidFill>
                  <a:srgbClr val="1D2433"/>
                </a:solidFill>
                <a:latin typeface="Calibri" pitchFamily="34" charset="0"/>
                <a:ea typeface="Calibri" pitchFamily="34" charset="-122"/>
                <a:cs typeface="Calibri" pitchFamily="34" charset="-120"/>
              </a:rPr>
              <a:t>Worth saying out loud: copying here is not a workaround for the missing join — it is what the business actually requires. The distributed architecture and the domain happen to want the same thing, and it is easy to learn the wrong lesson from that.</a:t>
            </a:r>
            <a:endParaRPr lang="en-US" sz="1300" dirty="0"/>
          </a:p>
        </p:txBody>
      </p:sp>
      <p:sp>
        <p:nvSpPr>
          <p:cNvPr id="19" name="Shape 17"/>
          <p:cNvSpPr/>
          <p:nvPr/>
        </p:nvSpPr>
        <p:spPr>
          <a:xfrm>
            <a:off x="548640" y="5468112"/>
            <a:ext cx="3566160" cy="768096"/>
          </a:xfrm>
          <a:prstGeom prst="roundRect">
            <a:avLst>
              <a:gd name="adj" fmla="val 8333"/>
            </a:avLst>
          </a:prstGeom>
          <a:solidFill>
            <a:srgbClr val="F4F6F8"/>
          </a:solidFill>
          <a:ln/>
        </p:spPr>
      </p:sp>
      <p:sp>
        <p:nvSpPr>
          <p:cNvPr id="20" name="Text 18"/>
          <p:cNvSpPr txBox="1"/>
          <p:nvPr/>
        </p:nvSpPr>
        <p:spPr>
          <a:xfrm>
            <a:off x="749808" y="5559552"/>
            <a:ext cx="3163824" cy="237744"/>
          </a:xfrm>
          <a:prstGeom prst="rect">
            <a:avLst/>
          </a:prstGeom>
          <a:noFill/>
          <a:ln/>
        </p:spPr>
        <p:txBody>
          <a:bodyPr wrap="square" lIns="0" tIns="0" rIns="0" bIns="0" rtlCol="0" anchor="t"/>
          <a:lstStyle/>
          <a:p>
            <a:pPr algn="l" indent="0" marL="0">
              <a:lnSpc>
                <a:spcPct val="112000"/>
              </a:lnSpc>
              <a:buNone/>
            </a:pPr>
            <a:r>
              <a:rPr lang="en-US" sz="1150" b="1" dirty="0">
                <a:solidFill>
                  <a:srgbClr val="1D2433"/>
                </a:solidFill>
                <a:latin typeface="Calibri" pitchFamily="34" charset="0"/>
                <a:ea typeface="Calibri" pitchFamily="34" charset="-122"/>
                <a:cs typeface="Calibri" pitchFamily="34" charset="-120"/>
              </a:rPr>
              <a:t>What the Order Service stores</a:t>
            </a:r>
            <a:endParaRPr lang="en-US" sz="1150" dirty="0"/>
          </a:p>
        </p:txBody>
      </p:sp>
      <p:sp>
        <p:nvSpPr>
          <p:cNvPr id="21" name="Text 19"/>
          <p:cNvSpPr txBox="1"/>
          <p:nvPr/>
        </p:nvSpPr>
        <p:spPr>
          <a:xfrm>
            <a:off x="749808" y="5797296"/>
            <a:ext cx="3163824" cy="402336"/>
          </a:xfrm>
          <a:prstGeom prst="rect">
            <a:avLst/>
          </a:prstGeom>
          <a:noFill/>
          <a:ln/>
        </p:spPr>
        <p:txBody>
          <a:bodyPr wrap="square" lIns="0" tIns="0" rIns="0" bIns="0" rtlCol="0" anchor="t"/>
          <a:lstStyle/>
          <a:p>
            <a:pPr algn="l" indent="0" marL="0">
              <a:lnSpc>
                <a:spcPct val="110000"/>
              </a:lnSpc>
              <a:buNone/>
            </a:pPr>
            <a:r>
              <a:rPr lang="en-US" sz="1050" dirty="0">
                <a:solidFill>
                  <a:srgbClr val="6B7A8D"/>
                </a:solidFill>
                <a:latin typeface="Calibri" pitchFamily="34" charset="0"/>
                <a:ea typeface="Calibri" pitchFamily="34" charset="-122"/>
                <a:cs typeface="Calibri" pitchFamily="34" charset="-120"/>
              </a:rPr>
              <a:t>userId, productId, sku, name, unitPrice, quantity, status, timestamps</a:t>
            </a:r>
            <a:endParaRPr lang="en-US" sz="1050" dirty="0"/>
          </a:p>
        </p:txBody>
      </p:sp>
      <p:sp>
        <p:nvSpPr>
          <p:cNvPr id="22" name="Shape 20"/>
          <p:cNvSpPr/>
          <p:nvPr/>
        </p:nvSpPr>
        <p:spPr>
          <a:xfrm>
            <a:off x="4315968" y="5468112"/>
            <a:ext cx="3566160" cy="768096"/>
          </a:xfrm>
          <a:prstGeom prst="roundRect">
            <a:avLst>
              <a:gd name="adj" fmla="val 8333"/>
            </a:avLst>
          </a:prstGeom>
          <a:solidFill>
            <a:srgbClr val="F4F6F8"/>
          </a:solidFill>
          <a:ln/>
        </p:spPr>
      </p:sp>
      <p:sp>
        <p:nvSpPr>
          <p:cNvPr id="23" name="Text 21"/>
          <p:cNvSpPr txBox="1"/>
          <p:nvPr/>
        </p:nvSpPr>
        <p:spPr>
          <a:xfrm>
            <a:off x="4517136" y="5559552"/>
            <a:ext cx="3163824" cy="237744"/>
          </a:xfrm>
          <a:prstGeom prst="rect">
            <a:avLst/>
          </a:prstGeom>
          <a:noFill/>
          <a:ln/>
        </p:spPr>
        <p:txBody>
          <a:bodyPr wrap="square" lIns="0" tIns="0" rIns="0" bIns="0" rtlCol="0" anchor="t"/>
          <a:lstStyle/>
          <a:p>
            <a:pPr algn="l" indent="0" marL="0">
              <a:lnSpc>
                <a:spcPct val="112000"/>
              </a:lnSpc>
              <a:buNone/>
            </a:pPr>
            <a:r>
              <a:rPr lang="en-US" sz="1150" b="1" dirty="0">
                <a:solidFill>
                  <a:srgbClr val="1D2433"/>
                </a:solidFill>
                <a:latin typeface="Calibri" pitchFamily="34" charset="0"/>
                <a:ea typeface="Calibri" pitchFamily="34" charset="-122"/>
                <a:cs typeface="Calibri" pitchFamily="34" charset="-120"/>
              </a:rPr>
              <a:t>What it must ask for</a:t>
            </a:r>
            <a:endParaRPr lang="en-US" sz="1150" dirty="0"/>
          </a:p>
        </p:txBody>
      </p:sp>
      <p:sp>
        <p:nvSpPr>
          <p:cNvPr id="24" name="Text 22"/>
          <p:cNvSpPr txBox="1"/>
          <p:nvPr/>
        </p:nvSpPr>
        <p:spPr>
          <a:xfrm>
            <a:off x="4517136" y="5797296"/>
            <a:ext cx="3163824" cy="402336"/>
          </a:xfrm>
          <a:prstGeom prst="rect">
            <a:avLst/>
          </a:prstGeom>
          <a:noFill/>
          <a:ln/>
        </p:spPr>
        <p:txBody>
          <a:bodyPr wrap="square" lIns="0" tIns="0" rIns="0" bIns="0" rtlCol="0" anchor="t"/>
          <a:lstStyle/>
          <a:p>
            <a:pPr algn="l" indent="0" marL="0">
              <a:lnSpc>
                <a:spcPct val="110000"/>
              </a:lnSpc>
              <a:buNone/>
            </a:pPr>
            <a:r>
              <a:rPr lang="en-US" sz="1050" dirty="0">
                <a:solidFill>
                  <a:srgbClr val="6B7A8D"/>
                </a:solidFill>
                <a:latin typeface="Calibri" pitchFamily="34" charset="0"/>
                <a:ea typeface="Calibri" pitchFamily="34" charset="-122"/>
                <a:cs typeface="Calibri" pitchFamily="34" charset="-120"/>
              </a:rPr>
              <a:t>does this user exist and is active?  is this product active, and at what price?</a:t>
            </a:r>
            <a:endParaRPr lang="en-US" sz="1050" dirty="0"/>
          </a:p>
        </p:txBody>
      </p:sp>
      <p:sp>
        <p:nvSpPr>
          <p:cNvPr id="25" name="Shape 23"/>
          <p:cNvSpPr/>
          <p:nvPr/>
        </p:nvSpPr>
        <p:spPr>
          <a:xfrm>
            <a:off x="8083296" y="5468112"/>
            <a:ext cx="3566160" cy="768096"/>
          </a:xfrm>
          <a:prstGeom prst="roundRect">
            <a:avLst>
              <a:gd name="adj" fmla="val 8333"/>
            </a:avLst>
          </a:prstGeom>
          <a:solidFill>
            <a:srgbClr val="F4F6F8"/>
          </a:solidFill>
          <a:ln/>
        </p:spPr>
      </p:sp>
      <p:sp>
        <p:nvSpPr>
          <p:cNvPr id="26" name="Text 24"/>
          <p:cNvSpPr txBox="1"/>
          <p:nvPr/>
        </p:nvSpPr>
        <p:spPr>
          <a:xfrm>
            <a:off x="8284464" y="5559552"/>
            <a:ext cx="3163824" cy="237744"/>
          </a:xfrm>
          <a:prstGeom prst="rect">
            <a:avLst/>
          </a:prstGeom>
          <a:noFill/>
          <a:ln/>
        </p:spPr>
        <p:txBody>
          <a:bodyPr wrap="square" lIns="0" tIns="0" rIns="0" bIns="0" rtlCol="0" anchor="t"/>
          <a:lstStyle/>
          <a:p>
            <a:pPr algn="l" indent="0" marL="0">
              <a:lnSpc>
                <a:spcPct val="112000"/>
              </a:lnSpc>
              <a:buNone/>
            </a:pPr>
            <a:r>
              <a:rPr lang="en-US" sz="1150" b="1" dirty="0">
                <a:solidFill>
                  <a:srgbClr val="B04242"/>
                </a:solidFill>
                <a:latin typeface="Calibri" pitchFamily="34" charset="0"/>
                <a:ea typeface="Calibri" pitchFamily="34" charset="-122"/>
                <a:cs typeface="Calibri" pitchFamily="34" charset="-120"/>
              </a:rPr>
              <a:t>What it never does</a:t>
            </a:r>
            <a:endParaRPr lang="en-US" sz="1150" dirty="0"/>
          </a:p>
        </p:txBody>
      </p:sp>
      <p:sp>
        <p:nvSpPr>
          <p:cNvPr id="27" name="Text 25"/>
          <p:cNvSpPr txBox="1"/>
          <p:nvPr/>
        </p:nvSpPr>
        <p:spPr>
          <a:xfrm>
            <a:off x="8284464" y="5797296"/>
            <a:ext cx="3163824" cy="402336"/>
          </a:xfrm>
          <a:prstGeom prst="rect">
            <a:avLst/>
          </a:prstGeom>
          <a:noFill/>
          <a:ln/>
        </p:spPr>
        <p:txBody>
          <a:bodyPr wrap="square" lIns="0" tIns="0" rIns="0" bIns="0" rtlCol="0" anchor="t"/>
          <a:lstStyle/>
          <a:p>
            <a:pPr algn="l" indent="0" marL="0">
              <a:lnSpc>
                <a:spcPct val="110000"/>
              </a:lnSpc>
              <a:buNone/>
            </a:pPr>
            <a:r>
              <a:rPr lang="en-US" sz="1050" dirty="0">
                <a:solidFill>
                  <a:srgbClr val="6B7A8D"/>
                </a:solidFill>
                <a:latin typeface="Calibri" pitchFamily="34" charset="0"/>
                <a:ea typeface="Calibri" pitchFamily="34" charset="-122"/>
                <a:cs typeface="Calibri" pitchFamily="34" charset="-120"/>
              </a:rPr>
              <a:t>read another service’s tables, or hold a foreign key into them</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WEEK 3 CONCEPT 2</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What actually happens when you place an order</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One POST, four outbound calls, and a compensating action if the fourth one goes wrong.</a:t>
            </a:r>
            <a:endParaRPr lang="en-US" sz="1350" dirty="0"/>
          </a:p>
        </p:txBody>
      </p:sp>
      <p:sp>
        <p:nvSpPr>
          <p:cNvPr id="5" name="Shape 3"/>
          <p:cNvSpPr/>
          <p:nvPr/>
        </p:nvSpPr>
        <p:spPr>
          <a:xfrm>
            <a:off x="548640" y="1572768"/>
            <a:ext cx="6858000" cy="512064"/>
          </a:xfrm>
          <a:prstGeom prst="roundRect">
            <a:avLst>
              <a:gd name="adj" fmla="val 12500"/>
            </a:avLst>
          </a:prstGeom>
          <a:solidFill>
            <a:srgbClr val="F4F6F8"/>
          </a:solidFill>
          <a:ln/>
        </p:spPr>
      </p:sp>
      <p:sp>
        <p:nvSpPr>
          <p:cNvPr id="6" name="Shape 4"/>
          <p:cNvSpPr/>
          <p:nvPr/>
        </p:nvSpPr>
        <p:spPr>
          <a:xfrm>
            <a:off x="694944" y="1645920"/>
            <a:ext cx="365760" cy="365760"/>
          </a:xfrm>
          <a:prstGeom prst="ellipse">
            <a:avLst/>
          </a:prstGeom>
          <a:solidFill>
            <a:srgbClr val="028090"/>
          </a:solidFill>
          <a:ln/>
        </p:spPr>
      </p:sp>
      <p:sp>
        <p:nvSpPr>
          <p:cNvPr id="7" name="Text 5"/>
          <p:cNvSpPr txBox="1"/>
          <p:nvPr/>
        </p:nvSpPr>
        <p:spPr>
          <a:xfrm>
            <a:off x="694944"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188720" y="1600200"/>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GET /api/v1/users/{userId}</a:t>
            </a:r>
            <a:endParaRPr lang="en-US" sz="1200" dirty="0"/>
          </a:p>
        </p:txBody>
      </p:sp>
      <p:sp>
        <p:nvSpPr>
          <p:cNvPr id="9" name="Text 7"/>
          <p:cNvSpPr txBox="1"/>
          <p:nvPr/>
        </p:nvSpPr>
        <p:spPr>
          <a:xfrm>
            <a:off x="4297680" y="1600200"/>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User Service — does this user exist, and are they active?</a:t>
            </a:r>
            <a:endParaRPr lang="en-US" sz="1050" dirty="0"/>
          </a:p>
        </p:txBody>
      </p:sp>
      <p:sp>
        <p:nvSpPr>
          <p:cNvPr id="10" name="Shape 8"/>
          <p:cNvSpPr/>
          <p:nvPr/>
        </p:nvSpPr>
        <p:spPr>
          <a:xfrm>
            <a:off x="548640" y="2176272"/>
            <a:ext cx="6858000" cy="512064"/>
          </a:xfrm>
          <a:prstGeom prst="roundRect">
            <a:avLst>
              <a:gd name="adj" fmla="val 12500"/>
            </a:avLst>
          </a:prstGeom>
          <a:solidFill>
            <a:srgbClr val="FFFFFF"/>
          </a:solidFill>
          <a:ln/>
        </p:spPr>
      </p:sp>
      <p:sp>
        <p:nvSpPr>
          <p:cNvPr id="11" name="Shape 9"/>
          <p:cNvSpPr/>
          <p:nvPr/>
        </p:nvSpPr>
        <p:spPr>
          <a:xfrm>
            <a:off x="694944" y="2249424"/>
            <a:ext cx="365760" cy="365760"/>
          </a:xfrm>
          <a:prstGeom prst="ellipse">
            <a:avLst/>
          </a:prstGeom>
          <a:solidFill>
            <a:srgbClr val="3A6B2E"/>
          </a:solidFill>
          <a:ln/>
        </p:spPr>
      </p:sp>
      <p:sp>
        <p:nvSpPr>
          <p:cNvPr id="12" name="Text 10"/>
          <p:cNvSpPr txBox="1"/>
          <p:nvPr/>
        </p:nvSpPr>
        <p:spPr>
          <a:xfrm>
            <a:off x="694944" y="22494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188720" y="2203704"/>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GET /api/v1/products/{id}</a:t>
            </a:r>
            <a:endParaRPr lang="en-US" sz="1200" dirty="0"/>
          </a:p>
        </p:txBody>
      </p:sp>
      <p:sp>
        <p:nvSpPr>
          <p:cNvPr id="14" name="Text 12"/>
          <p:cNvSpPr txBox="1"/>
          <p:nvPr/>
        </p:nvSpPr>
        <p:spPr>
          <a:xfrm>
            <a:off x="4297680" y="2203704"/>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Product Service, once per line — active, and at what price?</a:t>
            </a:r>
            <a:endParaRPr lang="en-US" sz="1050" dirty="0"/>
          </a:p>
        </p:txBody>
      </p:sp>
      <p:sp>
        <p:nvSpPr>
          <p:cNvPr id="15" name="Shape 13"/>
          <p:cNvSpPr/>
          <p:nvPr/>
        </p:nvSpPr>
        <p:spPr>
          <a:xfrm>
            <a:off x="548640" y="2779776"/>
            <a:ext cx="6858000" cy="512064"/>
          </a:xfrm>
          <a:prstGeom prst="roundRect">
            <a:avLst>
              <a:gd name="adj" fmla="val 12500"/>
            </a:avLst>
          </a:prstGeom>
          <a:solidFill>
            <a:srgbClr val="F4F6F8"/>
          </a:solidFill>
          <a:ln/>
        </p:spPr>
      </p:sp>
      <p:sp>
        <p:nvSpPr>
          <p:cNvPr id="16" name="Shape 14"/>
          <p:cNvSpPr/>
          <p:nvPr/>
        </p:nvSpPr>
        <p:spPr>
          <a:xfrm>
            <a:off x="694944" y="2852928"/>
            <a:ext cx="365760" cy="365760"/>
          </a:xfrm>
          <a:prstGeom prst="ellipse">
            <a:avLst/>
          </a:prstGeom>
          <a:solidFill>
            <a:srgbClr val="6D2E46"/>
          </a:solidFill>
          <a:ln/>
        </p:spPr>
      </p:sp>
      <p:sp>
        <p:nvSpPr>
          <p:cNvPr id="17" name="Text 15"/>
          <p:cNvSpPr txBox="1"/>
          <p:nvPr/>
        </p:nvSpPr>
        <p:spPr>
          <a:xfrm>
            <a:off x="694944" y="28529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188720" y="2807208"/>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Build the order in memory</a:t>
            </a:r>
            <a:endParaRPr lang="en-US" sz="1200" dirty="0"/>
          </a:p>
        </p:txBody>
      </p:sp>
      <p:sp>
        <p:nvSpPr>
          <p:cNvPr id="19" name="Text 17"/>
          <p:cNvSpPr txBox="1"/>
          <p:nvPr/>
        </p:nvSpPr>
        <p:spPr>
          <a:xfrm>
            <a:off x="4297680" y="2807208"/>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Domain rules run here, so a bad request fails before any stock is touched.</a:t>
            </a:r>
            <a:endParaRPr lang="en-US" sz="1050" dirty="0"/>
          </a:p>
        </p:txBody>
      </p:sp>
      <p:sp>
        <p:nvSpPr>
          <p:cNvPr id="20" name="Shape 18"/>
          <p:cNvSpPr/>
          <p:nvPr/>
        </p:nvSpPr>
        <p:spPr>
          <a:xfrm>
            <a:off x="548640" y="3383280"/>
            <a:ext cx="6858000" cy="512064"/>
          </a:xfrm>
          <a:prstGeom prst="roundRect">
            <a:avLst>
              <a:gd name="adj" fmla="val 12500"/>
            </a:avLst>
          </a:prstGeom>
          <a:solidFill>
            <a:srgbClr val="FFFFFF"/>
          </a:solidFill>
          <a:ln/>
        </p:spPr>
      </p:sp>
      <p:sp>
        <p:nvSpPr>
          <p:cNvPr id="21" name="Shape 19"/>
          <p:cNvSpPr/>
          <p:nvPr/>
        </p:nvSpPr>
        <p:spPr>
          <a:xfrm>
            <a:off x="694944" y="3456432"/>
            <a:ext cx="365760" cy="365760"/>
          </a:xfrm>
          <a:prstGeom prst="ellipse">
            <a:avLst/>
          </a:prstGeom>
          <a:solidFill>
            <a:srgbClr val="3A6B2E"/>
          </a:solidFill>
          <a:ln/>
        </p:spPr>
      </p:sp>
      <p:sp>
        <p:nvSpPr>
          <p:cNvPr id="22" name="Text 20"/>
          <p:cNvSpPr txBox="1"/>
          <p:nvPr/>
        </p:nvSpPr>
        <p:spPr>
          <a:xfrm>
            <a:off x="694944" y="34564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188720" y="3410712"/>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POST /products/{id}/stock/reserve</a:t>
            </a:r>
            <a:endParaRPr lang="en-US" sz="1200" dirty="0"/>
          </a:p>
        </p:txBody>
      </p:sp>
      <p:sp>
        <p:nvSpPr>
          <p:cNvPr id="24" name="Text 22"/>
          <p:cNvSpPr txBox="1"/>
          <p:nvPr/>
        </p:nvSpPr>
        <p:spPr>
          <a:xfrm>
            <a:off x="4297680" y="3410712"/>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Product Service, once per line — the first call with a side effect.</a:t>
            </a:r>
            <a:endParaRPr lang="en-US" sz="1050" dirty="0"/>
          </a:p>
        </p:txBody>
      </p:sp>
      <p:sp>
        <p:nvSpPr>
          <p:cNvPr id="25" name="Shape 23"/>
          <p:cNvSpPr/>
          <p:nvPr/>
        </p:nvSpPr>
        <p:spPr>
          <a:xfrm>
            <a:off x="548640" y="3986784"/>
            <a:ext cx="6858000" cy="512064"/>
          </a:xfrm>
          <a:prstGeom prst="roundRect">
            <a:avLst>
              <a:gd name="adj" fmla="val 12500"/>
            </a:avLst>
          </a:prstGeom>
          <a:solidFill>
            <a:srgbClr val="F4F6F8"/>
          </a:solidFill>
          <a:ln/>
        </p:spPr>
      </p:sp>
      <p:sp>
        <p:nvSpPr>
          <p:cNvPr id="26" name="Shape 24"/>
          <p:cNvSpPr/>
          <p:nvPr/>
        </p:nvSpPr>
        <p:spPr>
          <a:xfrm>
            <a:off x="694944" y="4059936"/>
            <a:ext cx="365760" cy="365760"/>
          </a:xfrm>
          <a:prstGeom prst="ellipse">
            <a:avLst/>
          </a:prstGeom>
          <a:solidFill>
            <a:srgbClr val="A8620A"/>
          </a:solidFill>
          <a:ln/>
        </p:spPr>
      </p:sp>
      <p:sp>
        <p:nvSpPr>
          <p:cNvPr id="27" name="Text 25"/>
          <p:cNvSpPr txBox="1"/>
          <p:nvPr/>
        </p:nvSpPr>
        <p:spPr>
          <a:xfrm>
            <a:off x="694944" y="40599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1188720" y="4014216"/>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A reservation fails: release the rest</a:t>
            </a:r>
            <a:endParaRPr lang="en-US" sz="1200" dirty="0"/>
          </a:p>
        </p:txBody>
      </p:sp>
      <p:sp>
        <p:nvSpPr>
          <p:cNvPr id="29" name="Text 27"/>
          <p:cNvSpPr txBox="1"/>
          <p:nvPr/>
        </p:nvSpPr>
        <p:spPr>
          <a:xfrm>
            <a:off x="4297680" y="4014216"/>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Compensation. Then answer 409 — the order is not created.</a:t>
            </a:r>
            <a:endParaRPr lang="en-US" sz="1050" dirty="0"/>
          </a:p>
        </p:txBody>
      </p:sp>
      <p:sp>
        <p:nvSpPr>
          <p:cNvPr id="30" name="Shape 28"/>
          <p:cNvSpPr/>
          <p:nvPr/>
        </p:nvSpPr>
        <p:spPr>
          <a:xfrm>
            <a:off x="548640" y="4590288"/>
            <a:ext cx="6858000" cy="512064"/>
          </a:xfrm>
          <a:prstGeom prst="roundRect">
            <a:avLst>
              <a:gd name="adj" fmla="val 12500"/>
            </a:avLst>
          </a:prstGeom>
          <a:solidFill>
            <a:srgbClr val="FFFFFF"/>
          </a:solidFill>
          <a:ln/>
        </p:spPr>
      </p:sp>
      <p:sp>
        <p:nvSpPr>
          <p:cNvPr id="31" name="Shape 29"/>
          <p:cNvSpPr/>
          <p:nvPr/>
        </p:nvSpPr>
        <p:spPr>
          <a:xfrm>
            <a:off x="694944" y="4663440"/>
            <a:ext cx="365760" cy="365760"/>
          </a:xfrm>
          <a:prstGeom prst="ellipse">
            <a:avLst/>
          </a:prstGeom>
          <a:solidFill>
            <a:srgbClr val="6D2E46"/>
          </a:solidFill>
          <a:ln/>
        </p:spPr>
      </p:sp>
      <p:sp>
        <p:nvSpPr>
          <p:cNvPr id="32" name="Text 30"/>
          <p:cNvSpPr txBox="1"/>
          <p:nvPr/>
        </p:nvSpPr>
        <p:spPr>
          <a:xfrm>
            <a:off x="694944" y="4663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1188720" y="4617720"/>
            <a:ext cx="3017520" cy="457200"/>
          </a:xfrm>
          <a:prstGeom prst="rect">
            <a:avLst/>
          </a:prstGeom>
          <a:noFill/>
          <a:ln/>
        </p:spPr>
        <p:txBody>
          <a:bodyPr wrap="square" lIns="0" tIns="0" rIns="0" bIns="0" rtlCol="0" anchor="ctr"/>
          <a:lstStyle/>
          <a:p>
            <a:pPr algn="l" indent="0" marL="0">
              <a:lnSpc>
                <a:spcPct val="112000"/>
              </a:lnSpc>
              <a:buNone/>
            </a:pPr>
            <a:r>
              <a:rPr lang="en-US" sz="1200" b="1" dirty="0">
                <a:solidFill>
                  <a:srgbClr val="1D2433"/>
                </a:solidFill>
                <a:latin typeface="Calibri" pitchFamily="34" charset="0"/>
                <a:ea typeface="Calibri" pitchFamily="34" charset="-122"/>
                <a:cs typeface="Calibri" pitchFamily="34" charset="-120"/>
              </a:rPr>
              <a:t>Persist the order as AwaitingPayment</a:t>
            </a:r>
            <a:endParaRPr lang="en-US" sz="1200" dirty="0"/>
          </a:p>
        </p:txBody>
      </p:sp>
      <p:sp>
        <p:nvSpPr>
          <p:cNvPr id="34" name="Text 32"/>
          <p:cNvSpPr txBox="1"/>
          <p:nvPr/>
        </p:nvSpPr>
        <p:spPr>
          <a:xfrm>
            <a:off x="4297680" y="4617720"/>
            <a:ext cx="2971800" cy="457200"/>
          </a:xfrm>
          <a:prstGeom prst="rect">
            <a:avLst/>
          </a:prstGeom>
          <a:noFill/>
          <a:ln/>
        </p:spPr>
        <p:txBody>
          <a:bodyPr wrap="square" lIns="0" tIns="0" rIns="0" bIns="0" rtlCol="0" anchor="ctr"/>
          <a:lstStyle/>
          <a:p>
            <a:pPr algn="l" indent="0" marL="0">
              <a:lnSpc>
                <a:spcPct val="105000"/>
              </a:lnSpc>
              <a:buNone/>
            </a:pPr>
            <a:r>
              <a:rPr lang="en-US" sz="1050" dirty="0">
                <a:solidFill>
                  <a:srgbClr val="6B7A8D"/>
                </a:solidFill>
                <a:latin typeface="Calibri" pitchFamily="34" charset="0"/>
                <a:ea typeface="Calibri" pitchFamily="34" charset="-122"/>
                <a:cs typeface="Calibri" pitchFamily="34" charset="-120"/>
              </a:rPr>
              <a:t>One database write, at the very end, once everything else has succeeded.</a:t>
            </a:r>
            <a:endParaRPr lang="en-US" sz="1050" dirty="0"/>
          </a:p>
        </p:txBody>
      </p:sp>
      <p:sp>
        <p:nvSpPr>
          <p:cNvPr id="35" name="Shape 33"/>
          <p:cNvSpPr/>
          <p:nvPr/>
        </p:nvSpPr>
        <p:spPr>
          <a:xfrm>
            <a:off x="7598664" y="1572768"/>
            <a:ext cx="4044391" cy="2011680"/>
          </a:xfrm>
          <a:prstGeom prst="roundRect">
            <a:avLst>
              <a:gd name="adj" fmla="val 3182"/>
            </a:avLst>
          </a:prstGeom>
          <a:solidFill>
            <a:srgbClr val="FBF2E4"/>
          </a:solidFill>
          <a:ln/>
        </p:spPr>
      </p:sp>
      <p:sp>
        <p:nvSpPr>
          <p:cNvPr id="36" name="Text 34"/>
          <p:cNvSpPr txBox="1"/>
          <p:nvPr/>
        </p:nvSpPr>
        <p:spPr>
          <a:xfrm>
            <a:off x="7854696" y="1755648"/>
            <a:ext cx="3532327" cy="256032"/>
          </a:xfrm>
          <a:prstGeom prst="rect">
            <a:avLst/>
          </a:prstGeom>
          <a:noFill/>
          <a:ln/>
        </p:spPr>
        <p:txBody>
          <a:bodyPr wrap="square" lIns="0" tIns="0" rIns="0" bIns="0" rtlCol="0" anchor="t"/>
          <a:lstStyle/>
          <a:p>
            <a:pPr algn="l" indent="0" marL="0">
              <a:lnSpc>
                <a:spcPct val="112000"/>
              </a:lnSpc>
              <a:buNone/>
            </a:pPr>
            <a:r>
              <a:rPr lang="en-US" sz="1250" b="1" dirty="0">
                <a:solidFill>
                  <a:srgbClr val="A8620A"/>
                </a:solidFill>
                <a:latin typeface="Calibri" pitchFamily="34" charset="0"/>
                <a:ea typeface="Calibri" pitchFamily="34" charset="-122"/>
                <a:cs typeface="Calibri" pitchFamily="34" charset="-120"/>
              </a:rPr>
              <a:t>Step 5 is best effort, and the code says so</a:t>
            </a:r>
            <a:endParaRPr lang="en-US" sz="1250" dirty="0"/>
          </a:p>
        </p:txBody>
      </p:sp>
      <p:sp>
        <p:nvSpPr>
          <p:cNvPr id="37" name="Text 35"/>
          <p:cNvSpPr txBox="1"/>
          <p:nvPr/>
        </p:nvSpPr>
        <p:spPr>
          <a:xfrm>
            <a:off x="7854696" y="2048256"/>
            <a:ext cx="3532327" cy="137160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The release call can itself fail, which would leave stock reserved against an order that does not exist. CreateOrderHandler.ReleaseAsync catches, logs at error level, and records that the units “will need reconciling”.</a:t>
            </a:r>
            <a:endParaRPr lang="en-US" sz="1200" dirty="0"/>
          </a:p>
        </p:txBody>
      </p:sp>
      <p:sp>
        <p:nvSpPr>
          <p:cNvPr id="38" name="Shape 36"/>
          <p:cNvSpPr/>
          <p:nvPr/>
        </p:nvSpPr>
        <p:spPr>
          <a:xfrm>
            <a:off x="7598664" y="3712464"/>
            <a:ext cx="4044391" cy="1481328"/>
          </a:xfrm>
          <a:prstGeom prst="roundRect">
            <a:avLst>
              <a:gd name="adj" fmla="val 4321"/>
            </a:avLst>
          </a:prstGeom>
          <a:solidFill>
            <a:srgbClr val="F4F6F8"/>
          </a:solidFill>
          <a:ln/>
        </p:spPr>
      </p:sp>
      <p:sp>
        <p:nvSpPr>
          <p:cNvPr id="39" name="Text 37"/>
          <p:cNvSpPr txBox="1"/>
          <p:nvPr/>
        </p:nvSpPr>
        <p:spPr>
          <a:xfrm>
            <a:off x="7854696" y="3895344"/>
            <a:ext cx="3532327" cy="256032"/>
          </a:xfrm>
          <a:prstGeom prst="rect">
            <a:avLst/>
          </a:prstGeom>
          <a:noFill/>
          <a:ln/>
        </p:spPr>
        <p:txBody>
          <a:bodyPr wrap="square" lIns="0" tIns="0" rIns="0" bIns="0" rtlCol="0" anchor="t"/>
          <a:lstStyle/>
          <a:p>
            <a:pPr algn="l" indent="0" marL="0">
              <a:lnSpc>
                <a:spcPct val="112000"/>
              </a:lnSpc>
              <a:buNone/>
            </a:pPr>
            <a:r>
              <a:rPr lang="en-US" sz="1350" b="1" dirty="0">
                <a:solidFill>
                  <a:srgbClr val="1D2433"/>
                </a:solidFill>
                <a:latin typeface="Calibri" pitchFamily="34" charset="0"/>
                <a:ea typeface="Calibri" pitchFamily="34" charset="-122"/>
                <a:cs typeface="Calibri" pitchFamily="34" charset="-120"/>
              </a:rPr>
              <a:t>Why write it that way?</a:t>
            </a:r>
            <a:endParaRPr lang="en-US" sz="1350" dirty="0"/>
          </a:p>
        </p:txBody>
      </p:sp>
      <p:sp>
        <p:nvSpPr>
          <p:cNvPr id="40" name="Text 38"/>
          <p:cNvSpPr txBox="1"/>
          <p:nvPr/>
        </p:nvSpPr>
        <p:spPr>
          <a:xfrm>
            <a:off x="7854696" y="4187952"/>
            <a:ext cx="3532327" cy="91440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Because week 7 — saga and outbox — is what makes it reliable. Writing the gap down keeps it visible instead of burying it in an optimistic try/catch that reads as if it were solved.</a:t>
            </a:r>
            <a:endParaRPr lang="en-US" sz="1200" dirty="0"/>
          </a:p>
        </p:txBody>
      </p:sp>
      <p:sp>
        <p:nvSpPr>
          <p:cNvPr id="41" name="Shape 39"/>
          <p:cNvSpPr/>
          <p:nvPr/>
        </p:nvSpPr>
        <p:spPr>
          <a:xfrm>
            <a:off x="7598664" y="5321808"/>
            <a:ext cx="4044391" cy="914400"/>
          </a:xfrm>
          <a:prstGeom prst="roundRect">
            <a:avLst>
              <a:gd name="adj" fmla="val 7000"/>
            </a:avLst>
          </a:prstGeom>
          <a:solidFill>
            <a:srgbClr val="F6EAEE"/>
          </a:solidFill>
          <a:ln/>
        </p:spPr>
      </p:sp>
      <p:sp>
        <p:nvSpPr>
          <p:cNvPr id="42" name="Text 40"/>
          <p:cNvSpPr txBox="1"/>
          <p:nvPr/>
        </p:nvSpPr>
        <p:spPr>
          <a:xfrm>
            <a:off x="7854696" y="5486400"/>
            <a:ext cx="3532327" cy="640080"/>
          </a:xfrm>
          <a:prstGeom prst="rect">
            <a:avLst/>
          </a:prstGeom>
          <a:noFill/>
          <a:ln/>
        </p:spPr>
        <p:txBody>
          <a:bodyPr wrap="square" lIns="0" tIns="0" rIns="0" bIns="0" rtlCol="0" anchor="t"/>
          <a:lstStyle/>
          <a:p>
            <a:pPr algn="l" indent="0" marL="0">
              <a:lnSpc>
                <a:spcPct val="118000"/>
              </a:lnSpc>
              <a:buNone/>
            </a:pPr>
            <a:r>
              <a:rPr lang="en-US" sz="1200" i="1" dirty="0">
                <a:solidFill>
                  <a:srgbClr val="6D2E46"/>
                </a:solidFill>
                <a:latin typeface="Calibri" pitchFamily="34" charset="0"/>
                <a:ea typeface="Calibri" pitchFamily="34" charset="-122"/>
                <a:cs typeface="Calibri" pitchFamily="34" charset="-120"/>
              </a:rPr>
              <a:t>Order in memory before stock on the wire: a validation failure then costs nothing to undo.</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WEEK 3 CONCEPT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Every outbound call goes through a pipeline</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Outermost to innermost. The nesting is not decoration — the nesting is the behaviour.</a:t>
            </a:r>
            <a:endParaRPr lang="en-US" sz="1350" dirty="0"/>
          </a:p>
        </p:txBody>
      </p:sp>
      <p:sp>
        <p:nvSpPr>
          <p:cNvPr id="5" name="Shape 3"/>
          <p:cNvSpPr/>
          <p:nvPr/>
        </p:nvSpPr>
        <p:spPr>
          <a:xfrm>
            <a:off x="548640" y="1627632"/>
            <a:ext cx="6858000" cy="4160520"/>
          </a:xfrm>
          <a:prstGeom prst="roundRect">
            <a:avLst>
              <a:gd name="adj" fmla="val 1538"/>
            </a:avLst>
          </a:prstGeom>
          <a:solidFill>
            <a:srgbClr val="EEF2F6"/>
          </a:solidFill>
          <a:ln/>
        </p:spPr>
      </p:sp>
      <p:sp>
        <p:nvSpPr>
          <p:cNvPr id="6" name="Text 4"/>
          <p:cNvSpPr txBox="1"/>
          <p:nvPr/>
        </p:nvSpPr>
        <p:spPr>
          <a:xfrm>
            <a:off x="749808" y="1737360"/>
            <a:ext cx="6455664" cy="219456"/>
          </a:xfrm>
          <a:prstGeom prst="rect">
            <a:avLst/>
          </a:prstGeom>
          <a:noFill/>
          <a:ln/>
        </p:spPr>
        <p:txBody>
          <a:bodyPr wrap="square" lIns="0" tIns="0" rIns="0" bIns="0" rtlCol="0" anchor="t"/>
          <a:lstStyle/>
          <a:p>
            <a:pPr algn="l" indent="0" marL="0">
              <a:lnSpc>
                <a:spcPct val="112000"/>
              </a:lnSpc>
              <a:buNone/>
            </a:pPr>
            <a:r>
              <a:rPr lang="en-US" sz="1150" b="1" spc="100" kern="0" dirty="0">
                <a:solidFill>
                  <a:srgbClr val="1D2433"/>
                </a:solidFill>
                <a:latin typeface="Calibri" pitchFamily="34" charset="0"/>
                <a:ea typeface="Calibri" pitchFamily="34" charset="-122"/>
                <a:cs typeface="Calibri" pitchFamily="34" charset="-120"/>
              </a:rPr>
              <a:t>1.  TOTAL TIMEOUT</a:t>
            </a:r>
            <a:endParaRPr lang="en-US" sz="1150" dirty="0"/>
          </a:p>
        </p:txBody>
      </p:sp>
      <p:sp>
        <p:nvSpPr>
          <p:cNvPr id="7" name="Text 5"/>
          <p:cNvSpPr txBox="1"/>
          <p:nvPr/>
        </p:nvSpPr>
        <p:spPr>
          <a:xfrm>
            <a:off x="749808" y="1956816"/>
            <a:ext cx="6455664" cy="201168"/>
          </a:xfrm>
          <a:prstGeom prst="rect">
            <a:avLst/>
          </a:prstGeom>
          <a:noFill/>
          <a:ln/>
        </p:spPr>
        <p:txBody>
          <a:bodyPr wrap="square" lIns="0" tIns="0" rIns="0" bIns="0" rtlCol="0" anchor="t"/>
          <a:lstStyle/>
          <a:p>
            <a:pPr algn="l" indent="0" marL="0">
              <a:lnSpc>
                <a:spcPct val="112000"/>
              </a:lnSpc>
              <a:buNone/>
            </a:pPr>
            <a:r>
              <a:rPr lang="en-US" sz="1000" dirty="0">
                <a:solidFill>
                  <a:srgbClr val="36454F"/>
                </a:solidFill>
                <a:latin typeface="Calibri" pitchFamily="34" charset="0"/>
                <a:ea typeface="Calibri" pitchFamily="34" charset="-122"/>
                <a:cs typeface="Calibri" pitchFamily="34" charset="-120"/>
              </a:rPr>
              <a:t>caps the whole operation, retries included  ·  8 000 ms</a:t>
            </a:r>
            <a:endParaRPr lang="en-US" sz="1000" dirty="0"/>
          </a:p>
        </p:txBody>
      </p:sp>
      <p:sp>
        <p:nvSpPr>
          <p:cNvPr id="8" name="Shape 6"/>
          <p:cNvSpPr/>
          <p:nvPr/>
        </p:nvSpPr>
        <p:spPr>
          <a:xfrm>
            <a:off x="841248" y="2231136"/>
            <a:ext cx="6272784" cy="3154680"/>
          </a:xfrm>
          <a:prstGeom prst="roundRect">
            <a:avLst>
              <a:gd name="adj" fmla="val 2029"/>
            </a:avLst>
          </a:prstGeom>
          <a:solidFill>
            <a:srgbClr val="E2EAF2"/>
          </a:solidFill>
          <a:ln/>
        </p:spPr>
      </p:sp>
      <p:sp>
        <p:nvSpPr>
          <p:cNvPr id="9" name="Text 7"/>
          <p:cNvSpPr txBox="1"/>
          <p:nvPr/>
        </p:nvSpPr>
        <p:spPr>
          <a:xfrm>
            <a:off x="1042416" y="2340864"/>
            <a:ext cx="5870448" cy="219456"/>
          </a:xfrm>
          <a:prstGeom prst="rect">
            <a:avLst/>
          </a:prstGeom>
          <a:noFill/>
          <a:ln/>
        </p:spPr>
        <p:txBody>
          <a:bodyPr wrap="square" lIns="0" tIns="0" rIns="0" bIns="0" rtlCol="0" anchor="t"/>
          <a:lstStyle/>
          <a:p>
            <a:pPr algn="l" indent="0" marL="0">
              <a:lnSpc>
                <a:spcPct val="112000"/>
              </a:lnSpc>
              <a:buNone/>
            </a:pPr>
            <a:r>
              <a:rPr lang="en-US" sz="1150" b="1" spc="100" kern="0" dirty="0">
                <a:solidFill>
                  <a:srgbClr val="1D2433"/>
                </a:solidFill>
                <a:latin typeface="Calibri" pitchFamily="34" charset="0"/>
                <a:ea typeface="Calibri" pitchFamily="34" charset="-122"/>
                <a:cs typeface="Calibri" pitchFamily="34" charset="-120"/>
              </a:rPr>
              <a:t>2.  RETRY</a:t>
            </a:r>
            <a:endParaRPr lang="en-US" sz="1150" dirty="0"/>
          </a:p>
        </p:txBody>
      </p:sp>
      <p:sp>
        <p:nvSpPr>
          <p:cNvPr id="10" name="Text 8"/>
          <p:cNvSpPr txBox="1"/>
          <p:nvPr/>
        </p:nvSpPr>
        <p:spPr>
          <a:xfrm>
            <a:off x="1042416" y="2560320"/>
            <a:ext cx="5870448" cy="201168"/>
          </a:xfrm>
          <a:prstGeom prst="rect">
            <a:avLst/>
          </a:prstGeom>
          <a:noFill/>
          <a:ln/>
        </p:spPr>
        <p:txBody>
          <a:bodyPr wrap="square" lIns="0" tIns="0" rIns="0" bIns="0" rtlCol="0" anchor="t"/>
          <a:lstStyle/>
          <a:p>
            <a:pPr algn="l" indent="0" marL="0">
              <a:lnSpc>
                <a:spcPct val="112000"/>
              </a:lnSpc>
              <a:buNone/>
            </a:pPr>
            <a:r>
              <a:rPr lang="en-US" sz="1000" dirty="0">
                <a:solidFill>
                  <a:srgbClr val="36454F"/>
                </a:solidFill>
                <a:latin typeface="Calibri" pitchFamily="34" charset="0"/>
                <a:ea typeface="Calibri" pitchFamily="34" charset="-122"/>
                <a:cs typeface="Calibri" pitchFamily="34" charset="-120"/>
              </a:rPr>
              <a:t>2 attempts, exponential backoff + jitter, transient only  ·  base 200 ms</a:t>
            </a:r>
            <a:endParaRPr lang="en-US" sz="1000" dirty="0"/>
          </a:p>
        </p:txBody>
      </p:sp>
      <p:sp>
        <p:nvSpPr>
          <p:cNvPr id="11" name="Shape 9"/>
          <p:cNvSpPr/>
          <p:nvPr/>
        </p:nvSpPr>
        <p:spPr>
          <a:xfrm>
            <a:off x="1133856" y="2834640"/>
            <a:ext cx="5687568" cy="2148840"/>
          </a:xfrm>
          <a:prstGeom prst="roundRect">
            <a:avLst>
              <a:gd name="adj" fmla="val 2979"/>
            </a:avLst>
          </a:prstGeom>
          <a:solidFill>
            <a:srgbClr val="D5E0EB"/>
          </a:solidFill>
          <a:ln/>
        </p:spPr>
      </p:sp>
      <p:sp>
        <p:nvSpPr>
          <p:cNvPr id="12" name="Text 10"/>
          <p:cNvSpPr txBox="1"/>
          <p:nvPr/>
        </p:nvSpPr>
        <p:spPr>
          <a:xfrm>
            <a:off x="1335024" y="2944368"/>
            <a:ext cx="5285232" cy="219456"/>
          </a:xfrm>
          <a:prstGeom prst="rect">
            <a:avLst/>
          </a:prstGeom>
          <a:noFill/>
          <a:ln/>
        </p:spPr>
        <p:txBody>
          <a:bodyPr wrap="square" lIns="0" tIns="0" rIns="0" bIns="0" rtlCol="0" anchor="t"/>
          <a:lstStyle/>
          <a:p>
            <a:pPr algn="l" indent="0" marL="0">
              <a:lnSpc>
                <a:spcPct val="112000"/>
              </a:lnSpc>
              <a:buNone/>
            </a:pPr>
            <a:r>
              <a:rPr lang="en-US" sz="1150" b="1" spc="100" kern="0" dirty="0">
                <a:solidFill>
                  <a:srgbClr val="1D2433"/>
                </a:solidFill>
                <a:latin typeface="Calibri" pitchFamily="34" charset="0"/>
                <a:ea typeface="Calibri" pitchFamily="34" charset="-122"/>
                <a:cs typeface="Calibri" pitchFamily="34" charset="-120"/>
              </a:rPr>
              <a:t>3.  CIRCUIT BREAKER</a:t>
            </a:r>
            <a:endParaRPr lang="en-US" sz="1150" dirty="0"/>
          </a:p>
        </p:txBody>
      </p:sp>
      <p:sp>
        <p:nvSpPr>
          <p:cNvPr id="13" name="Text 11"/>
          <p:cNvSpPr txBox="1"/>
          <p:nvPr/>
        </p:nvSpPr>
        <p:spPr>
          <a:xfrm>
            <a:off x="1335024" y="3163824"/>
            <a:ext cx="5285232" cy="201168"/>
          </a:xfrm>
          <a:prstGeom prst="rect">
            <a:avLst/>
          </a:prstGeom>
          <a:noFill/>
          <a:ln/>
        </p:spPr>
        <p:txBody>
          <a:bodyPr wrap="square" lIns="0" tIns="0" rIns="0" bIns="0" rtlCol="0" anchor="t"/>
          <a:lstStyle/>
          <a:p>
            <a:pPr algn="l" indent="0" marL="0">
              <a:lnSpc>
                <a:spcPct val="112000"/>
              </a:lnSpc>
              <a:buNone/>
            </a:pPr>
            <a:r>
              <a:rPr lang="en-US" sz="1000" dirty="0">
                <a:solidFill>
                  <a:srgbClr val="36454F"/>
                </a:solidFill>
                <a:latin typeface="Calibri" pitchFamily="34" charset="0"/>
                <a:ea typeface="Calibri" pitchFamily="34" charset="-122"/>
                <a:cs typeface="Calibri" pitchFamily="34" charset="-120"/>
              </a:rPr>
              <a:t>50% of at least 8 calls in 30 s  →  open for 15 s, then one trial call</a:t>
            </a:r>
            <a:endParaRPr lang="en-US" sz="1000" dirty="0"/>
          </a:p>
        </p:txBody>
      </p:sp>
      <p:sp>
        <p:nvSpPr>
          <p:cNvPr id="14" name="Shape 12"/>
          <p:cNvSpPr/>
          <p:nvPr/>
        </p:nvSpPr>
        <p:spPr>
          <a:xfrm>
            <a:off x="1426464" y="3438144"/>
            <a:ext cx="5102352" cy="1143000"/>
          </a:xfrm>
          <a:prstGeom prst="roundRect">
            <a:avLst>
              <a:gd name="adj" fmla="val 5600"/>
            </a:avLst>
          </a:prstGeom>
          <a:solidFill>
            <a:srgbClr val="C8D6E4"/>
          </a:solidFill>
          <a:ln/>
        </p:spPr>
      </p:sp>
      <p:sp>
        <p:nvSpPr>
          <p:cNvPr id="15" name="Text 13"/>
          <p:cNvSpPr txBox="1"/>
          <p:nvPr/>
        </p:nvSpPr>
        <p:spPr>
          <a:xfrm>
            <a:off x="1627632" y="3547872"/>
            <a:ext cx="4700016" cy="219456"/>
          </a:xfrm>
          <a:prstGeom prst="rect">
            <a:avLst/>
          </a:prstGeom>
          <a:noFill/>
          <a:ln/>
        </p:spPr>
        <p:txBody>
          <a:bodyPr wrap="square" lIns="0" tIns="0" rIns="0" bIns="0" rtlCol="0" anchor="t"/>
          <a:lstStyle/>
          <a:p>
            <a:pPr algn="l" indent="0" marL="0">
              <a:lnSpc>
                <a:spcPct val="112000"/>
              </a:lnSpc>
              <a:buNone/>
            </a:pPr>
            <a:r>
              <a:rPr lang="en-US" sz="1150" b="1" spc="100" kern="0" dirty="0">
                <a:solidFill>
                  <a:srgbClr val="1D2433"/>
                </a:solidFill>
                <a:latin typeface="Calibri" pitchFamily="34" charset="0"/>
                <a:ea typeface="Calibri" pitchFamily="34" charset="-122"/>
                <a:cs typeface="Calibri" pitchFamily="34" charset="-120"/>
              </a:rPr>
              <a:t>4.  ATTEMPT TIMEOUT</a:t>
            </a:r>
            <a:endParaRPr lang="en-US" sz="1150" dirty="0"/>
          </a:p>
        </p:txBody>
      </p:sp>
      <p:sp>
        <p:nvSpPr>
          <p:cNvPr id="16" name="Text 14"/>
          <p:cNvSpPr txBox="1"/>
          <p:nvPr/>
        </p:nvSpPr>
        <p:spPr>
          <a:xfrm>
            <a:off x="1627632" y="3767328"/>
            <a:ext cx="4700016" cy="201168"/>
          </a:xfrm>
          <a:prstGeom prst="rect">
            <a:avLst/>
          </a:prstGeom>
          <a:noFill/>
          <a:ln/>
        </p:spPr>
        <p:txBody>
          <a:bodyPr wrap="square" lIns="0" tIns="0" rIns="0" bIns="0" rtlCol="0" anchor="t"/>
          <a:lstStyle/>
          <a:p>
            <a:pPr algn="l" indent="0" marL="0">
              <a:lnSpc>
                <a:spcPct val="112000"/>
              </a:lnSpc>
              <a:buNone/>
            </a:pPr>
            <a:r>
              <a:rPr lang="en-US" sz="1000" dirty="0">
                <a:solidFill>
                  <a:srgbClr val="36454F"/>
                </a:solidFill>
                <a:latin typeface="Calibri" pitchFamily="34" charset="0"/>
                <a:ea typeface="Calibri" pitchFamily="34" charset="-122"/>
                <a:cs typeface="Calibri" pitchFamily="34" charset="-120"/>
              </a:rPr>
              <a:t>caps each individual try  ·  2 000 ms</a:t>
            </a:r>
            <a:endParaRPr lang="en-US" sz="1000" dirty="0"/>
          </a:p>
        </p:txBody>
      </p:sp>
      <p:sp>
        <p:nvSpPr>
          <p:cNvPr id="17" name="Shape 15"/>
          <p:cNvSpPr/>
          <p:nvPr/>
        </p:nvSpPr>
        <p:spPr>
          <a:xfrm>
            <a:off x="1719072" y="4041648"/>
            <a:ext cx="4517136" cy="731520"/>
          </a:xfrm>
          <a:prstGeom prst="roundRect">
            <a:avLst>
              <a:gd name="adj" fmla="val 8750"/>
            </a:avLst>
          </a:prstGeom>
          <a:solidFill>
            <a:srgbClr val="6D2E46"/>
          </a:solidFill>
          <a:ln/>
        </p:spPr>
      </p:sp>
      <p:sp>
        <p:nvSpPr>
          <p:cNvPr id="18" name="Text 16"/>
          <p:cNvSpPr txBox="1"/>
          <p:nvPr/>
        </p:nvSpPr>
        <p:spPr>
          <a:xfrm>
            <a:off x="1719072" y="4041648"/>
            <a:ext cx="4517136" cy="731520"/>
          </a:xfrm>
          <a:prstGeom prst="rect">
            <a:avLst/>
          </a:prstGeom>
          <a:noFill/>
          <a:ln/>
        </p:spPr>
        <p:txBody>
          <a:bodyPr wrap="square" lIns="0" tIns="0" rIns="0" bIns="0" rtlCol="0" anchor="ctr"/>
          <a:lstStyle/>
          <a:p>
            <a:pPr algn="ctr" indent="0" marL="0">
              <a:lnSpc>
                <a:spcPct val="112000"/>
              </a:lnSpc>
              <a:buNone/>
            </a:pPr>
            <a:r>
              <a:rPr lang="en-US" sz="1300" b="1" dirty="0">
                <a:solidFill>
                  <a:srgbClr val="FFFFFF"/>
                </a:solidFill>
                <a:latin typeface="Calibri" pitchFamily="34" charset="0"/>
                <a:ea typeface="Calibri" pitchFamily="34" charset="-122"/>
                <a:cs typeface="Calibri" pitchFamily="34" charset="-120"/>
              </a:rPr>
              <a:t>the HTTP request</a:t>
            </a:r>
            <a:endParaRPr lang="en-US" sz="1300" dirty="0"/>
          </a:p>
        </p:txBody>
      </p:sp>
      <p:sp>
        <p:nvSpPr>
          <p:cNvPr id="19" name="Shape 17"/>
          <p:cNvSpPr/>
          <p:nvPr/>
        </p:nvSpPr>
        <p:spPr>
          <a:xfrm>
            <a:off x="7598664" y="1627632"/>
            <a:ext cx="4044391" cy="2121408"/>
          </a:xfrm>
          <a:prstGeom prst="roundRect">
            <a:avLst>
              <a:gd name="adj" fmla="val 3017"/>
            </a:avLst>
          </a:prstGeom>
          <a:solidFill>
            <a:srgbClr val="F6EAEE"/>
          </a:solidFill>
          <a:ln/>
        </p:spPr>
      </p:sp>
      <p:sp>
        <p:nvSpPr>
          <p:cNvPr id="20" name="Text 18"/>
          <p:cNvSpPr txBox="1"/>
          <p:nvPr/>
        </p:nvSpPr>
        <p:spPr>
          <a:xfrm>
            <a:off x="7854696" y="1810512"/>
            <a:ext cx="3532327" cy="256032"/>
          </a:xfrm>
          <a:prstGeom prst="rect">
            <a:avLst/>
          </a:prstGeom>
          <a:noFill/>
          <a:ln/>
        </p:spPr>
        <p:txBody>
          <a:bodyPr wrap="square" lIns="0" tIns="0" rIns="0" bIns="0" rtlCol="0" anchor="t"/>
          <a:lstStyle/>
          <a:p>
            <a:pPr algn="l" indent="0" marL="0">
              <a:lnSpc>
                <a:spcPct val="112000"/>
              </a:lnSpc>
              <a:buNone/>
            </a:pPr>
            <a:r>
              <a:rPr lang="en-US" sz="1350" b="1" dirty="0">
                <a:solidFill>
                  <a:srgbClr val="6D2E46"/>
                </a:solidFill>
                <a:latin typeface="Calibri" pitchFamily="34" charset="0"/>
                <a:ea typeface="Calibri" pitchFamily="34" charset="-122"/>
                <a:cs typeface="Calibri" pitchFamily="34" charset="-120"/>
              </a:rPr>
              <a:t>Why the attempt timeout is innermost</a:t>
            </a:r>
            <a:endParaRPr lang="en-US" sz="1350" dirty="0"/>
          </a:p>
        </p:txBody>
      </p:sp>
      <p:sp>
        <p:nvSpPr>
          <p:cNvPr id="21" name="Text 19"/>
          <p:cNvSpPr txBox="1"/>
          <p:nvPr/>
        </p:nvSpPr>
        <p:spPr>
          <a:xfrm>
            <a:off x="7854696" y="2103120"/>
            <a:ext cx="3532327" cy="1517904"/>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Put it outside the retry and one slow call consumes the whole budget: the outer timeout fires, and no retry is ever attempted. The retry policy then silently does nothing — it is configured, it looks correct, and it never runs.</a:t>
            </a:r>
            <a:endParaRPr lang="en-US" sz="1200" dirty="0"/>
          </a:p>
        </p:txBody>
      </p:sp>
      <p:sp>
        <p:nvSpPr>
          <p:cNvPr id="22" name="Shape 20"/>
          <p:cNvSpPr/>
          <p:nvPr/>
        </p:nvSpPr>
        <p:spPr>
          <a:xfrm>
            <a:off x="7598664" y="3895344"/>
            <a:ext cx="4044391" cy="1883664"/>
          </a:xfrm>
          <a:prstGeom prst="roundRect">
            <a:avLst>
              <a:gd name="adj" fmla="val 3398"/>
            </a:avLst>
          </a:prstGeom>
          <a:solidFill>
            <a:srgbClr val="FBF2E4"/>
          </a:solidFill>
          <a:ln/>
        </p:spPr>
      </p:sp>
      <p:sp>
        <p:nvSpPr>
          <p:cNvPr id="23" name="Text 21"/>
          <p:cNvSpPr txBox="1"/>
          <p:nvPr/>
        </p:nvSpPr>
        <p:spPr>
          <a:xfrm>
            <a:off x="7854696" y="4078224"/>
            <a:ext cx="3532327" cy="256032"/>
          </a:xfrm>
          <a:prstGeom prst="rect">
            <a:avLst/>
          </a:prstGeom>
          <a:noFill/>
          <a:ln/>
        </p:spPr>
        <p:txBody>
          <a:bodyPr wrap="square" lIns="0" tIns="0" rIns="0" bIns="0" rtlCol="0" anchor="t"/>
          <a:lstStyle/>
          <a:p>
            <a:pPr algn="l" indent="0" marL="0">
              <a:lnSpc>
                <a:spcPct val="112000"/>
              </a:lnSpc>
              <a:buNone/>
            </a:pPr>
            <a:r>
              <a:rPr lang="en-US" sz="1350" b="1" dirty="0">
                <a:solidFill>
                  <a:srgbClr val="A8620A"/>
                </a:solidFill>
                <a:latin typeface="Calibri" pitchFamily="34" charset="0"/>
                <a:ea typeface="Calibri" pitchFamily="34" charset="-122"/>
                <a:cs typeface="Calibri" pitchFamily="34" charset="-120"/>
              </a:rPr>
              <a:t>Jitter is not an optimisation</a:t>
            </a:r>
            <a:endParaRPr lang="en-US" sz="1350" dirty="0"/>
          </a:p>
        </p:txBody>
      </p:sp>
      <p:sp>
        <p:nvSpPr>
          <p:cNvPr id="24" name="Text 22"/>
          <p:cNvSpPr txBox="1"/>
          <p:nvPr/>
        </p:nvSpPr>
        <p:spPr>
          <a:xfrm>
            <a:off x="7854696" y="4370832"/>
            <a:ext cx="3532327" cy="128016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Backoff spreads one client’s retries out. Jitter spreads every client’s retries out. Without it, everyone who failed at the same moment retries at the same moment, and the dependency that was just coming back up is knocked straight over — one outage becomes a series of them.</a:t>
            </a:r>
            <a:endParaRPr lang="en-US" sz="1200" dirty="0"/>
          </a:p>
        </p:txBody>
      </p:sp>
      <p:sp>
        <p:nvSpPr>
          <p:cNvPr id="25" name="Text 23"/>
          <p:cNvSpPr txBox="1"/>
          <p:nvPr/>
        </p:nvSpPr>
        <p:spPr>
          <a:xfrm>
            <a:off x="548640" y="5907024"/>
            <a:ext cx="11094415" cy="475488"/>
          </a:xfrm>
          <a:prstGeom prst="rect">
            <a:avLst/>
          </a:prstGeom>
          <a:noFill/>
          <a:ln/>
        </p:spPr>
        <p:txBody>
          <a:bodyPr wrap="square" lIns="0" tIns="0" rIns="0" bIns="0" rtlCol="0" anchor="t"/>
          <a:lstStyle/>
          <a:p>
            <a:pPr algn="ctr" indent="0" marL="0">
              <a:lnSpc>
                <a:spcPct val="112000"/>
              </a:lnSpc>
              <a:buNone/>
            </a:pPr>
            <a:r>
              <a:rPr lang="en-US" sz="1150" i="1" dirty="0">
                <a:solidFill>
                  <a:srgbClr val="6B7A8D"/>
                </a:solidFill>
                <a:latin typeface="Calibri" pitchFamily="34" charset="0"/>
                <a:ea typeface="Calibri" pitchFamily="34" charset="-122"/>
                <a:cs typeface="Calibri" pitchFamily="34" charset="-120"/>
              </a:rPr>
              <a:t>Built with  Microsoft.Extensions.Http.Resilience  (Polly v8), and every value is configurable per downstream — resilience settings that are hardcoded cannot be adjusted when a dependency turns out slower in production than in testing.</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THE LESSON OF WEEK 3</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A retry policy belongs to the call, not to the service</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All four of these calls go to services this one depends on. Two are retried. Two must never be.</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4415" cy="914400"/>
        </p:xfrm>
        <a:graphic>
          <a:graphicData uri="http://schemas.openxmlformats.org/drawingml/2006/table">
            <a:tbl>
              <a:tblPr/>
              <a:tblGrid>
                <a:gridCol w="4480560"/>
                <a:gridCol w="2743200"/>
                <a:gridCol w="1920240"/>
                <a:gridCol w="1950415"/>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Outbound call</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Goes to</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Idempotent</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Retried</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r>
              <a:tr h="384048">
                <a:tc>
                  <a:txBody>
                    <a:bodyPr/>
                    <a:lstStyle/>
                    <a:p>
                      <a:pPr indent="0" marL="0">
                        <a:buNone/>
                      </a:pPr>
                      <a:r>
                        <a:rPr lang="en-US" sz="1100" dirty="0">
                          <a:solidFill>
                            <a:srgbClr val="1D2433"/>
                          </a:solidFill>
                          <a:latin typeface="Courier New" pitchFamily="34" charset="0"/>
                          <a:ea typeface="Courier New" pitchFamily="34" charset="-122"/>
                          <a:cs typeface="Courier New" pitchFamily="34" charset="-120"/>
                        </a:rPr>
                        <a:t>GET /api/v1/users/{id}</a:t>
                      </a:r>
                      <a:endParaRPr lang="en-US" sz="1100" dirty="0">
                        <a:latin typeface="Courier New" charset="0"/>
                        <a:ea typeface="Courier New" charset="0"/>
                        <a:cs typeface="Courier New"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User Service</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84048">
                <a:tc>
                  <a:txBody>
                    <a:bodyPr/>
                    <a:lstStyle/>
                    <a:p>
                      <a:pPr indent="0" marL="0">
                        <a:buNone/>
                      </a:pPr>
                      <a:r>
                        <a:rPr lang="en-US" sz="1100" dirty="0">
                          <a:solidFill>
                            <a:srgbClr val="1D2433"/>
                          </a:solidFill>
                          <a:latin typeface="Courier New" pitchFamily="34" charset="0"/>
                          <a:ea typeface="Courier New" pitchFamily="34" charset="-122"/>
                          <a:cs typeface="Courier New" pitchFamily="34" charset="-120"/>
                        </a:rPr>
                        <a:t>GET /api/v1/products/{id}</a:t>
                      </a:r>
                      <a:endParaRPr lang="en-US" sz="1100" dirty="0">
                        <a:latin typeface="Courier New" charset="0"/>
                        <a:ea typeface="Courier New" charset="0"/>
                        <a:cs typeface="Courier New"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Product Service</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algn="ctr" indent="0" marL="0">
                        <a:buNone/>
                      </a:pPr>
                      <a:r>
                        <a:rPr lang="en-US" sz="1200" b="1" dirty="0">
                          <a:solidFill>
                            <a:srgbClr val="3A6B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algn="ctr" indent="0" marL="0">
                        <a:buNone/>
                      </a:pPr>
                      <a:r>
                        <a:rPr lang="en-US" sz="1200" b="1" dirty="0">
                          <a:solidFill>
                            <a:srgbClr val="3A6B2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84048">
                <a:tc>
                  <a:txBody>
                    <a:bodyPr/>
                    <a:lstStyle/>
                    <a:p>
                      <a:pPr indent="0" marL="0">
                        <a:buNone/>
                      </a:pPr>
                      <a:r>
                        <a:rPr lang="en-US" sz="1100" dirty="0">
                          <a:solidFill>
                            <a:srgbClr val="1D2433"/>
                          </a:solidFill>
                          <a:latin typeface="Courier New" pitchFamily="34" charset="0"/>
                          <a:ea typeface="Courier New" pitchFamily="34" charset="-122"/>
                          <a:cs typeface="Courier New" pitchFamily="34" charset="-120"/>
                        </a:rPr>
                        <a:t>POST /products/{id}/stock/reserve</a:t>
                      </a:r>
                      <a:endParaRPr lang="en-US" sz="1100" dirty="0">
                        <a:latin typeface="Courier New" charset="0"/>
                        <a:ea typeface="Courier New" charset="0"/>
                        <a:cs typeface="Courier New"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Product Service</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algn="ctr" indent="0" marL="0">
                        <a:buNone/>
                      </a:pPr>
                      <a:r>
                        <a:rPr lang="en-US" sz="1200" b="1" dirty="0">
                          <a:solidFill>
                            <a:srgbClr val="B04242"/>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algn="ctr" indent="0" marL="0">
                        <a:buNone/>
                      </a:pPr>
                      <a:r>
                        <a:rPr lang="en-US" sz="1200" b="1" dirty="0">
                          <a:solidFill>
                            <a:srgbClr val="B04242"/>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r>
              <a:tr h="384048">
                <a:tc>
                  <a:txBody>
                    <a:bodyPr/>
                    <a:lstStyle/>
                    <a:p>
                      <a:pPr indent="0" marL="0">
                        <a:buNone/>
                      </a:pPr>
                      <a:r>
                        <a:rPr lang="en-US" sz="1100" dirty="0">
                          <a:solidFill>
                            <a:srgbClr val="1D2433"/>
                          </a:solidFill>
                          <a:latin typeface="Courier New" pitchFamily="34" charset="0"/>
                          <a:ea typeface="Courier New" pitchFamily="34" charset="-122"/>
                          <a:cs typeface="Courier New" pitchFamily="34" charset="-120"/>
                        </a:rPr>
                        <a:t>POST /products/{id}/stock/release</a:t>
                      </a:r>
                      <a:endParaRPr lang="en-US" sz="1100" dirty="0">
                        <a:latin typeface="Courier New" charset="0"/>
                        <a:ea typeface="Courier New" charset="0"/>
                        <a:cs typeface="Courier New"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indent="0" marL="0">
                        <a:buNone/>
                      </a:pPr>
                      <a:r>
                        <a:rPr lang="en-US" sz="1200" dirty="0">
                          <a:solidFill>
                            <a:srgbClr val="36454F"/>
                          </a:solidFill>
                          <a:latin typeface="Calibri" pitchFamily="34" charset="0"/>
                          <a:ea typeface="Calibri" pitchFamily="34" charset="-122"/>
                          <a:cs typeface="Calibri" pitchFamily="34" charset="-120"/>
                        </a:rPr>
                        <a:t>Product Service</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algn="ctr" indent="0" marL="0">
                        <a:buNone/>
                      </a:pPr>
                      <a:r>
                        <a:rPr lang="en-US" sz="1200" b="1" dirty="0">
                          <a:solidFill>
                            <a:srgbClr val="B04242"/>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c>
                  <a:txBody>
                    <a:bodyPr/>
                    <a:lstStyle/>
                    <a:p>
                      <a:pPr algn="ctr" indent="0" marL="0">
                        <a:buNone/>
                      </a:pPr>
                      <a:r>
                        <a:rPr lang="en-US" sz="1200" b="1" dirty="0">
                          <a:solidFill>
                            <a:srgbClr val="B04242"/>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01600" marR="101600" marT="38100" marB="381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BECEC"/>
                    </a:solidFill>
                  </a:tcPr>
                </a:tc>
              </a:tr>
            </a:tbl>
          </a:graphicData>
        </a:graphic>
      </p:graphicFrame>
      <p:sp>
        <p:nvSpPr>
          <p:cNvPr id="6" name="Shape 3"/>
          <p:cNvSpPr/>
          <p:nvPr/>
        </p:nvSpPr>
        <p:spPr>
          <a:xfrm>
            <a:off x="548640" y="3822192"/>
            <a:ext cx="5449824" cy="2011680"/>
          </a:xfrm>
          <a:prstGeom prst="roundRect">
            <a:avLst>
              <a:gd name="adj" fmla="val 3182"/>
            </a:avLst>
          </a:prstGeom>
          <a:solidFill>
            <a:srgbClr val="F6EAEE"/>
          </a:solidFill>
          <a:ln/>
        </p:spPr>
      </p:sp>
      <p:sp>
        <p:nvSpPr>
          <p:cNvPr id="7" name="Text 4"/>
          <p:cNvSpPr txBox="1"/>
          <p:nvPr/>
        </p:nvSpPr>
        <p:spPr>
          <a:xfrm>
            <a:off x="822960" y="3986784"/>
            <a:ext cx="4901184" cy="256032"/>
          </a:xfrm>
          <a:prstGeom prst="rect">
            <a:avLst/>
          </a:prstGeom>
          <a:noFill/>
          <a:ln/>
        </p:spPr>
        <p:txBody>
          <a:bodyPr wrap="square" lIns="0" tIns="0" rIns="0" bIns="0" rtlCol="0" anchor="t"/>
          <a:lstStyle/>
          <a:p>
            <a:pPr algn="l" indent="0" marL="0">
              <a:lnSpc>
                <a:spcPct val="112000"/>
              </a:lnSpc>
              <a:buNone/>
            </a:pPr>
            <a:r>
              <a:rPr lang="en-US" sz="1400" b="1" dirty="0">
                <a:solidFill>
                  <a:srgbClr val="6D2E46"/>
                </a:solidFill>
                <a:latin typeface="Calibri" pitchFamily="34" charset="0"/>
                <a:ea typeface="Calibri" pitchFamily="34" charset="-122"/>
                <a:cs typeface="Calibri" pitchFamily="34" charset="-120"/>
              </a:rPr>
              <a:t>“Your reserve call timed out. Do you retry?”</a:t>
            </a:r>
            <a:endParaRPr lang="en-US" sz="1400" dirty="0"/>
          </a:p>
        </p:txBody>
      </p:sp>
      <p:sp>
        <p:nvSpPr>
          <p:cNvPr id="8" name="Text 5"/>
          <p:cNvSpPr txBox="1"/>
          <p:nvPr/>
        </p:nvSpPr>
        <p:spPr>
          <a:xfrm>
            <a:off x="822960" y="4279392"/>
            <a:ext cx="4901184" cy="694944"/>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No. On a timeout the request may well have been applied — the response just never arrived, and nothing in the timeout tells you which happened. Retrying reserves the stock a second time.</a:t>
            </a:r>
            <a:endParaRPr lang="en-US" sz="1200" dirty="0"/>
          </a:p>
        </p:txBody>
      </p:sp>
      <p:sp>
        <p:nvSpPr>
          <p:cNvPr id="9" name="Text 6"/>
          <p:cNvSpPr txBox="1"/>
          <p:nvPr/>
        </p:nvSpPr>
        <p:spPr>
          <a:xfrm>
            <a:off x="822960" y="4974336"/>
            <a:ext cx="4901184" cy="841248"/>
          </a:xfrm>
          <a:prstGeom prst="rect">
            <a:avLst/>
          </a:prstGeom>
          <a:noFill/>
          <a:ln/>
        </p:spPr>
        <p:txBody>
          <a:bodyPr wrap="square" lIns="0" tIns="0" rIns="0" bIns="0" rtlCol="0" anchor="t"/>
          <a:lstStyle/>
          <a:p>
            <a:pPr algn="l" indent="0" marL="0">
              <a:lnSpc>
                <a:spcPct val="118000"/>
              </a:lnSpc>
              <a:buNone/>
            </a:pPr>
            <a:r>
              <a:rPr lang="en-US" sz="1200" dirty="0">
                <a:solidFill>
                  <a:srgbClr val="1D2433"/>
                </a:solidFill>
                <a:latin typeface="Calibri" pitchFamily="34" charset="0"/>
                <a:ea typeface="Calibri" pitchFamily="34" charset="-122"/>
                <a:cs typeface="Calibri" pitchFamily="34" charset="-120"/>
              </a:rPr>
              <a:t>So the reservation client gets timeouts and a circuit breaker but no retry at all, and the order fails instead. A failed order the customer can place again is far cheaper than silently removing stock twice.</a:t>
            </a:r>
            <a:endParaRPr lang="en-US" sz="1200" dirty="0"/>
          </a:p>
        </p:txBody>
      </p:sp>
      <p:sp>
        <p:nvSpPr>
          <p:cNvPr id="10" name="Shape 7"/>
          <p:cNvSpPr/>
          <p:nvPr/>
        </p:nvSpPr>
        <p:spPr>
          <a:xfrm>
            <a:off x="6190488" y="3822192"/>
            <a:ext cx="5449824" cy="2011680"/>
          </a:xfrm>
          <a:prstGeom prst="roundRect">
            <a:avLst>
              <a:gd name="adj" fmla="val 3182"/>
            </a:avLst>
          </a:prstGeom>
          <a:solidFill>
            <a:srgbClr val="F4F6F8"/>
          </a:solidFill>
          <a:ln/>
        </p:spPr>
      </p:sp>
      <p:sp>
        <p:nvSpPr>
          <p:cNvPr id="11" name="Text 8"/>
          <p:cNvSpPr txBox="1"/>
          <p:nvPr/>
        </p:nvSpPr>
        <p:spPr>
          <a:xfrm>
            <a:off x="6464808" y="3986784"/>
            <a:ext cx="4901184" cy="256032"/>
          </a:xfrm>
          <a:prstGeom prst="rect">
            <a:avLst/>
          </a:prstGeom>
          <a:noFill/>
          <a:ln/>
        </p:spPr>
        <p:txBody>
          <a:bodyPr wrap="square" lIns="0" tIns="0" rIns="0" bIns="0" rtlCol="0" anchor="t"/>
          <a:lstStyle/>
          <a:p>
            <a:pPr algn="l" indent="0" marL="0">
              <a:lnSpc>
                <a:spcPct val="112000"/>
              </a:lnSpc>
              <a:buNone/>
            </a:pPr>
            <a:r>
              <a:rPr lang="en-US" sz="1400" b="1" dirty="0">
                <a:solidFill>
                  <a:srgbClr val="1D2433"/>
                </a:solidFill>
                <a:latin typeface="Calibri" pitchFamily="34" charset="0"/>
                <a:ea typeface="Calibri" pitchFamily="34" charset="-122"/>
                <a:cs typeface="Calibri" pitchFamily="34" charset="-120"/>
              </a:rPr>
              <a:t>“Why is a 404 not a transient failure?”</a:t>
            </a:r>
            <a:endParaRPr lang="en-US" sz="1400" dirty="0"/>
          </a:p>
        </p:txBody>
      </p:sp>
      <p:sp>
        <p:nvSpPr>
          <p:cNvPr id="12" name="Text 9"/>
          <p:cNvSpPr txBox="1"/>
          <p:nvPr/>
        </p:nvSpPr>
        <p:spPr>
          <a:xfrm>
            <a:off x="6464808" y="4279392"/>
            <a:ext cx="4901184" cy="694944"/>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Transient means the same request might succeed if repeated — and a 404 never will. IsTransient() excludes every 4xx on purpose: 500s, 408 and 429 count, the rest do not.</a:t>
            </a:r>
            <a:endParaRPr lang="en-US" sz="1200" dirty="0"/>
          </a:p>
        </p:txBody>
      </p:sp>
      <p:sp>
        <p:nvSpPr>
          <p:cNvPr id="13" name="Text 10"/>
          <p:cNvSpPr txBox="1"/>
          <p:nvPr/>
        </p:nvSpPr>
        <p:spPr>
          <a:xfrm>
            <a:off x="6464808" y="4974336"/>
            <a:ext cx="4901184" cy="841248"/>
          </a:xfrm>
          <a:prstGeom prst="rect">
            <a:avLst/>
          </a:prstGeom>
          <a:noFill/>
          <a:ln/>
        </p:spPr>
        <p:txBody>
          <a:bodyPr wrap="square" lIns="0" tIns="0" rIns="0" bIns="0" rtlCol="0" anchor="t"/>
          <a:lstStyle/>
          <a:p>
            <a:pPr algn="l" indent="0" marL="0">
              <a:lnSpc>
                <a:spcPct val="118000"/>
              </a:lnSpc>
              <a:buNone/>
            </a:pPr>
            <a:r>
              <a:rPr lang="en-US" sz="1200" dirty="0">
                <a:solidFill>
                  <a:srgbClr val="1D2433"/>
                </a:solidFill>
                <a:latin typeface="Calibri" pitchFamily="34" charset="0"/>
                <a:ea typeface="Calibri" pitchFamily="34" charset="-122"/>
                <a:cs typeface="Calibri" pitchFamily="34" charset="-120"/>
              </a:rPr>
              <a:t>Worse than the wasted budget: if 4xx counted towards the circuit breaker, a burst of clients sending bad requests would trip it and take a perfectly healthy dependency offline for everyone.</a:t>
            </a:r>
            <a:endParaRPr lang="en-US" sz="1200" dirty="0"/>
          </a:p>
        </p:txBody>
      </p:sp>
      <p:sp>
        <p:nvSpPr>
          <p:cNvPr id="14" name="Text 11"/>
          <p:cNvSpPr txBox="1"/>
          <p:nvPr/>
        </p:nvSpPr>
        <p:spPr>
          <a:xfrm>
            <a:off x="548640" y="5980176"/>
            <a:ext cx="11094415" cy="402336"/>
          </a:xfrm>
          <a:prstGeom prst="rect">
            <a:avLst/>
          </a:prstGeom>
          <a:noFill/>
          <a:ln/>
        </p:spPr>
        <p:txBody>
          <a:bodyPr wrap="square" lIns="0" tIns="0" rIns="0" bIns="0" rtlCol="0" anchor="t"/>
          <a:lstStyle/>
          <a:p>
            <a:pPr algn="ctr" indent="0" marL="0">
              <a:lnSpc>
                <a:spcPct val="112000"/>
              </a:lnSpc>
              <a:buNone/>
            </a:pPr>
            <a:r>
              <a:rPr lang="en-US" sz="1150" i="1" dirty="0">
                <a:solidFill>
                  <a:srgbClr val="6B7A8D"/>
                </a:solidFill>
                <a:latin typeface="Calibri" pitchFamily="34" charset="0"/>
                <a:ea typeface="Calibri" pitchFamily="34" charset="-122"/>
                <a:cs typeface="Calibri" pitchFamily="34" charset="-120"/>
              </a:rPr>
              <a:t>ResiliencePipelineTests asserts the attempt count: the number of requests that actually reached the wire is the only observable difference between the two policies.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6D2E46"/>
                </a:solidFill>
                <a:latin typeface="Calibri" pitchFamily="34" charset="0"/>
                <a:ea typeface="Calibri" pitchFamily="34" charset="-122"/>
                <a:cs typeface="Calibri" pitchFamily="34" charset="-120"/>
              </a:rPr>
              <a:t>WEEK 3 CONCEPT 4</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Two failures that must never be collapsed into one</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DownstreamUnavailableException exists for exactly this distinction.</a:t>
            </a:r>
            <a:endParaRPr lang="en-US" sz="1350" dirty="0"/>
          </a:p>
        </p:txBody>
      </p:sp>
      <p:sp>
        <p:nvSpPr>
          <p:cNvPr id="5" name="Shape 3"/>
          <p:cNvSpPr/>
          <p:nvPr/>
        </p:nvSpPr>
        <p:spPr>
          <a:xfrm>
            <a:off x="548640" y="1627632"/>
            <a:ext cx="5449824" cy="2286000"/>
          </a:xfrm>
          <a:prstGeom prst="roundRect">
            <a:avLst>
              <a:gd name="adj" fmla="val 2800"/>
            </a:avLst>
          </a:prstGeom>
          <a:solidFill>
            <a:srgbClr val="F6EAEE"/>
          </a:solidFill>
          <a:ln/>
        </p:spPr>
      </p:sp>
      <p:sp>
        <p:nvSpPr>
          <p:cNvPr id="6" name="Shape 4"/>
          <p:cNvSpPr/>
          <p:nvPr/>
        </p:nvSpPr>
        <p:spPr>
          <a:xfrm>
            <a:off x="822960" y="1847088"/>
            <a:ext cx="512064" cy="512064"/>
          </a:xfrm>
          <a:prstGeom prst="ellipse">
            <a:avLst/>
          </a:prstGeom>
          <a:solidFill>
            <a:srgbClr val="6D2E46"/>
          </a:solidFill>
          <a:ln/>
        </p:spPr>
      </p:sp>
      <p:sp>
        <p:nvSpPr>
          <p:cNvPr id="7" name="Text 5"/>
          <p:cNvSpPr txBox="1"/>
          <p:nvPr/>
        </p:nvSpPr>
        <p:spPr>
          <a:xfrm>
            <a:off x="822960" y="1847088"/>
            <a:ext cx="512064"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409</a:t>
            </a:r>
            <a:endParaRPr lang="en-US" sz="1200" dirty="0"/>
          </a:p>
        </p:txBody>
      </p:sp>
      <p:sp>
        <p:nvSpPr>
          <p:cNvPr id="8" name="Text 6"/>
          <p:cNvSpPr txBox="1"/>
          <p:nvPr/>
        </p:nvSpPr>
        <p:spPr>
          <a:xfrm>
            <a:off x="1481328" y="1883664"/>
            <a:ext cx="4261104" cy="274320"/>
          </a:xfrm>
          <a:prstGeom prst="rect">
            <a:avLst/>
          </a:prstGeom>
          <a:noFill/>
          <a:ln/>
        </p:spPr>
        <p:txBody>
          <a:bodyPr wrap="square" lIns="0" tIns="0" rIns="0" bIns="0" rtlCol="0" anchor="t"/>
          <a:lstStyle/>
          <a:p>
            <a:pPr algn="l" indent="0" marL="0">
              <a:lnSpc>
                <a:spcPct val="112000"/>
              </a:lnSpc>
              <a:buNone/>
            </a:pPr>
            <a:r>
              <a:rPr lang="en-US" sz="1700" b="1" dirty="0">
                <a:solidFill>
                  <a:srgbClr val="6D2E46"/>
                </a:solidFill>
                <a:latin typeface="Calibri" pitchFamily="34" charset="0"/>
                <a:ea typeface="Calibri" pitchFamily="34" charset="-122"/>
                <a:cs typeface="Calibri" pitchFamily="34" charset="-120"/>
              </a:rPr>
              <a:t>The dependency answered</a:t>
            </a:r>
            <a:endParaRPr lang="en-US" sz="1700" dirty="0"/>
          </a:p>
        </p:txBody>
      </p:sp>
      <p:sp>
        <p:nvSpPr>
          <p:cNvPr id="9" name="Text 7"/>
          <p:cNvSpPr txBox="1"/>
          <p:nvPr/>
        </p:nvSpPr>
        <p:spPr>
          <a:xfrm>
            <a:off x="822960" y="2450592"/>
            <a:ext cx="4901184" cy="274320"/>
          </a:xfrm>
          <a:prstGeom prst="rect">
            <a:avLst/>
          </a:prstGeom>
          <a:noFill/>
          <a:ln/>
        </p:spPr>
        <p:txBody>
          <a:bodyPr wrap="square" lIns="0" tIns="0" rIns="0" bIns="0" rtlCol="0" anchor="t"/>
          <a:lstStyle/>
          <a:p>
            <a:pPr algn="l" indent="0" marL="0">
              <a:lnSpc>
                <a:spcPct val="112000"/>
              </a:lnSpc>
              <a:buNone/>
            </a:pPr>
            <a:r>
              <a:rPr lang="en-US" sz="1250" dirty="0">
                <a:solidFill>
                  <a:srgbClr val="1D2433"/>
                </a:solidFill>
                <a:latin typeface="Courier New" pitchFamily="34" charset="0"/>
                <a:ea typeface="Courier New" pitchFamily="34" charset="-122"/>
                <a:cs typeface="Courier New" pitchFamily="34" charset="-120"/>
              </a:rPr>
              <a:t>“Not enough stock.”</a:t>
            </a:r>
            <a:endParaRPr lang="en-US" sz="1250" dirty="0"/>
          </a:p>
        </p:txBody>
      </p:sp>
      <p:sp>
        <p:nvSpPr>
          <p:cNvPr id="10" name="Text 8"/>
          <p:cNvSpPr txBox="1"/>
          <p:nvPr/>
        </p:nvSpPr>
        <p:spPr>
          <a:xfrm>
            <a:off x="822960" y="2779776"/>
            <a:ext cx="4901184" cy="786384"/>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The Product Service is healthy and it has given a considered, correct answer. This is a business outcome, so it belongs to the customer: they should change their order.</a:t>
            </a:r>
            <a:endParaRPr lang="en-US" sz="1250" dirty="0"/>
          </a:p>
        </p:txBody>
      </p:sp>
      <p:sp>
        <p:nvSpPr>
          <p:cNvPr id="11" name="Text 9"/>
          <p:cNvSpPr txBox="1"/>
          <p:nvPr/>
        </p:nvSpPr>
        <p:spPr>
          <a:xfrm>
            <a:off x="822960" y="3602736"/>
            <a:ext cx="4901184" cy="256032"/>
          </a:xfrm>
          <a:prstGeom prst="rect">
            <a:avLst/>
          </a:prstGeom>
          <a:noFill/>
          <a:ln/>
        </p:spPr>
        <p:txBody>
          <a:bodyPr wrap="square" lIns="0" tIns="0" rIns="0" bIns="0" rtlCol="0" anchor="t"/>
          <a:lstStyle/>
          <a:p>
            <a:pPr algn="l" indent="0" marL="0">
              <a:lnSpc>
                <a:spcPct val="112000"/>
              </a:lnSpc>
              <a:buNone/>
            </a:pPr>
            <a:r>
              <a:rPr lang="en-US" sz="1200" i="1" dirty="0">
                <a:solidFill>
                  <a:srgbClr val="6B7A8D"/>
                </a:solidFill>
                <a:latin typeface="Calibri" pitchFamily="34" charset="0"/>
                <a:ea typeface="Calibri" pitchFamily="34" charset="-122"/>
                <a:cs typeface="Calibri" pitchFamily="34" charset="-120"/>
              </a:rPr>
              <a:t>Retrying it changes nothing.</a:t>
            </a:r>
            <a:endParaRPr lang="en-US" sz="1200" dirty="0"/>
          </a:p>
        </p:txBody>
      </p:sp>
      <p:sp>
        <p:nvSpPr>
          <p:cNvPr id="12" name="Shape 10"/>
          <p:cNvSpPr/>
          <p:nvPr/>
        </p:nvSpPr>
        <p:spPr>
          <a:xfrm>
            <a:off x="6190488" y="1627632"/>
            <a:ext cx="5449824" cy="2286000"/>
          </a:xfrm>
          <a:prstGeom prst="roundRect">
            <a:avLst>
              <a:gd name="adj" fmla="val 2800"/>
            </a:avLst>
          </a:prstGeom>
          <a:solidFill>
            <a:srgbClr val="FBF2E4"/>
          </a:solidFill>
          <a:ln/>
        </p:spPr>
      </p:sp>
      <p:sp>
        <p:nvSpPr>
          <p:cNvPr id="13" name="Shape 11"/>
          <p:cNvSpPr/>
          <p:nvPr/>
        </p:nvSpPr>
        <p:spPr>
          <a:xfrm>
            <a:off x="6464808" y="1847088"/>
            <a:ext cx="512064" cy="512064"/>
          </a:xfrm>
          <a:prstGeom prst="ellipse">
            <a:avLst/>
          </a:prstGeom>
          <a:solidFill>
            <a:srgbClr val="A8620A"/>
          </a:solidFill>
          <a:ln/>
        </p:spPr>
      </p:sp>
      <p:sp>
        <p:nvSpPr>
          <p:cNvPr id="14" name="Text 12"/>
          <p:cNvSpPr txBox="1"/>
          <p:nvPr/>
        </p:nvSpPr>
        <p:spPr>
          <a:xfrm>
            <a:off x="6464808" y="1847088"/>
            <a:ext cx="512064"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503</a:t>
            </a:r>
            <a:endParaRPr lang="en-US" sz="1200" dirty="0"/>
          </a:p>
        </p:txBody>
      </p:sp>
      <p:sp>
        <p:nvSpPr>
          <p:cNvPr id="15" name="Text 13"/>
          <p:cNvSpPr txBox="1"/>
          <p:nvPr/>
        </p:nvSpPr>
        <p:spPr>
          <a:xfrm>
            <a:off x="7123176" y="1883664"/>
            <a:ext cx="4261104" cy="274320"/>
          </a:xfrm>
          <a:prstGeom prst="rect">
            <a:avLst/>
          </a:prstGeom>
          <a:noFill/>
          <a:ln/>
        </p:spPr>
        <p:txBody>
          <a:bodyPr wrap="square" lIns="0" tIns="0" rIns="0" bIns="0" rtlCol="0" anchor="t"/>
          <a:lstStyle/>
          <a:p>
            <a:pPr algn="l" indent="0" marL="0">
              <a:lnSpc>
                <a:spcPct val="112000"/>
              </a:lnSpc>
              <a:buNone/>
            </a:pPr>
            <a:r>
              <a:rPr lang="en-US" sz="1700" b="1" dirty="0">
                <a:solidFill>
                  <a:srgbClr val="A8620A"/>
                </a:solidFill>
                <a:latin typeface="Calibri" pitchFamily="34" charset="0"/>
                <a:ea typeface="Calibri" pitchFamily="34" charset="-122"/>
                <a:cs typeface="Calibri" pitchFamily="34" charset="-120"/>
              </a:rPr>
              <a:t>The dependency did not answer</a:t>
            </a:r>
            <a:endParaRPr lang="en-US" sz="1700" dirty="0"/>
          </a:p>
        </p:txBody>
      </p:sp>
      <p:sp>
        <p:nvSpPr>
          <p:cNvPr id="16" name="Text 14"/>
          <p:cNvSpPr txBox="1"/>
          <p:nvPr/>
        </p:nvSpPr>
        <p:spPr>
          <a:xfrm>
            <a:off x="6464808" y="2450592"/>
            <a:ext cx="4901184" cy="274320"/>
          </a:xfrm>
          <a:prstGeom prst="rect">
            <a:avLst/>
          </a:prstGeom>
          <a:noFill/>
          <a:ln/>
        </p:spPr>
        <p:txBody>
          <a:bodyPr wrap="square" lIns="0" tIns="0" rIns="0" bIns="0" rtlCol="0" anchor="t"/>
          <a:lstStyle/>
          <a:p>
            <a:pPr algn="l" indent="0" marL="0">
              <a:lnSpc>
                <a:spcPct val="112000"/>
              </a:lnSpc>
              <a:buNone/>
            </a:pPr>
            <a:r>
              <a:rPr lang="en-US" sz="1250" dirty="0">
                <a:solidFill>
                  <a:srgbClr val="1D2433"/>
                </a:solidFill>
                <a:latin typeface="Courier New" pitchFamily="34" charset="0"/>
                <a:ea typeface="Courier New" pitchFamily="34" charset="-122"/>
                <a:cs typeface="Courier New" pitchFamily="34" charset="-120"/>
              </a:rPr>
              <a:t>“The Product Service did not respond.”</a:t>
            </a:r>
            <a:endParaRPr lang="en-US" sz="1250" dirty="0"/>
          </a:p>
        </p:txBody>
      </p:sp>
      <p:sp>
        <p:nvSpPr>
          <p:cNvPr id="17" name="Text 15"/>
          <p:cNvSpPr txBox="1"/>
          <p:nvPr/>
        </p:nvSpPr>
        <p:spPr>
          <a:xfrm>
            <a:off x="6464808" y="2779776"/>
            <a:ext cx="4901184" cy="786384"/>
          </a:xfrm>
          <a:prstGeom prst="rect">
            <a:avLst/>
          </a:prstGeom>
          <a:noFill/>
          <a:ln/>
        </p:spPr>
        <p:txBody>
          <a:bodyPr wrap="square" lIns="0" tIns="0" rIns="0" bIns="0" rtlCol="0" anchor="t"/>
          <a:lstStyle/>
          <a:p>
            <a:pPr algn="l" indent="0" marL="0">
              <a:lnSpc>
                <a:spcPct val="118000"/>
              </a:lnSpc>
              <a:buNone/>
            </a:pPr>
            <a:r>
              <a:rPr lang="en-US" sz="1250" dirty="0">
                <a:solidFill>
                  <a:srgbClr val="36454F"/>
                </a:solidFill>
                <a:latin typeface="Calibri" pitchFamily="34" charset="0"/>
                <a:ea typeface="Calibri" pitchFamily="34" charset="-122"/>
                <a:cs typeface="Calibri" pitchFamily="34" charset="-120"/>
              </a:rPr>
              <a:t>Timeout, connection refused, or an open circuit. Nothing is known about the customer’s order — only that this system is currently unwell. They should try again shortly.</a:t>
            </a:r>
            <a:endParaRPr lang="en-US" sz="1250" dirty="0"/>
          </a:p>
        </p:txBody>
      </p:sp>
      <p:sp>
        <p:nvSpPr>
          <p:cNvPr id="18" name="Text 16"/>
          <p:cNvSpPr txBox="1"/>
          <p:nvPr/>
        </p:nvSpPr>
        <p:spPr>
          <a:xfrm>
            <a:off x="6464808" y="3602736"/>
            <a:ext cx="4901184" cy="256032"/>
          </a:xfrm>
          <a:prstGeom prst="rect">
            <a:avLst/>
          </a:prstGeom>
          <a:noFill/>
          <a:ln/>
        </p:spPr>
        <p:txBody>
          <a:bodyPr wrap="square" lIns="0" tIns="0" rIns="0" bIns="0" rtlCol="0" anchor="t"/>
          <a:lstStyle/>
          <a:p>
            <a:pPr algn="l" indent="0" marL="0">
              <a:lnSpc>
                <a:spcPct val="112000"/>
              </a:lnSpc>
              <a:buNone/>
            </a:pPr>
            <a:r>
              <a:rPr lang="en-US" sz="1200" i="1" dirty="0">
                <a:solidFill>
                  <a:srgbClr val="6B7A8D"/>
                </a:solidFill>
                <a:latin typeface="Calibri" pitchFamily="34" charset="0"/>
                <a:ea typeface="Calibri" pitchFamily="34" charset="-122"/>
                <a:cs typeface="Calibri" pitchFamily="34" charset="-120"/>
              </a:rPr>
              <a:t>Retrying later may well work.</a:t>
            </a:r>
            <a:endParaRPr lang="en-US" sz="1200" dirty="0"/>
          </a:p>
        </p:txBody>
      </p:sp>
      <p:sp>
        <p:nvSpPr>
          <p:cNvPr id="19" name="Shape 17"/>
          <p:cNvSpPr/>
          <p:nvPr/>
        </p:nvSpPr>
        <p:spPr>
          <a:xfrm>
            <a:off x="548640" y="4078224"/>
            <a:ext cx="11094415" cy="960120"/>
          </a:xfrm>
          <a:prstGeom prst="roundRect">
            <a:avLst>
              <a:gd name="adj" fmla="val 6667"/>
            </a:avLst>
          </a:prstGeom>
          <a:solidFill>
            <a:srgbClr val="F4F6F8"/>
          </a:solidFill>
          <a:ln/>
        </p:spPr>
      </p:sp>
      <p:sp>
        <p:nvSpPr>
          <p:cNvPr id="20" name="Text 18"/>
          <p:cNvSpPr txBox="1"/>
          <p:nvPr/>
        </p:nvSpPr>
        <p:spPr>
          <a:xfrm>
            <a:off x="841248" y="4297680"/>
            <a:ext cx="10509199" cy="548640"/>
          </a:xfrm>
          <a:prstGeom prst="rect">
            <a:avLst/>
          </a:prstGeom>
          <a:noFill/>
          <a:ln/>
        </p:spPr>
        <p:txBody>
          <a:bodyPr wrap="square" lIns="0" tIns="0" rIns="0" bIns="0" rtlCol="0" anchor="t"/>
          <a:lstStyle/>
          <a:p>
            <a:pPr algn="l" indent="0" marL="0">
              <a:lnSpc>
                <a:spcPct val="118000"/>
              </a:lnSpc>
              <a:buNone/>
            </a:pPr>
            <a:r>
              <a:rPr lang="en-US" sz="1300" i="1" dirty="0">
                <a:solidFill>
                  <a:srgbClr val="1D2433"/>
                </a:solidFill>
                <a:latin typeface="Calibri" pitchFamily="34" charset="0"/>
                <a:ea typeface="Calibri" pitchFamily="34" charset="-122"/>
                <a:cs typeface="Calibri" pitchFamily="34" charset="-120"/>
              </a:rPr>
              <a:t>Collapsing both into a 500 would tell the customer nothing and tell the on-call engineer less: one of these is a shopping problem and the other is an outage, and the status code is where that difference gets communicated.</a:t>
            </a:r>
            <a:endParaRPr lang="en-US" sz="1300" dirty="0"/>
          </a:p>
        </p:txBody>
      </p:sp>
      <p:sp>
        <p:nvSpPr>
          <p:cNvPr id="21" name="Text 19"/>
          <p:cNvSpPr txBox="1"/>
          <p:nvPr/>
        </p:nvSpPr>
        <p:spPr>
          <a:xfrm>
            <a:off x="548640" y="5193792"/>
            <a:ext cx="11094415" cy="256032"/>
          </a:xfrm>
          <a:prstGeom prst="rect">
            <a:avLst/>
          </a:prstGeom>
          <a:noFill/>
          <a:ln/>
        </p:spPr>
        <p:txBody>
          <a:bodyPr wrap="square" lIns="0" tIns="0" rIns="0" bIns="0" rtlCol="0" anchor="t"/>
          <a:lstStyle/>
          <a:p>
            <a:pPr algn="l" indent="0" marL="0">
              <a:lnSpc>
                <a:spcPct val="112000"/>
              </a:lnSpc>
              <a:buNone/>
            </a:pPr>
            <a:r>
              <a:rPr lang="en-US" sz="1250" b="1" dirty="0">
                <a:solidFill>
                  <a:srgbClr val="6D2E46"/>
                </a:solidFill>
                <a:latin typeface="Calibri" pitchFamily="34" charset="0"/>
                <a:ea typeface="Calibri" pitchFamily="34" charset="-122"/>
                <a:cs typeface="Calibri" pitchFamily="34" charset="-120"/>
              </a:rPr>
              <a:t>How the mapping is done — one middleware, one place</a:t>
            </a:r>
            <a:endParaRPr lang="en-US" sz="1250" dirty="0"/>
          </a:p>
        </p:txBody>
      </p:sp>
      <p:sp>
        <p:nvSpPr>
          <p:cNvPr id="22" name="Shape 20"/>
          <p:cNvSpPr/>
          <p:nvPr/>
        </p:nvSpPr>
        <p:spPr>
          <a:xfrm>
            <a:off x="548640" y="5468112"/>
            <a:ext cx="11094415" cy="768096"/>
          </a:xfrm>
          <a:prstGeom prst="roundRect">
            <a:avLst>
              <a:gd name="adj" fmla="val 4762"/>
            </a:avLst>
          </a:prstGeom>
          <a:solidFill>
            <a:srgbClr val="222A35"/>
          </a:solidFill>
          <a:ln/>
          <a:effectLst>
            <a:outerShdw sx="100000" sy="100000" kx="0" ky="0" algn="bl" rotWithShape="0" blurRad="127000" dist="25400" dir="5400000">
              <a:srgbClr val="8F9EAC">
                <a:alpha val="22000"/>
              </a:srgbClr>
            </a:outerShdw>
          </a:effectLst>
        </p:spPr>
      </p:sp>
      <p:sp>
        <p:nvSpPr>
          <p:cNvPr id="23" name="Text 21"/>
          <p:cNvSpPr txBox="1"/>
          <p:nvPr/>
        </p:nvSpPr>
        <p:spPr>
          <a:xfrm>
            <a:off x="731520" y="5614416"/>
            <a:ext cx="10728655" cy="475488"/>
          </a:xfrm>
          <a:prstGeom prst="rect">
            <a:avLst/>
          </a:prstGeom>
          <a:noFill/>
          <a:ln/>
        </p:spPr>
        <p:txBody>
          <a:bodyPr wrap="square" lIns="0" tIns="0" rIns="0" bIns="0" rtlCol="0" anchor="t"/>
          <a:lstStyle/>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DomainException -&gt; 409 invalid_order_transition    OrderNotFound -&gt; 404 order_not_found</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DownstreamUnavailableException -&gt; 503 dependency_unavailable    anything else -&gt; 500 (logged, never leaked)</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STACK</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Three services, three databases, one command</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docker-compose.yml is the week 1-3 deliverable that ties the three services together.</a:t>
            </a:r>
            <a:endParaRPr lang="en-US" sz="1350" dirty="0"/>
          </a:p>
        </p:txBody>
      </p:sp>
      <p:sp>
        <p:nvSpPr>
          <p:cNvPr id="5" name="Shape 3"/>
          <p:cNvSpPr/>
          <p:nvPr/>
        </p:nvSpPr>
        <p:spPr>
          <a:xfrm>
            <a:off x="548640" y="1627632"/>
            <a:ext cx="6035040" cy="2103120"/>
          </a:xfrm>
          <a:prstGeom prst="roundRect">
            <a:avLst>
              <a:gd name="adj" fmla="val 1739"/>
            </a:avLst>
          </a:prstGeom>
          <a:solidFill>
            <a:srgbClr val="222A35"/>
          </a:solidFill>
          <a:ln/>
          <a:effectLst>
            <a:outerShdw sx="100000" sy="100000" kx="0" ky="0" algn="bl" rotWithShape="0" blurRad="127000" dist="25400" dir="5400000">
              <a:srgbClr val="8F9EAC">
                <a:alpha val="22000"/>
              </a:srgbClr>
            </a:outerShdw>
          </a:effectLst>
        </p:spPr>
      </p:sp>
      <p:sp>
        <p:nvSpPr>
          <p:cNvPr id="6" name="Text 4"/>
          <p:cNvSpPr txBox="1"/>
          <p:nvPr/>
        </p:nvSpPr>
        <p:spPr>
          <a:xfrm>
            <a:off x="731520" y="1773936"/>
            <a:ext cx="5669280" cy="1810512"/>
          </a:xfrm>
          <a:prstGeom prst="rect">
            <a:avLst/>
          </a:prstGeom>
          <a:noFill/>
          <a:ln/>
        </p:spPr>
        <p:txBody>
          <a:bodyPr wrap="square" lIns="0" tIns="0" rIns="0" bIns="0" rtlCol="0" anchor="t"/>
          <a:lstStyle/>
          <a:p>
            <a:pPr indent="0" marL="0">
              <a:lnSpc>
                <a:spcPct val="120000"/>
              </a:lnSpc>
              <a:buNone/>
            </a:pPr>
            <a:r>
              <a:rPr lang="en-US" sz="1050" dirty="0">
                <a:solidFill>
                  <a:srgbClr val="7FD8B8"/>
                </a:solidFill>
                <a:latin typeface="Courier New" pitchFamily="34" charset="0"/>
                <a:ea typeface="Courier New" pitchFamily="34" charset="-122"/>
                <a:cs typeface="Courier New" pitchFamily="34" charset="-120"/>
              </a:rPr>
              <a:t>$ docker compose up --build</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each service gets its own Postgres container</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services address each other by container name:</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http://product-service:8081   http://user-service:8000</a:t>
            </a:r>
            <a:endParaRPr lang="en-US" sz="1050" dirty="0"/>
          </a:p>
          <a:p>
            <a:pPr indent="0" marL="0">
              <a:lnSpc>
                <a:spcPct val="120000"/>
              </a:lnSpc>
              <a:buNone/>
            </a:pPr>
            <a:r>
              <a:rPr lang="en-US" sz="1050" i="1" dirty="0">
                <a:solidFill>
                  <a:srgbClr val="93A5B8"/>
                </a:solidFill>
                <a:latin typeface="Courier New" pitchFamily="34" charset="0"/>
                <a:ea typeface="Courier New" pitchFamily="34" charset="-122"/>
                <a:cs typeface="Courier New" pitchFamily="34" charset="-120"/>
              </a:rPr>
              <a:t># no host ports between services, no hardcoded IPs</a:t>
            </a:r>
            <a:endParaRPr lang="en-US" sz="1050" dirty="0"/>
          </a:p>
          <a:p>
            <a:pPr indent="0" marL="0">
              <a:lnSpc>
                <a:spcPct val="120000"/>
              </a:lnSpc>
              <a:buNone/>
            </a:pPr>
            <a:r>
              <a:rPr lang="en-US" sz="1050" dirty="0">
                <a:solidFill>
                  <a:srgbClr val="E3EAF2"/>
                </a:solidFill>
                <a:latin typeface="Courier New" pitchFamily="34" charset="0"/>
                <a:ea typeface="Courier New" pitchFamily="34" charset="-122"/>
                <a:cs typeface="Courier New" pitchFamily="34" charset="-120"/>
              </a:rPr>
              <a:t> </a:t>
            </a:r>
            <a:endParaRPr lang="en-US" sz="1050" dirty="0"/>
          </a:p>
          <a:p>
            <a:pPr indent="0" marL="0">
              <a:lnSpc>
                <a:spcPct val="120000"/>
              </a:lnSpc>
              <a:buNone/>
            </a:pPr>
            <a:r>
              <a:rPr lang="en-US" sz="1050" dirty="0">
                <a:solidFill>
                  <a:srgbClr val="7FD8B8"/>
                </a:solidFill>
                <a:latin typeface="Courier New" pitchFamily="34" charset="0"/>
                <a:ea typeface="Courier New" pitchFamily="34" charset="-122"/>
                <a:cs typeface="Courier New" pitchFamily="34" charset="-120"/>
              </a:rPr>
              <a:t>$ docker compose up --build user-service     # just one</a:t>
            </a:r>
            <a:endParaRPr lang="en-US" sz="10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6035040" cy="914400"/>
        </p:xfrm>
        <a:graphic>
          <a:graphicData uri="http://schemas.openxmlformats.org/drawingml/2006/table">
            <a:tbl>
              <a:tblPr/>
              <a:tblGrid>
                <a:gridCol w="2926080"/>
                <a:gridCol w="310896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Open this</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URL</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1D2433"/>
                    </a:solidFill>
                  </a:tcPr>
                </a:tc>
              </a:tr>
              <a:tr h="347472">
                <a:tc>
                  <a:txBody>
                    <a:bodyPr/>
                    <a:lstStyle/>
                    <a:p>
                      <a:pPr indent="0" marL="0">
                        <a:buNone/>
                      </a:pPr>
                      <a:r>
                        <a:rPr lang="en-US" sz="1150" b="1" dirty="0">
                          <a:solidFill>
                            <a:srgbClr val="028090"/>
                          </a:solidFill>
                          <a:latin typeface="Calibri" pitchFamily="34" charset="0"/>
                          <a:ea typeface="Calibri" pitchFamily="34" charset="-122"/>
                          <a:cs typeface="Calibri" pitchFamily="34" charset="-120"/>
                        </a:rPr>
                        <a:t>User Service (Swagger)</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localhost:8000/docs</a:t>
                      </a:r>
                      <a:endParaRPr lang="en-US" sz="1100" dirty="0">
                        <a:latin typeface="Courier New" charset="0"/>
                        <a:ea typeface="Courier New" charset="0"/>
                        <a:cs typeface="Courier New"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47472">
                <a:tc>
                  <a:txBody>
                    <a:bodyPr/>
                    <a:lstStyle/>
                    <a:p>
                      <a:pPr indent="0" marL="0">
                        <a:buNone/>
                      </a:pPr>
                      <a:r>
                        <a:rPr lang="en-US" sz="1150" b="1" dirty="0">
                          <a:solidFill>
                            <a:srgbClr val="3A6B2E"/>
                          </a:solidFill>
                          <a:latin typeface="Calibri" pitchFamily="34" charset="0"/>
                          <a:ea typeface="Calibri" pitchFamily="34" charset="-122"/>
                          <a:cs typeface="Calibri" pitchFamily="34" charset="-120"/>
                        </a:rPr>
                        <a:t>Product Service (Swagger)</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localhost:8081/swagger-ui.html</a:t>
                      </a:r>
                      <a:endParaRPr lang="en-US" sz="1100" dirty="0">
                        <a:latin typeface="Courier New" charset="0"/>
                        <a:ea typeface="Courier New" charset="0"/>
                        <a:cs typeface="Courier New"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r h="347472">
                <a:tc>
                  <a:txBody>
                    <a:bodyPr/>
                    <a:lstStyle/>
                    <a:p>
                      <a:pPr indent="0" marL="0">
                        <a:buNone/>
                      </a:pPr>
                      <a:r>
                        <a:rPr lang="en-US" sz="1150" b="1" dirty="0">
                          <a:solidFill>
                            <a:srgbClr val="6D2E46"/>
                          </a:solidFill>
                          <a:latin typeface="Calibri" pitchFamily="34" charset="0"/>
                          <a:ea typeface="Calibri" pitchFamily="34" charset="-122"/>
                          <a:cs typeface="Calibri" pitchFamily="34" charset="-120"/>
                        </a:rPr>
                        <a:t>Order Service (Swagger)</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localhost:8082/swagger</a:t>
                      </a:r>
                      <a:endParaRPr lang="en-US" sz="1100" dirty="0">
                        <a:latin typeface="Courier New" charset="0"/>
                        <a:ea typeface="Courier New" charset="0"/>
                        <a:cs typeface="Courier New"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4F6F8"/>
                    </a:solidFill>
                  </a:tcPr>
                </a:tc>
              </a:tr>
              <a:tr h="347472">
                <a:tc>
                  <a:txBody>
                    <a:bodyPr/>
                    <a:lstStyle/>
                    <a:p>
                      <a:pPr indent="0" marL="0">
                        <a:buNone/>
                      </a:pPr>
                      <a:r>
                        <a:rPr lang="en-US" sz="1150" b="1" dirty="0">
                          <a:solidFill>
                            <a:srgbClr val="6B7A8D"/>
                          </a:solidFill>
                          <a:latin typeface="Calibri" pitchFamily="34" charset="0"/>
                          <a:ea typeface="Calibri" pitchFamily="34" charset="-122"/>
                          <a:cs typeface="Calibri" pitchFamily="34" charset="-120"/>
                        </a:rPr>
                        <a:t>user_db  ·  product_db  ·  order_db</a:t>
                      </a:r>
                      <a:endParaRPr lang="en-US" sz="1150" dirty="0">
                        <a:latin typeface="Calibri" charset="0"/>
                        <a:ea typeface="Calibri" charset="0"/>
                        <a:cs typeface="Calibri"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ourier New" pitchFamily="34" charset="0"/>
                          <a:ea typeface="Courier New" pitchFamily="34" charset="-122"/>
                          <a:cs typeface="Courier New" pitchFamily="34" charset="-120"/>
                        </a:rPr>
                        <a:t>localhost:5432  ·  5433  ·  5434</a:t>
                      </a:r>
                      <a:endParaRPr lang="en-US" sz="1100" dirty="0">
                        <a:latin typeface="Courier New" charset="0"/>
                        <a:ea typeface="Courier New" charset="0"/>
                        <a:cs typeface="Courier New" charset="0"/>
                      </a:endParaRPr>
                    </a:p>
                  </a:txBody>
                  <a:tcPr marL="88900" marR="88900" marT="25400" marB="25400" anchor="ctr">
                    <a:lnL w="12700" cap="flat" cmpd="sng" algn="ctr">
                      <a:solidFill>
                        <a:srgbClr val="E3E9EE"/>
                      </a:solidFill>
                      <a:prstDash val="solid"/>
                      <a:round/>
                      <a:headEnd type="none" w="med" len="med"/>
                      <a:tailEnd type="none" w="med" len="med"/>
                    </a:lnL>
                    <a:lnR w="12700" cap="flat" cmpd="sng" algn="ctr">
                      <a:solidFill>
                        <a:srgbClr val="E3E9EE"/>
                      </a:solidFill>
                      <a:prstDash val="solid"/>
                      <a:round/>
                      <a:headEnd type="none" w="med" len="med"/>
                      <a:tailEnd type="none" w="med" len="med"/>
                    </a:lnR>
                    <a:lnT w="12700" cap="flat" cmpd="sng" algn="ctr">
                      <a:solidFill>
                        <a:srgbClr val="E3E9EE"/>
                      </a:solidFill>
                      <a:prstDash val="solid"/>
                      <a:round/>
                      <a:headEnd type="none" w="med" len="med"/>
                      <a:tailEnd type="none" w="med" len="med"/>
                    </a:lnT>
                    <a:lnB w="12700" cap="flat" cmpd="sng" algn="ctr">
                      <a:solidFill>
                        <a:srgbClr val="E3E9EE"/>
                      </a:solidFill>
                      <a:prstDash val="solid"/>
                      <a:round/>
                      <a:headEnd type="none" w="med" len="med"/>
                      <a:tailEnd type="none" w="med" len="med"/>
                    </a:lnB>
                    <a:solidFill>
                      <a:srgbClr val="FFFFFF"/>
                    </a:solidFill>
                  </a:tcPr>
                </a:tc>
              </a:tr>
            </a:tbl>
          </a:graphicData>
        </a:graphic>
      </p:graphicFrame>
      <p:sp>
        <p:nvSpPr>
          <p:cNvPr id="8" name="Shape 5"/>
          <p:cNvSpPr/>
          <p:nvPr/>
        </p:nvSpPr>
        <p:spPr>
          <a:xfrm>
            <a:off x="6775704" y="1627632"/>
            <a:ext cx="4867351" cy="1920240"/>
          </a:xfrm>
          <a:prstGeom prst="roundRect">
            <a:avLst>
              <a:gd name="adj" fmla="val 3333"/>
            </a:avLst>
          </a:prstGeom>
          <a:solidFill>
            <a:srgbClr val="E6F1F2"/>
          </a:solidFill>
          <a:ln/>
        </p:spPr>
      </p:sp>
      <p:sp>
        <p:nvSpPr>
          <p:cNvPr id="9" name="Text 6"/>
          <p:cNvSpPr txBox="1"/>
          <p:nvPr/>
        </p:nvSpPr>
        <p:spPr>
          <a:xfrm>
            <a:off x="7031736" y="1810512"/>
            <a:ext cx="4355287" cy="256032"/>
          </a:xfrm>
          <a:prstGeom prst="rect">
            <a:avLst/>
          </a:prstGeom>
          <a:noFill/>
          <a:ln/>
        </p:spPr>
        <p:txBody>
          <a:bodyPr wrap="square" lIns="0" tIns="0" rIns="0" bIns="0" rtlCol="0" anchor="t"/>
          <a:lstStyle/>
          <a:p>
            <a:pPr algn="l" indent="0" marL="0">
              <a:lnSpc>
                <a:spcPct val="112000"/>
              </a:lnSpc>
              <a:buNone/>
            </a:pPr>
            <a:r>
              <a:rPr lang="en-US" sz="1300" b="1" dirty="0">
                <a:solidFill>
                  <a:srgbClr val="028090"/>
                </a:solidFill>
                <a:latin typeface="Calibri" pitchFamily="34" charset="0"/>
                <a:ea typeface="Calibri" pitchFamily="34" charset="-122"/>
                <a:cs typeface="Calibri" pitchFamily="34" charset="-120"/>
              </a:rPr>
              <a:t>depends_on: service_healthy, not service_started</a:t>
            </a:r>
            <a:endParaRPr lang="en-US" sz="1300" dirty="0"/>
          </a:p>
        </p:txBody>
      </p:sp>
      <p:sp>
        <p:nvSpPr>
          <p:cNvPr id="10" name="Text 7"/>
          <p:cNvSpPr txBox="1"/>
          <p:nvPr/>
        </p:nvSpPr>
        <p:spPr>
          <a:xfrm>
            <a:off x="7031736" y="2103120"/>
            <a:ext cx="4355287" cy="1316736"/>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Each database declares a pg_isready healthcheck, and its service waits for the database to accept connections — not merely for the container to exist. “Started” is not “ready”.</a:t>
            </a:r>
            <a:endParaRPr lang="en-US" sz="1200" dirty="0"/>
          </a:p>
        </p:txBody>
      </p:sp>
      <p:sp>
        <p:nvSpPr>
          <p:cNvPr id="11" name="Shape 8"/>
          <p:cNvSpPr/>
          <p:nvPr/>
        </p:nvSpPr>
        <p:spPr>
          <a:xfrm>
            <a:off x="6775704" y="3712464"/>
            <a:ext cx="4867351" cy="1975104"/>
          </a:xfrm>
          <a:prstGeom prst="roundRect">
            <a:avLst>
              <a:gd name="adj" fmla="val 3241"/>
            </a:avLst>
          </a:prstGeom>
          <a:solidFill>
            <a:srgbClr val="F6EAEE"/>
          </a:solidFill>
          <a:ln/>
        </p:spPr>
      </p:sp>
      <p:sp>
        <p:nvSpPr>
          <p:cNvPr id="12" name="Text 9"/>
          <p:cNvSpPr txBox="1"/>
          <p:nvPr/>
        </p:nvSpPr>
        <p:spPr>
          <a:xfrm>
            <a:off x="7031736" y="3895344"/>
            <a:ext cx="4355287" cy="256032"/>
          </a:xfrm>
          <a:prstGeom prst="rect">
            <a:avLst/>
          </a:prstGeom>
          <a:noFill/>
          <a:ln/>
        </p:spPr>
        <p:txBody>
          <a:bodyPr wrap="square" lIns="0" tIns="0" rIns="0" bIns="0" rtlCol="0" anchor="t"/>
          <a:lstStyle/>
          <a:p>
            <a:pPr algn="l" indent="0" marL="0">
              <a:lnSpc>
                <a:spcPct val="112000"/>
              </a:lnSpc>
              <a:buNone/>
            </a:pPr>
            <a:r>
              <a:rPr lang="en-US" sz="1300" b="1" dirty="0">
                <a:solidFill>
                  <a:srgbClr val="6D2E46"/>
                </a:solidFill>
                <a:latin typeface="Calibri" pitchFamily="34" charset="0"/>
                <a:ea typeface="Calibri" pitchFamily="34" charset="-122"/>
                <a:cs typeface="Calibri" pitchFamily="34" charset="-120"/>
              </a:rPr>
              <a:t>But the Order Service waits for started only</a:t>
            </a:r>
            <a:endParaRPr lang="en-US" sz="1300" dirty="0"/>
          </a:p>
        </p:txBody>
      </p:sp>
      <p:sp>
        <p:nvSpPr>
          <p:cNvPr id="13" name="Text 10"/>
          <p:cNvSpPr txBox="1"/>
          <p:nvPr/>
        </p:nvSpPr>
        <p:spPr>
          <a:xfrm>
            <a:off x="7031736" y="4187952"/>
            <a:ext cx="4355287" cy="1371600"/>
          </a:xfrm>
          <a:prstGeom prst="rect">
            <a:avLst/>
          </a:prstGeom>
          <a:noFill/>
          <a:ln/>
        </p:spPr>
        <p:txBody>
          <a:bodyPr wrap="square" lIns="0" tIns="0" rIns="0" bIns="0" rtlCol="0" anchor="t"/>
          <a:lstStyle/>
          <a:p>
            <a:pPr algn="l" indent="0" marL="0">
              <a:lnSpc>
                <a:spcPct val="118000"/>
              </a:lnSpc>
              <a:buNone/>
            </a:pPr>
            <a:r>
              <a:rPr lang="en-US" sz="1200" dirty="0">
                <a:solidFill>
                  <a:srgbClr val="36454F"/>
                </a:solidFill>
                <a:latin typeface="Calibri" pitchFamily="34" charset="0"/>
                <a:ea typeface="Calibri" pitchFamily="34" charset="-122"/>
                <a:cs typeface="Calibri" pitchFamily="34" charset="-120"/>
              </a:rPr>
              <a:t>Deliberately. The Order Service has to tolerate its dependencies being down — that is what the timeouts and circuit breakers are for. Waiting for them to be healthy here would hide that behaviour rather than prove it.</a:t>
            </a:r>
            <a:endParaRPr lang="en-US" sz="1200" dirty="0"/>
          </a:p>
        </p:txBody>
      </p:sp>
      <p:sp>
        <p:nvSpPr>
          <p:cNvPr id="14" name="Text 11"/>
          <p:cNvSpPr txBox="1"/>
          <p:nvPr/>
        </p:nvSpPr>
        <p:spPr>
          <a:xfrm>
            <a:off x="548640" y="5852160"/>
            <a:ext cx="11094415" cy="475488"/>
          </a:xfrm>
          <a:prstGeom prst="rect">
            <a:avLst/>
          </a:prstGeom>
          <a:noFill/>
          <a:ln/>
        </p:spPr>
        <p:txBody>
          <a:bodyPr wrap="square" lIns="0" tIns="0" rIns="0" bIns="0" rtlCol="0" anchor="t"/>
          <a:lstStyle/>
          <a:p>
            <a:pPr algn="ctr" indent="0" marL="0">
              <a:lnSpc>
                <a:spcPct val="112000"/>
              </a:lnSpc>
              <a:buNone/>
            </a:pPr>
            <a:r>
              <a:rPr lang="en-US" sz="1150" i="1" dirty="0">
                <a:solidFill>
                  <a:srgbClr val="A8620A"/>
                </a:solidFill>
                <a:latin typeface="Calibri" pitchFamily="34" charset="0"/>
                <a:ea typeface="Calibri" pitchFamily="34" charset="-122"/>
                <a:cs typeface="Calibri" pitchFamily="34" charset="-120"/>
              </a:rPr>
              <a:t>Honest status: the Compose file is written and reviewed but has not yet been run — Docker is not installed on the development machine. All three services have been verified natively.</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37744"/>
          </a:xfrm>
          <a:prstGeom prst="rect">
            <a:avLst/>
          </a:prstGeom>
          <a:noFill/>
          <a:ln/>
        </p:spPr>
        <p:txBody>
          <a:bodyPr wrap="square" lIns="0" tIns="0" rIns="0" bIns="0" rtlCol="0" anchor="ctr"/>
          <a:lstStyle/>
          <a:p>
            <a:pPr indent="0" marL="0">
              <a:buNone/>
            </a:pPr>
            <a:r>
              <a:rPr lang="en-US" sz="1100" b="1" spc="200" kern="0" dirty="0">
                <a:solidFill>
                  <a:srgbClr val="A8620A"/>
                </a:solidFill>
                <a:latin typeface="Calibri" pitchFamily="34" charset="0"/>
                <a:ea typeface="Calibri" pitchFamily="34" charset="-122"/>
                <a:cs typeface="Calibri" pitchFamily="34" charset="-120"/>
              </a:rPr>
              <a:t>WHAT IS NOT DONE</a:t>
            </a:r>
            <a:endParaRPr lang="en-US" sz="1100" dirty="0"/>
          </a:p>
        </p:txBody>
      </p:sp>
      <p:sp>
        <p:nvSpPr>
          <p:cNvPr id="3" name="Text 1"/>
          <p:cNvSpPr txBox="1"/>
          <p:nvPr/>
        </p:nvSpPr>
        <p:spPr>
          <a:xfrm>
            <a:off x="548640" y="512064"/>
            <a:ext cx="11094415" cy="566928"/>
          </a:xfrm>
          <a:prstGeom prst="rect">
            <a:avLst/>
          </a:prstGeom>
          <a:noFill/>
          <a:ln/>
        </p:spPr>
        <p:txBody>
          <a:bodyPr wrap="square" lIns="0" tIns="0" rIns="0" bIns="0" rtlCol="0" anchor="ctr"/>
          <a:lstStyle/>
          <a:p>
            <a:pPr indent="0" marL="0">
              <a:buNone/>
            </a:pPr>
            <a:r>
              <a:rPr lang="en-US" sz="2900" b="1" dirty="0">
                <a:solidFill>
                  <a:srgbClr val="1D2433"/>
                </a:solidFill>
                <a:latin typeface="Cambria" pitchFamily="34" charset="0"/>
                <a:ea typeface="Cambria" pitchFamily="34" charset="-122"/>
                <a:cs typeface="Cambria" pitchFamily="34" charset="-120"/>
              </a:rPr>
              <a:t>Carried forward — written down, not hidden</a:t>
            </a:r>
            <a:endParaRPr lang="en-US" sz="2900" dirty="0"/>
          </a:p>
        </p:txBody>
      </p:sp>
      <p:sp>
        <p:nvSpPr>
          <p:cNvPr id="4" name="Text 2"/>
          <p:cNvSpPr txBox="1"/>
          <p:nvPr/>
        </p:nvSpPr>
        <p:spPr>
          <a:xfrm>
            <a:off x="548640" y="1088136"/>
            <a:ext cx="11094415" cy="310896"/>
          </a:xfrm>
          <a:prstGeom prst="rect">
            <a:avLst/>
          </a:prstGeom>
          <a:noFill/>
          <a:ln/>
        </p:spPr>
        <p:txBody>
          <a:bodyPr wrap="square" lIns="0" tIns="0" rIns="0" bIns="0" rtlCol="0" anchor="ctr"/>
          <a:lstStyle/>
          <a:p>
            <a:pPr indent="0" marL="0">
              <a:buNone/>
            </a:pPr>
            <a:r>
              <a:rPr lang="en-US" sz="1350" i="1" dirty="0">
                <a:solidFill>
                  <a:srgbClr val="6B7A8D"/>
                </a:solidFill>
                <a:latin typeface="Calibri" pitchFamily="34" charset="0"/>
                <a:ea typeface="Calibri" pitchFamily="34" charset="-122"/>
                <a:cs typeface="Calibri" pitchFamily="34" charset="-120"/>
              </a:rPr>
              <a:t>Every item below is a deliberate interim position with a scheduled fix, not an oversight.</a:t>
            </a:r>
            <a:endParaRPr lang="en-US" sz="1350" dirty="0"/>
          </a:p>
        </p:txBody>
      </p:sp>
      <p:sp>
        <p:nvSpPr>
          <p:cNvPr id="5" name="Shape 3"/>
          <p:cNvSpPr/>
          <p:nvPr/>
        </p:nvSpPr>
        <p:spPr>
          <a:xfrm>
            <a:off x="548640" y="1517904"/>
            <a:ext cx="5449824" cy="914400"/>
          </a:xfrm>
          <a:prstGeom prst="roundRect">
            <a:avLst>
              <a:gd name="adj" fmla="val 7000"/>
            </a:avLst>
          </a:prstGeom>
          <a:solidFill>
            <a:srgbClr val="F4F6F8"/>
          </a:solidFill>
          <a:ln/>
        </p:spPr>
      </p:sp>
      <p:sp>
        <p:nvSpPr>
          <p:cNvPr id="6" name="Text 4"/>
          <p:cNvSpPr txBox="1"/>
          <p:nvPr/>
        </p:nvSpPr>
        <p:spPr>
          <a:xfrm>
            <a:off x="786384" y="1636776"/>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No authentication anywhere</a:t>
            </a:r>
            <a:endParaRPr lang="en-US" sz="1300" dirty="0"/>
          </a:p>
        </p:txBody>
      </p:sp>
      <p:sp>
        <p:nvSpPr>
          <p:cNvPr id="7" name="Text 5"/>
          <p:cNvSpPr txBox="1"/>
          <p:nvPr/>
        </p:nvSpPr>
        <p:spPr>
          <a:xfrm>
            <a:off x="786384" y="1920240"/>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Every endpoint is open, and the order list endpoint trusts userId from a query string. Do not expose any of this publicly.</a:t>
            </a:r>
            <a:endParaRPr lang="en-US" sz="1100" dirty="0"/>
          </a:p>
        </p:txBody>
      </p:sp>
      <p:sp>
        <p:nvSpPr>
          <p:cNvPr id="8" name="Shape 6"/>
          <p:cNvSpPr/>
          <p:nvPr/>
        </p:nvSpPr>
        <p:spPr>
          <a:xfrm>
            <a:off x="4937760" y="1627632"/>
            <a:ext cx="841248" cy="274320"/>
          </a:xfrm>
          <a:prstGeom prst="roundRect">
            <a:avLst>
              <a:gd name="adj" fmla="val 23333"/>
            </a:avLst>
          </a:prstGeom>
          <a:solidFill>
            <a:srgbClr val="B04242"/>
          </a:solidFill>
          <a:ln/>
        </p:spPr>
      </p:sp>
      <p:sp>
        <p:nvSpPr>
          <p:cNvPr id="9" name="Text 7"/>
          <p:cNvSpPr txBox="1"/>
          <p:nvPr/>
        </p:nvSpPr>
        <p:spPr>
          <a:xfrm>
            <a:off x="4937760" y="1627632"/>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weeks 5-6</a:t>
            </a:r>
            <a:endParaRPr lang="en-US" sz="1000" dirty="0"/>
          </a:p>
        </p:txBody>
      </p:sp>
      <p:sp>
        <p:nvSpPr>
          <p:cNvPr id="10" name="Shape 8"/>
          <p:cNvSpPr/>
          <p:nvPr/>
        </p:nvSpPr>
        <p:spPr>
          <a:xfrm>
            <a:off x="6190488" y="1517904"/>
            <a:ext cx="5449824" cy="914400"/>
          </a:xfrm>
          <a:prstGeom prst="roundRect">
            <a:avLst>
              <a:gd name="adj" fmla="val 7000"/>
            </a:avLst>
          </a:prstGeom>
          <a:solidFill>
            <a:srgbClr val="F4F6F8"/>
          </a:solidFill>
          <a:ln/>
        </p:spPr>
      </p:sp>
      <p:sp>
        <p:nvSpPr>
          <p:cNvPr id="11" name="Text 9"/>
          <p:cNvSpPr txBox="1"/>
          <p:nvPr/>
        </p:nvSpPr>
        <p:spPr>
          <a:xfrm>
            <a:off x="6428232" y="1636776"/>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Compensation is best effort</a:t>
            </a:r>
            <a:endParaRPr lang="en-US" sz="1300" dirty="0"/>
          </a:p>
        </p:txBody>
      </p:sp>
      <p:sp>
        <p:nvSpPr>
          <p:cNvPr id="12" name="Text 10"/>
          <p:cNvSpPr txBox="1"/>
          <p:nvPr/>
        </p:nvSpPr>
        <p:spPr>
          <a:xfrm>
            <a:off x="6428232" y="1920240"/>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A failed stock release is logged and left for reconciliation. Saga + outbox make it reliable.</a:t>
            </a:r>
            <a:endParaRPr lang="en-US" sz="1100" dirty="0"/>
          </a:p>
        </p:txBody>
      </p:sp>
      <p:sp>
        <p:nvSpPr>
          <p:cNvPr id="13" name="Shape 11"/>
          <p:cNvSpPr/>
          <p:nvPr/>
        </p:nvSpPr>
        <p:spPr>
          <a:xfrm>
            <a:off x="10579608" y="1627632"/>
            <a:ext cx="841248" cy="274320"/>
          </a:xfrm>
          <a:prstGeom prst="roundRect">
            <a:avLst>
              <a:gd name="adj" fmla="val 23333"/>
            </a:avLst>
          </a:prstGeom>
          <a:solidFill>
            <a:srgbClr val="A8620A"/>
          </a:solidFill>
          <a:ln/>
        </p:spPr>
      </p:sp>
      <p:sp>
        <p:nvSpPr>
          <p:cNvPr id="14" name="Text 12"/>
          <p:cNvSpPr txBox="1"/>
          <p:nvPr/>
        </p:nvSpPr>
        <p:spPr>
          <a:xfrm>
            <a:off x="10579608" y="1627632"/>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week 7</a:t>
            </a:r>
            <a:endParaRPr lang="en-US" sz="1000" dirty="0"/>
          </a:p>
        </p:txBody>
      </p:sp>
      <p:sp>
        <p:nvSpPr>
          <p:cNvPr id="15" name="Shape 13"/>
          <p:cNvSpPr/>
          <p:nvPr/>
        </p:nvSpPr>
        <p:spPr>
          <a:xfrm>
            <a:off x="548640" y="2542032"/>
            <a:ext cx="5449824" cy="914400"/>
          </a:xfrm>
          <a:prstGeom prst="roundRect">
            <a:avLst>
              <a:gd name="adj" fmla="val 7000"/>
            </a:avLst>
          </a:prstGeom>
          <a:solidFill>
            <a:srgbClr val="F4F6F8"/>
          </a:solidFill>
          <a:ln/>
        </p:spPr>
      </p:sp>
      <p:sp>
        <p:nvSpPr>
          <p:cNvPr id="16" name="Text 14"/>
          <p:cNvSpPr txBox="1"/>
          <p:nvPr/>
        </p:nvSpPr>
        <p:spPr>
          <a:xfrm>
            <a:off x="786384" y="2660904"/>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No events published</a:t>
            </a:r>
            <a:endParaRPr lang="en-US" sz="1300" dirty="0"/>
          </a:p>
        </p:txBody>
      </p:sp>
      <p:sp>
        <p:nvSpPr>
          <p:cNvPr id="17" name="Text 15"/>
          <p:cNvSpPr txBox="1"/>
          <p:nvPr/>
        </p:nvSpPr>
        <p:spPr>
          <a:xfrm>
            <a:off x="786384" y="2944368"/>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OrderCreated does not exist yet, and pay is still an HTTP call rather than an event consumer.</a:t>
            </a:r>
            <a:endParaRPr lang="en-US" sz="1100" dirty="0"/>
          </a:p>
        </p:txBody>
      </p:sp>
      <p:sp>
        <p:nvSpPr>
          <p:cNvPr id="18" name="Shape 16"/>
          <p:cNvSpPr/>
          <p:nvPr/>
        </p:nvSpPr>
        <p:spPr>
          <a:xfrm>
            <a:off x="4937760" y="2651760"/>
            <a:ext cx="841248" cy="274320"/>
          </a:xfrm>
          <a:prstGeom prst="roundRect">
            <a:avLst>
              <a:gd name="adj" fmla="val 23333"/>
            </a:avLst>
          </a:prstGeom>
          <a:solidFill>
            <a:srgbClr val="A8620A"/>
          </a:solidFill>
          <a:ln/>
        </p:spPr>
      </p:sp>
      <p:sp>
        <p:nvSpPr>
          <p:cNvPr id="19" name="Text 17"/>
          <p:cNvSpPr txBox="1"/>
          <p:nvPr/>
        </p:nvSpPr>
        <p:spPr>
          <a:xfrm>
            <a:off x="4937760" y="2651760"/>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week 4</a:t>
            </a:r>
            <a:endParaRPr lang="en-US" sz="1000" dirty="0"/>
          </a:p>
        </p:txBody>
      </p:sp>
      <p:sp>
        <p:nvSpPr>
          <p:cNvPr id="20" name="Shape 18"/>
          <p:cNvSpPr/>
          <p:nvPr/>
        </p:nvSpPr>
        <p:spPr>
          <a:xfrm>
            <a:off x="6190488" y="2542032"/>
            <a:ext cx="5449824" cy="914400"/>
          </a:xfrm>
          <a:prstGeom prst="roundRect">
            <a:avLst>
              <a:gd name="adj" fmla="val 7000"/>
            </a:avLst>
          </a:prstGeom>
          <a:solidFill>
            <a:srgbClr val="F4F6F8"/>
          </a:solidFill>
          <a:ln/>
        </p:spPr>
      </p:sp>
      <p:sp>
        <p:nvSpPr>
          <p:cNvPr id="21" name="Text 19"/>
          <p:cNvSpPr txBox="1"/>
          <p:nvPr/>
        </p:nvSpPr>
        <p:spPr>
          <a:xfrm>
            <a:off x="6428232" y="2660904"/>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Reservations decrement immediately</a:t>
            </a:r>
            <a:endParaRPr lang="en-US" sz="1300" dirty="0"/>
          </a:p>
        </p:txBody>
      </p:sp>
      <p:sp>
        <p:nvSpPr>
          <p:cNvPr id="22" name="Text 20"/>
          <p:cNvSpPr txBox="1"/>
          <p:nvPr/>
        </p:nvSpPr>
        <p:spPr>
          <a:xfrm>
            <a:off x="6428232" y="2944368"/>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They are not time-limited holds, so an abandoned basket keeps stock out of circulation.</a:t>
            </a:r>
            <a:endParaRPr lang="en-US" sz="1100" dirty="0"/>
          </a:p>
        </p:txBody>
      </p:sp>
      <p:sp>
        <p:nvSpPr>
          <p:cNvPr id="23" name="Shape 21"/>
          <p:cNvSpPr/>
          <p:nvPr/>
        </p:nvSpPr>
        <p:spPr>
          <a:xfrm>
            <a:off x="10579608" y="2651760"/>
            <a:ext cx="841248" cy="274320"/>
          </a:xfrm>
          <a:prstGeom prst="roundRect">
            <a:avLst>
              <a:gd name="adj" fmla="val 23333"/>
            </a:avLst>
          </a:prstGeom>
          <a:solidFill>
            <a:srgbClr val="A8620A"/>
          </a:solidFill>
          <a:ln/>
        </p:spPr>
      </p:sp>
      <p:sp>
        <p:nvSpPr>
          <p:cNvPr id="24" name="Text 22"/>
          <p:cNvSpPr txBox="1"/>
          <p:nvPr/>
        </p:nvSpPr>
        <p:spPr>
          <a:xfrm>
            <a:off x="10579608" y="2651760"/>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week 7</a:t>
            </a:r>
            <a:endParaRPr lang="en-US" sz="1000" dirty="0"/>
          </a:p>
        </p:txBody>
      </p:sp>
      <p:sp>
        <p:nvSpPr>
          <p:cNvPr id="25" name="Shape 23"/>
          <p:cNvSpPr/>
          <p:nvPr/>
        </p:nvSpPr>
        <p:spPr>
          <a:xfrm>
            <a:off x="548640" y="3566160"/>
            <a:ext cx="5449824" cy="914400"/>
          </a:xfrm>
          <a:prstGeom prst="roundRect">
            <a:avLst>
              <a:gd name="adj" fmla="val 7000"/>
            </a:avLst>
          </a:prstGeom>
          <a:solidFill>
            <a:srgbClr val="F4F6F8"/>
          </a:solidFill>
          <a:ln/>
        </p:spPr>
      </p:sp>
      <p:sp>
        <p:nvSpPr>
          <p:cNvPr id="26" name="Text 24"/>
          <p:cNvSpPr txBox="1"/>
          <p:nvPr/>
        </p:nvSpPr>
        <p:spPr>
          <a:xfrm>
            <a:off x="786384" y="3685032"/>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User Service has no migrations</a:t>
            </a:r>
            <a:endParaRPr lang="en-US" sz="1300" dirty="0"/>
          </a:p>
        </p:txBody>
      </p:sp>
      <p:sp>
        <p:nvSpPr>
          <p:cNvPr id="27" name="Text 25"/>
          <p:cNvSpPr txBox="1"/>
          <p:nvPr/>
        </p:nvSpPr>
        <p:spPr>
          <a:xfrm>
            <a:off x="786384" y="3968496"/>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create_all() on start-up. Alembic is the fix, and it is the one real inconsistency between the services.</a:t>
            </a:r>
            <a:endParaRPr lang="en-US" sz="1100" dirty="0"/>
          </a:p>
        </p:txBody>
      </p:sp>
      <p:sp>
        <p:nvSpPr>
          <p:cNvPr id="28" name="Shape 26"/>
          <p:cNvSpPr/>
          <p:nvPr/>
        </p:nvSpPr>
        <p:spPr>
          <a:xfrm>
            <a:off x="4937760" y="3675888"/>
            <a:ext cx="841248" cy="274320"/>
          </a:xfrm>
          <a:prstGeom prst="roundRect">
            <a:avLst>
              <a:gd name="adj" fmla="val 23333"/>
            </a:avLst>
          </a:prstGeom>
          <a:solidFill>
            <a:srgbClr val="028090"/>
          </a:solidFill>
          <a:ln/>
        </p:spPr>
      </p:sp>
      <p:sp>
        <p:nvSpPr>
          <p:cNvPr id="29" name="Text 27"/>
          <p:cNvSpPr txBox="1"/>
          <p:nvPr/>
        </p:nvSpPr>
        <p:spPr>
          <a:xfrm>
            <a:off x="4937760" y="3675888"/>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30" name="Shape 28"/>
          <p:cNvSpPr/>
          <p:nvPr/>
        </p:nvSpPr>
        <p:spPr>
          <a:xfrm>
            <a:off x="6190488" y="3566160"/>
            <a:ext cx="5449824" cy="914400"/>
          </a:xfrm>
          <a:prstGeom prst="roundRect">
            <a:avLst>
              <a:gd name="adj" fmla="val 7000"/>
            </a:avLst>
          </a:prstGeom>
          <a:solidFill>
            <a:srgbClr val="F4F6F8"/>
          </a:solidFill>
          <a:ln/>
        </p:spPr>
      </p:sp>
      <p:sp>
        <p:nvSpPr>
          <p:cNvPr id="31" name="Text 29"/>
          <p:cNvSpPr txBox="1"/>
          <p:nvPr/>
        </p:nvSpPr>
        <p:spPr>
          <a:xfrm>
            <a:off x="6428232" y="3685032"/>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Order tests run on SQLite</a:t>
            </a:r>
            <a:endParaRPr lang="en-US" sz="1300" dirty="0"/>
          </a:p>
        </p:txBody>
      </p:sp>
      <p:sp>
        <p:nvSpPr>
          <p:cNvPr id="32" name="Text 30"/>
          <p:cNvSpPr txBox="1"/>
          <p:nvPr/>
        </p:nvSpPr>
        <p:spPr>
          <a:xfrm>
            <a:off x="6428232" y="3968496"/>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Needed a DateTimeOffset converter production does not use, and cannot catch a Postgres-specific bug. Testcontainers once Docker is available.</a:t>
            </a:r>
            <a:endParaRPr lang="en-US" sz="1100" dirty="0"/>
          </a:p>
        </p:txBody>
      </p:sp>
      <p:sp>
        <p:nvSpPr>
          <p:cNvPr id="33" name="Shape 31"/>
          <p:cNvSpPr/>
          <p:nvPr/>
        </p:nvSpPr>
        <p:spPr>
          <a:xfrm>
            <a:off x="10579608" y="3675888"/>
            <a:ext cx="841248" cy="274320"/>
          </a:xfrm>
          <a:prstGeom prst="roundRect">
            <a:avLst>
              <a:gd name="adj" fmla="val 23333"/>
            </a:avLst>
          </a:prstGeom>
          <a:solidFill>
            <a:srgbClr val="028090"/>
          </a:solidFill>
          <a:ln/>
        </p:spPr>
      </p:sp>
      <p:sp>
        <p:nvSpPr>
          <p:cNvPr id="34" name="Text 32"/>
          <p:cNvSpPr txBox="1"/>
          <p:nvPr/>
        </p:nvSpPr>
        <p:spPr>
          <a:xfrm>
            <a:off x="10579608" y="3675888"/>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35" name="Shape 33"/>
          <p:cNvSpPr/>
          <p:nvPr/>
        </p:nvSpPr>
        <p:spPr>
          <a:xfrm>
            <a:off x="548640" y="4590288"/>
            <a:ext cx="5449824" cy="914400"/>
          </a:xfrm>
          <a:prstGeom prst="roundRect">
            <a:avLst>
              <a:gd name="adj" fmla="val 7000"/>
            </a:avLst>
          </a:prstGeom>
          <a:solidFill>
            <a:srgbClr val="F4F6F8"/>
          </a:solidFill>
          <a:ln/>
        </p:spPr>
      </p:sp>
      <p:sp>
        <p:nvSpPr>
          <p:cNvPr id="36" name="Text 34"/>
          <p:cNvSpPr txBox="1"/>
          <p:nvPr/>
        </p:nvSpPr>
        <p:spPr>
          <a:xfrm>
            <a:off x="786384" y="4709160"/>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Hard vs soft delete disagree</a:t>
            </a:r>
            <a:endParaRPr lang="en-US" sz="1300" dirty="0"/>
          </a:p>
        </p:txBody>
      </p:sp>
      <p:sp>
        <p:nvSpPr>
          <p:cNvPr id="37" name="Text 35"/>
          <p:cNvSpPr txBox="1"/>
          <p:nvPr/>
        </p:nvSpPr>
        <p:spPr>
          <a:xfrm>
            <a:off x="786384" y="4992624"/>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DELETE /users/{id} removes the row while products only deactivate. Once orders reference users, users must deactivate too.</a:t>
            </a:r>
            <a:endParaRPr lang="en-US" sz="1100" dirty="0"/>
          </a:p>
        </p:txBody>
      </p:sp>
      <p:sp>
        <p:nvSpPr>
          <p:cNvPr id="38" name="Shape 36"/>
          <p:cNvSpPr/>
          <p:nvPr/>
        </p:nvSpPr>
        <p:spPr>
          <a:xfrm>
            <a:off x="4937760" y="4700016"/>
            <a:ext cx="841248" cy="274320"/>
          </a:xfrm>
          <a:prstGeom prst="roundRect">
            <a:avLst>
              <a:gd name="adj" fmla="val 23333"/>
            </a:avLst>
          </a:prstGeom>
          <a:solidFill>
            <a:srgbClr val="028090"/>
          </a:solidFill>
          <a:ln/>
        </p:spPr>
      </p:sp>
      <p:sp>
        <p:nvSpPr>
          <p:cNvPr id="39" name="Text 37"/>
          <p:cNvSpPr txBox="1"/>
          <p:nvPr/>
        </p:nvSpPr>
        <p:spPr>
          <a:xfrm>
            <a:off x="4937760" y="4700016"/>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40" name="Shape 38"/>
          <p:cNvSpPr/>
          <p:nvPr/>
        </p:nvSpPr>
        <p:spPr>
          <a:xfrm>
            <a:off x="6190488" y="4590288"/>
            <a:ext cx="5449824" cy="914400"/>
          </a:xfrm>
          <a:prstGeom prst="roundRect">
            <a:avLst>
              <a:gd name="adj" fmla="val 7000"/>
            </a:avLst>
          </a:prstGeom>
          <a:solidFill>
            <a:srgbClr val="F4F6F8"/>
          </a:solidFill>
          <a:ln/>
        </p:spPr>
      </p:sp>
      <p:sp>
        <p:nvSpPr>
          <p:cNvPr id="41" name="Text 39"/>
          <p:cNvSpPr txBox="1"/>
          <p:nvPr/>
        </p:nvSpPr>
        <p:spPr>
          <a:xfrm>
            <a:off x="6428232" y="4709160"/>
            <a:ext cx="4078224" cy="256032"/>
          </a:xfrm>
          <a:prstGeom prst="rect">
            <a:avLst/>
          </a:prstGeom>
          <a:noFill/>
          <a:ln/>
        </p:spPr>
        <p:txBody>
          <a:bodyPr wrap="square" lIns="0" tIns="0" rIns="0" bIns="0" rtlCol="0" anchor="t"/>
          <a:lstStyle/>
          <a:p>
            <a:pPr algn="l" indent="0" marL="0">
              <a:lnSpc>
                <a:spcPct val="112000"/>
              </a:lnSpc>
              <a:buNone/>
            </a:pPr>
            <a:r>
              <a:rPr lang="en-US" sz="1300" b="1" dirty="0">
                <a:solidFill>
                  <a:srgbClr val="1D2433"/>
                </a:solidFill>
                <a:latin typeface="Calibri" pitchFamily="34" charset="0"/>
                <a:ea typeface="Calibri" pitchFamily="34" charset="-122"/>
                <a:cs typeface="Calibri" pitchFamily="34" charset="-120"/>
              </a:rPr>
              <a:t>Compose stack unverified</a:t>
            </a:r>
            <a:endParaRPr lang="en-US" sz="1300" dirty="0"/>
          </a:p>
        </p:txBody>
      </p:sp>
      <p:sp>
        <p:nvSpPr>
          <p:cNvPr id="42" name="Text 40"/>
          <p:cNvSpPr txBox="1"/>
          <p:nvPr/>
        </p:nvSpPr>
        <p:spPr>
          <a:xfrm>
            <a:off x="6428232" y="4992624"/>
            <a:ext cx="4974336" cy="420624"/>
          </a:xfrm>
          <a:prstGeom prst="rect">
            <a:avLst/>
          </a:prstGeom>
          <a:noFill/>
          <a:ln/>
        </p:spPr>
        <p:txBody>
          <a:bodyPr wrap="square" lIns="0" tIns="0" rIns="0" bIns="0" rtlCol="0" anchor="t"/>
          <a:lstStyle/>
          <a:p>
            <a:pPr algn="l" indent="0" marL="0">
              <a:lnSpc>
                <a:spcPct val="112000"/>
              </a:lnSpc>
              <a:buNone/>
            </a:pPr>
            <a:r>
              <a:rPr lang="en-US" sz="1100" dirty="0">
                <a:solidFill>
                  <a:srgbClr val="6B7A8D"/>
                </a:solidFill>
                <a:latin typeface="Calibri" pitchFamily="34" charset="0"/>
                <a:ea typeface="Calibri" pitchFamily="34" charset="-122"/>
                <a:cs typeface="Calibri" pitchFamily="34" charset="-120"/>
              </a:rPr>
              <a:t>Written, reviewed, never run — Docker is not installed on this machine.</a:t>
            </a:r>
            <a:endParaRPr lang="en-US" sz="1100" dirty="0"/>
          </a:p>
        </p:txBody>
      </p:sp>
      <p:sp>
        <p:nvSpPr>
          <p:cNvPr id="43" name="Shape 41"/>
          <p:cNvSpPr/>
          <p:nvPr/>
        </p:nvSpPr>
        <p:spPr>
          <a:xfrm>
            <a:off x="10579608" y="4700016"/>
            <a:ext cx="841248" cy="274320"/>
          </a:xfrm>
          <a:prstGeom prst="roundRect">
            <a:avLst>
              <a:gd name="adj" fmla="val 23333"/>
            </a:avLst>
          </a:prstGeom>
          <a:solidFill>
            <a:srgbClr val="028090"/>
          </a:solidFill>
          <a:ln/>
        </p:spPr>
      </p:sp>
      <p:sp>
        <p:nvSpPr>
          <p:cNvPr id="44" name="Text 42"/>
          <p:cNvSpPr txBox="1"/>
          <p:nvPr/>
        </p:nvSpPr>
        <p:spPr>
          <a:xfrm>
            <a:off x="10579608" y="4700016"/>
            <a:ext cx="841248" cy="274320"/>
          </a:xfrm>
          <a:prstGeom prst="rect">
            <a:avLst/>
          </a:prstGeom>
          <a:noFill/>
          <a:ln/>
        </p:spPr>
        <p:txBody>
          <a:bodyPr wrap="square" lIns="0" tIns="0" rIns="0" bIns="0" rtlCol="0" anchor="ctr"/>
          <a:lstStyle/>
          <a:p>
            <a:pPr algn="ctr" indent="0" marL="0">
              <a:lnSpc>
                <a:spcPct val="112000"/>
              </a:lnSpc>
              <a:buNone/>
            </a:pPr>
            <a:r>
              <a:rPr lang="en-US" sz="1000" b="1" dirty="0">
                <a:solidFill>
                  <a:srgbClr val="FFFFFF"/>
                </a:solidFill>
                <a:latin typeface="Calibri" pitchFamily="34" charset="0"/>
                <a:ea typeface="Calibri" pitchFamily="34" charset="-122"/>
                <a:cs typeface="Calibri" pitchFamily="34" charset="-120"/>
              </a:rPr>
              <a:t>next</a:t>
            </a:r>
            <a:endParaRPr lang="en-US" sz="1000" dirty="0"/>
          </a:p>
        </p:txBody>
      </p:sp>
      <p:sp>
        <p:nvSpPr>
          <p:cNvPr id="45" name="Shape 43"/>
          <p:cNvSpPr/>
          <p:nvPr/>
        </p:nvSpPr>
        <p:spPr>
          <a:xfrm>
            <a:off x="548640" y="5650992"/>
            <a:ext cx="11094415" cy="640080"/>
          </a:xfrm>
          <a:prstGeom prst="roundRect">
            <a:avLst>
              <a:gd name="adj" fmla="val 10000"/>
            </a:avLst>
          </a:prstGeom>
          <a:solidFill>
            <a:srgbClr val="FBF2E4"/>
          </a:solidFill>
          <a:ln/>
        </p:spPr>
      </p:sp>
      <p:sp>
        <p:nvSpPr>
          <p:cNvPr id="46" name="Text 44"/>
          <p:cNvSpPr txBox="1"/>
          <p:nvPr/>
        </p:nvSpPr>
        <p:spPr>
          <a:xfrm>
            <a:off x="841248" y="5806440"/>
            <a:ext cx="10509199" cy="365760"/>
          </a:xfrm>
          <a:prstGeom prst="rect">
            <a:avLst/>
          </a:prstGeom>
          <a:noFill/>
          <a:ln/>
        </p:spPr>
        <p:txBody>
          <a:bodyPr wrap="square" lIns="0" tIns="0" rIns="0" bIns="0" rtlCol="0" anchor="t"/>
          <a:lstStyle/>
          <a:p>
            <a:pPr algn="ctr" indent="0" marL="0">
              <a:lnSpc>
                <a:spcPct val="112000"/>
              </a:lnSpc>
              <a:buNone/>
            </a:pPr>
            <a:r>
              <a:rPr lang="en-US" sz="1250" b="1" dirty="0">
                <a:solidFill>
                  <a:srgbClr val="A8620A"/>
                </a:solidFill>
                <a:latin typeface="Calibri" pitchFamily="34" charset="0"/>
                <a:ea typeface="Calibri" pitchFamily="34" charset="-122"/>
                <a:cs typeface="Calibri" pitchFamily="34" charset="-120"/>
              </a:rPr>
              <a:t>Next up — week 4:  Payment and Notification services, Kafka, the OrderCreated and PaymentProcessed events, and idempotent consumers.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D2433"/>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274320"/>
          </a:xfrm>
          <a:prstGeom prst="rect">
            <a:avLst/>
          </a:prstGeom>
          <a:noFill/>
          <a:ln/>
        </p:spPr>
        <p:txBody>
          <a:bodyPr wrap="square" lIns="0" tIns="0" rIns="0" bIns="0" rtlCol="0" anchor="t"/>
          <a:lstStyle/>
          <a:p>
            <a:pPr algn="l" indent="0" marL="0">
              <a:lnSpc>
                <a:spcPct val="112000"/>
              </a:lnSpc>
              <a:buNone/>
            </a:pPr>
            <a:r>
              <a:rPr lang="en-US" sz="1200" b="1" spc="300" kern="0" dirty="0">
                <a:solidFill>
                  <a:srgbClr val="7FD8B8"/>
                </a:solidFill>
                <a:latin typeface="Calibri" pitchFamily="34" charset="0"/>
                <a:ea typeface="Calibri" pitchFamily="34" charset="-122"/>
                <a:cs typeface="Calibri" pitchFamily="34" charset="-120"/>
              </a:rPr>
              <a:t>WEEKS 1-3  ·  WHAT TO BE ABLE TO ANSWER</a:t>
            </a:r>
            <a:endParaRPr lang="en-US" sz="1200" dirty="0"/>
          </a:p>
        </p:txBody>
      </p:sp>
      <p:sp>
        <p:nvSpPr>
          <p:cNvPr id="3" name="Text 1"/>
          <p:cNvSpPr txBox="1"/>
          <p:nvPr/>
        </p:nvSpPr>
        <p:spPr>
          <a:xfrm>
            <a:off x="548640" y="1005840"/>
            <a:ext cx="10058400" cy="640080"/>
          </a:xfrm>
          <a:prstGeom prst="rect">
            <a:avLst/>
          </a:prstGeom>
          <a:noFill/>
          <a:ln/>
        </p:spPr>
        <p:txBody>
          <a:bodyPr wrap="square" lIns="0" tIns="0" rIns="0" bIns="0" rtlCol="0" anchor="t"/>
          <a:lstStyle/>
          <a:p>
            <a:pPr algn="l" indent="0" marL="0">
              <a:lnSpc>
                <a:spcPct val="112000"/>
              </a:lnSpc>
              <a:buNone/>
            </a:pPr>
            <a:r>
              <a:rPr lang="en-US" sz="3400" b="1" dirty="0">
                <a:solidFill>
                  <a:srgbClr val="FFFFFF"/>
                </a:solidFill>
                <a:latin typeface="Cambria" pitchFamily="34" charset="0"/>
                <a:ea typeface="Cambria" pitchFamily="34" charset="-122"/>
                <a:cs typeface="Cambria" pitchFamily="34" charset="-120"/>
              </a:rPr>
              <a:t>Four questions that sum up three weeks</a:t>
            </a:r>
            <a:endParaRPr lang="en-US" sz="3400" dirty="0"/>
          </a:p>
        </p:txBody>
      </p:sp>
      <p:sp>
        <p:nvSpPr>
          <p:cNvPr id="4" name="Shape 2"/>
          <p:cNvSpPr/>
          <p:nvPr/>
        </p:nvSpPr>
        <p:spPr>
          <a:xfrm>
            <a:off x="548640" y="1874520"/>
            <a:ext cx="5449824" cy="1783080"/>
          </a:xfrm>
          <a:prstGeom prst="roundRect">
            <a:avLst>
              <a:gd name="adj" fmla="val 3590"/>
            </a:avLst>
          </a:prstGeom>
          <a:solidFill>
            <a:srgbClr val="2A3442"/>
          </a:solidFill>
          <a:ln/>
        </p:spPr>
      </p:sp>
      <p:sp>
        <p:nvSpPr>
          <p:cNvPr id="5" name="Shape 3"/>
          <p:cNvSpPr/>
          <p:nvPr/>
        </p:nvSpPr>
        <p:spPr>
          <a:xfrm>
            <a:off x="804672" y="2093976"/>
            <a:ext cx="384048" cy="384048"/>
          </a:xfrm>
          <a:prstGeom prst="ellipse">
            <a:avLst/>
          </a:prstGeom>
          <a:solidFill>
            <a:srgbClr val="3FB3AC"/>
          </a:solidFill>
          <a:ln/>
        </p:spPr>
      </p:sp>
      <p:sp>
        <p:nvSpPr>
          <p:cNvPr id="6" name="Text 4"/>
          <p:cNvSpPr txBox="1"/>
          <p:nvPr/>
        </p:nvSpPr>
        <p:spPr>
          <a:xfrm>
            <a:off x="804672" y="2093976"/>
            <a:ext cx="384048" cy="384048"/>
          </a:xfrm>
          <a:prstGeom prst="rect">
            <a:avLst/>
          </a:prstGeom>
          <a:noFill/>
          <a:ln/>
        </p:spPr>
        <p:txBody>
          <a:bodyPr wrap="square" lIns="0" tIns="0" rIns="0" bIns="0" rtlCol="0" anchor="ctr"/>
          <a:lstStyle/>
          <a:p>
            <a:pPr algn="ctr" indent="0" marL="0">
              <a:buNone/>
            </a:pPr>
            <a:r>
              <a:rPr lang="en-US" sz="1300" b="1" dirty="0">
                <a:solidFill>
                  <a:srgbClr val="1D2433"/>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35024" y="2057400"/>
            <a:ext cx="4407408" cy="512064"/>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Calibri" pitchFamily="34" charset="0"/>
                <a:ea typeface="Calibri" pitchFamily="34" charset="-122"/>
                <a:cs typeface="Calibri" pitchFamily="34" charset="-120"/>
              </a:rPr>
              <a:t>Why may the Order Service know a product_id but not read the products table?</a:t>
            </a:r>
            <a:endParaRPr lang="en-US" sz="1300" dirty="0"/>
          </a:p>
        </p:txBody>
      </p:sp>
      <p:sp>
        <p:nvSpPr>
          <p:cNvPr id="8" name="Text 6"/>
          <p:cNvSpPr txBox="1"/>
          <p:nvPr/>
        </p:nvSpPr>
        <p:spPr>
          <a:xfrm>
            <a:off x="804672" y="2660904"/>
            <a:ext cx="4937760" cy="877824"/>
          </a:xfrm>
          <a:prstGeom prst="rect">
            <a:avLst/>
          </a:prstGeom>
          <a:noFill/>
          <a:ln/>
        </p:spPr>
        <p:txBody>
          <a:bodyPr wrap="square" lIns="0" tIns="0" rIns="0" bIns="0" rtlCol="0" anchor="t"/>
          <a:lstStyle/>
          <a:p>
            <a:pPr algn="l" indent="0" marL="0">
              <a:lnSpc>
                <a:spcPct val="118000"/>
              </a:lnSpc>
              <a:buNone/>
            </a:pPr>
            <a:r>
              <a:rPr lang="en-US" sz="1150" dirty="0">
                <a:solidFill>
                  <a:srgbClr val="B8C6D4"/>
                </a:solidFill>
                <a:latin typeface="Calibri" pitchFamily="34" charset="0"/>
                <a:ea typeface="Calibri" pitchFamily="34" charset="-122"/>
                <a:cs typeface="Calibri" pitchFamily="34" charset="-120"/>
              </a:rPr>
              <a:t>Because the id is part of the Product Service’s published contract and the table is not. A contract can be kept stable on purpose; a table must stay free to change.</a:t>
            </a:r>
            <a:endParaRPr lang="en-US" sz="1150" dirty="0"/>
          </a:p>
        </p:txBody>
      </p:sp>
      <p:sp>
        <p:nvSpPr>
          <p:cNvPr id="9" name="Shape 7"/>
          <p:cNvSpPr/>
          <p:nvPr/>
        </p:nvSpPr>
        <p:spPr>
          <a:xfrm>
            <a:off x="6190488" y="1874520"/>
            <a:ext cx="5449824" cy="1783080"/>
          </a:xfrm>
          <a:prstGeom prst="roundRect">
            <a:avLst>
              <a:gd name="adj" fmla="val 3590"/>
            </a:avLst>
          </a:prstGeom>
          <a:solidFill>
            <a:srgbClr val="2A3442"/>
          </a:solidFill>
          <a:ln/>
        </p:spPr>
      </p:sp>
      <p:sp>
        <p:nvSpPr>
          <p:cNvPr id="10" name="Shape 8"/>
          <p:cNvSpPr/>
          <p:nvPr/>
        </p:nvSpPr>
        <p:spPr>
          <a:xfrm>
            <a:off x="6446520" y="2093976"/>
            <a:ext cx="384048" cy="384048"/>
          </a:xfrm>
          <a:prstGeom prst="ellipse">
            <a:avLst/>
          </a:prstGeom>
          <a:solidFill>
            <a:srgbClr val="C98A9B"/>
          </a:solidFill>
          <a:ln/>
        </p:spPr>
      </p:sp>
      <p:sp>
        <p:nvSpPr>
          <p:cNvPr id="11" name="Text 9"/>
          <p:cNvSpPr txBox="1"/>
          <p:nvPr/>
        </p:nvSpPr>
        <p:spPr>
          <a:xfrm>
            <a:off x="6446520" y="2093976"/>
            <a:ext cx="384048" cy="384048"/>
          </a:xfrm>
          <a:prstGeom prst="rect">
            <a:avLst/>
          </a:prstGeom>
          <a:noFill/>
          <a:ln/>
        </p:spPr>
        <p:txBody>
          <a:bodyPr wrap="square" lIns="0" tIns="0" rIns="0" bIns="0" rtlCol="0" anchor="ctr"/>
          <a:lstStyle/>
          <a:p>
            <a:pPr algn="ctr" indent="0" marL="0">
              <a:buNone/>
            </a:pPr>
            <a:r>
              <a:rPr lang="en-US" sz="1300" b="1" dirty="0">
                <a:solidFill>
                  <a:srgbClr val="1D2433"/>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76872" y="2057400"/>
            <a:ext cx="4407408" cy="512064"/>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Calibri" pitchFamily="34" charset="0"/>
                <a:ea typeface="Calibri" pitchFamily="34" charset="-122"/>
                <a:cs typeface="Calibri" pitchFamily="34" charset="-120"/>
              </a:rPr>
              <a:t>Your call to reserve stock timed out. Do you retry?</a:t>
            </a:r>
            <a:endParaRPr lang="en-US" sz="1300" dirty="0"/>
          </a:p>
        </p:txBody>
      </p:sp>
      <p:sp>
        <p:nvSpPr>
          <p:cNvPr id="13" name="Text 11"/>
          <p:cNvSpPr txBox="1"/>
          <p:nvPr/>
        </p:nvSpPr>
        <p:spPr>
          <a:xfrm>
            <a:off x="6446520" y="2660904"/>
            <a:ext cx="4937760" cy="877824"/>
          </a:xfrm>
          <a:prstGeom prst="rect">
            <a:avLst/>
          </a:prstGeom>
          <a:noFill/>
          <a:ln/>
        </p:spPr>
        <p:txBody>
          <a:bodyPr wrap="square" lIns="0" tIns="0" rIns="0" bIns="0" rtlCol="0" anchor="t"/>
          <a:lstStyle/>
          <a:p>
            <a:pPr algn="l" indent="0" marL="0">
              <a:lnSpc>
                <a:spcPct val="118000"/>
              </a:lnSpc>
              <a:buNone/>
            </a:pPr>
            <a:r>
              <a:rPr lang="en-US" sz="1150" dirty="0">
                <a:solidFill>
                  <a:srgbClr val="B8C6D4"/>
                </a:solidFill>
                <a:latin typeface="Calibri" pitchFamily="34" charset="0"/>
                <a:ea typeface="Calibri" pitchFamily="34" charset="-122"/>
                <a:cs typeface="Calibri" pitchFamily="34" charset="-120"/>
              </a:rPr>
              <a:t>No. The request may have been applied and the timeout cannot tell you. Fail the order and make the whole operation retryable — or make the operation idempotent with a key, which is what week 4 does for event consumers.</a:t>
            </a:r>
            <a:endParaRPr lang="en-US" sz="1150" dirty="0"/>
          </a:p>
        </p:txBody>
      </p:sp>
      <p:sp>
        <p:nvSpPr>
          <p:cNvPr id="14" name="Shape 12"/>
          <p:cNvSpPr/>
          <p:nvPr/>
        </p:nvSpPr>
        <p:spPr>
          <a:xfrm>
            <a:off x="548640" y="3840480"/>
            <a:ext cx="5449824" cy="1783080"/>
          </a:xfrm>
          <a:prstGeom prst="roundRect">
            <a:avLst>
              <a:gd name="adj" fmla="val 3590"/>
            </a:avLst>
          </a:prstGeom>
          <a:solidFill>
            <a:srgbClr val="2A3442"/>
          </a:solidFill>
          <a:ln/>
        </p:spPr>
      </p:sp>
      <p:sp>
        <p:nvSpPr>
          <p:cNvPr id="15" name="Shape 13"/>
          <p:cNvSpPr/>
          <p:nvPr/>
        </p:nvSpPr>
        <p:spPr>
          <a:xfrm>
            <a:off x="804672" y="4059936"/>
            <a:ext cx="384048" cy="384048"/>
          </a:xfrm>
          <a:prstGeom prst="ellipse">
            <a:avLst/>
          </a:prstGeom>
          <a:solidFill>
            <a:srgbClr val="8FB861"/>
          </a:solidFill>
          <a:ln/>
        </p:spPr>
      </p:sp>
      <p:sp>
        <p:nvSpPr>
          <p:cNvPr id="16" name="Text 14"/>
          <p:cNvSpPr txBox="1"/>
          <p:nvPr/>
        </p:nvSpPr>
        <p:spPr>
          <a:xfrm>
            <a:off x="804672" y="4059936"/>
            <a:ext cx="384048" cy="384048"/>
          </a:xfrm>
          <a:prstGeom prst="rect">
            <a:avLst/>
          </a:prstGeom>
          <a:noFill/>
          <a:ln/>
        </p:spPr>
        <p:txBody>
          <a:bodyPr wrap="square" lIns="0" tIns="0" rIns="0" bIns="0" rtlCol="0" anchor="ctr"/>
          <a:lstStyle/>
          <a:p>
            <a:pPr algn="ctr" indent="0" marL="0">
              <a:buNone/>
            </a:pPr>
            <a:r>
              <a:rPr lang="en-US" sz="1300" b="1" dirty="0">
                <a:solidFill>
                  <a:srgbClr val="1D2433"/>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35024" y="4023360"/>
            <a:ext cx="4407408" cy="512064"/>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Calibri" pitchFamily="34" charset="0"/>
                <a:ea typeface="Calibri" pitchFamily="34" charset="-122"/>
                <a:cs typeface="Calibri" pitchFamily="34" charset="-120"/>
              </a:rPr>
              <a:t>Why is a 404 not a transient failure?</a:t>
            </a:r>
            <a:endParaRPr lang="en-US" sz="1300" dirty="0"/>
          </a:p>
        </p:txBody>
      </p:sp>
      <p:sp>
        <p:nvSpPr>
          <p:cNvPr id="18" name="Text 16"/>
          <p:cNvSpPr txBox="1"/>
          <p:nvPr/>
        </p:nvSpPr>
        <p:spPr>
          <a:xfrm>
            <a:off x="804672" y="4626864"/>
            <a:ext cx="4937760" cy="877824"/>
          </a:xfrm>
          <a:prstGeom prst="rect">
            <a:avLst/>
          </a:prstGeom>
          <a:noFill/>
          <a:ln/>
        </p:spPr>
        <p:txBody>
          <a:bodyPr wrap="square" lIns="0" tIns="0" rIns="0" bIns="0" rtlCol="0" anchor="t"/>
          <a:lstStyle/>
          <a:p>
            <a:pPr algn="l" indent="0" marL="0">
              <a:lnSpc>
                <a:spcPct val="118000"/>
              </a:lnSpc>
              <a:buNone/>
            </a:pPr>
            <a:r>
              <a:rPr lang="en-US" sz="1150" dirty="0">
                <a:solidFill>
                  <a:srgbClr val="B8C6D4"/>
                </a:solidFill>
                <a:latin typeface="Calibri" pitchFamily="34" charset="0"/>
                <a:ea typeface="Calibri" pitchFamily="34" charset="-122"/>
                <a:cs typeface="Calibri" pitchFamily="34" charset="-120"/>
              </a:rPr>
              <a:t>Transient means the same request might succeed if repeated, and a 404 never will. Retrying burns the caller’s budget, and counting 4xx towards a circuit breaker lets bad clients take down a healthy service.</a:t>
            </a:r>
            <a:endParaRPr lang="en-US" sz="1150" dirty="0"/>
          </a:p>
        </p:txBody>
      </p:sp>
      <p:sp>
        <p:nvSpPr>
          <p:cNvPr id="19" name="Shape 17"/>
          <p:cNvSpPr/>
          <p:nvPr/>
        </p:nvSpPr>
        <p:spPr>
          <a:xfrm>
            <a:off x="6190488" y="3840480"/>
            <a:ext cx="5449824" cy="1783080"/>
          </a:xfrm>
          <a:prstGeom prst="roundRect">
            <a:avLst>
              <a:gd name="adj" fmla="val 3590"/>
            </a:avLst>
          </a:prstGeom>
          <a:solidFill>
            <a:srgbClr val="2A3442"/>
          </a:solidFill>
          <a:ln/>
        </p:spPr>
      </p:sp>
      <p:sp>
        <p:nvSpPr>
          <p:cNvPr id="20" name="Shape 18"/>
          <p:cNvSpPr/>
          <p:nvPr/>
        </p:nvSpPr>
        <p:spPr>
          <a:xfrm>
            <a:off x="6446520" y="4059936"/>
            <a:ext cx="384048" cy="384048"/>
          </a:xfrm>
          <a:prstGeom prst="ellipse">
            <a:avLst/>
          </a:prstGeom>
          <a:solidFill>
            <a:srgbClr val="E0A052"/>
          </a:solidFill>
          <a:ln/>
        </p:spPr>
      </p:sp>
      <p:sp>
        <p:nvSpPr>
          <p:cNvPr id="21" name="Text 19"/>
          <p:cNvSpPr txBox="1"/>
          <p:nvPr/>
        </p:nvSpPr>
        <p:spPr>
          <a:xfrm>
            <a:off x="6446520" y="4059936"/>
            <a:ext cx="384048" cy="384048"/>
          </a:xfrm>
          <a:prstGeom prst="rect">
            <a:avLst/>
          </a:prstGeom>
          <a:noFill/>
          <a:ln/>
        </p:spPr>
        <p:txBody>
          <a:bodyPr wrap="square" lIns="0" tIns="0" rIns="0" bIns="0" rtlCol="0" anchor="ctr"/>
          <a:lstStyle/>
          <a:p>
            <a:pPr algn="ctr" indent="0" marL="0">
              <a:buNone/>
            </a:pPr>
            <a:r>
              <a:rPr lang="en-US" sz="1300" b="1" dirty="0">
                <a:solidFill>
                  <a:srgbClr val="1D2433"/>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76872" y="4023360"/>
            <a:ext cx="4407408" cy="512064"/>
          </a:xfrm>
          <a:prstGeom prst="rect">
            <a:avLst/>
          </a:prstGeom>
          <a:noFill/>
          <a:ln/>
        </p:spPr>
        <p:txBody>
          <a:bodyPr wrap="square" lIns="0" tIns="0" rIns="0" bIns="0" rtlCol="0" anchor="t"/>
          <a:lstStyle/>
          <a:p>
            <a:pPr algn="l" indent="0" marL="0">
              <a:lnSpc>
                <a:spcPct val="112000"/>
              </a:lnSpc>
              <a:buNone/>
            </a:pPr>
            <a:r>
              <a:rPr lang="en-US" sz="1300" b="1" dirty="0">
                <a:solidFill>
                  <a:srgbClr val="FFFFFF"/>
                </a:solidFill>
                <a:latin typeface="Calibri" pitchFamily="34" charset="0"/>
                <a:ea typeface="Calibri" pitchFamily="34" charset="-122"/>
                <a:cs typeface="Calibri" pitchFamily="34" charset="-120"/>
              </a:rPr>
              <a:t>Why does the price get copied onto the order line?</a:t>
            </a:r>
            <a:endParaRPr lang="en-US" sz="1300" dirty="0"/>
          </a:p>
        </p:txBody>
      </p:sp>
      <p:sp>
        <p:nvSpPr>
          <p:cNvPr id="23" name="Text 21"/>
          <p:cNvSpPr txBox="1"/>
          <p:nvPr/>
        </p:nvSpPr>
        <p:spPr>
          <a:xfrm>
            <a:off x="6446520" y="4626864"/>
            <a:ext cx="4937760" cy="877824"/>
          </a:xfrm>
          <a:prstGeom prst="rect">
            <a:avLst/>
          </a:prstGeom>
          <a:noFill/>
          <a:ln/>
        </p:spPr>
        <p:txBody>
          <a:bodyPr wrap="square" lIns="0" tIns="0" rIns="0" bIns="0" rtlCol="0" anchor="t"/>
          <a:lstStyle/>
          <a:p>
            <a:pPr algn="l" indent="0" marL="0">
              <a:lnSpc>
                <a:spcPct val="118000"/>
              </a:lnSpc>
              <a:buNone/>
            </a:pPr>
            <a:r>
              <a:rPr lang="en-US" sz="1150" dirty="0">
                <a:solidFill>
                  <a:srgbClr val="B8C6D4"/>
                </a:solidFill>
                <a:latin typeface="Calibri" pitchFamily="34" charset="0"/>
                <a:ea typeface="Calibri" pitchFamily="34" charset="-122"/>
                <a:cs typeface="Calibri" pitchFamily="34" charset="-120"/>
              </a:rPr>
              <a:t>Not because there is no join — because a catalogue price change must never alter what a customer already agreed to pay. The domain would require the copy even if the join existed.</a:t>
            </a:r>
            <a:endParaRPr lang="en-US" sz="1150" dirty="0"/>
          </a:p>
        </p:txBody>
      </p:sp>
      <p:sp>
        <p:nvSpPr>
          <p:cNvPr id="24" name="Text 22"/>
          <p:cNvSpPr txBox="1"/>
          <p:nvPr/>
        </p:nvSpPr>
        <p:spPr>
          <a:xfrm>
            <a:off x="548640" y="5870448"/>
            <a:ext cx="11094415" cy="274320"/>
          </a:xfrm>
          <a:prstGeom prst="rect">
            <a:avLst/>
          </a:prstGeom>
          <a:noFill/>
          <a:ln/>
        </p:spPr>
        <p:txBody>
          <a:bodyPr wrap="square" lIns="0" tIns="0" rIns="0" bIns="0" rtlCol="0" anchor="t"/>
          <a:lstStyle/>
          <a:p>
            <a:pPr algn="ctr" indent="0" marL="0">
              <a:lnSpc>
                <a:spcPct val="112000"/>
              </a:lnSpc>
              <a:buNone/>
            </a:pPr>
            <a:r>
              <a:rPr lang="en-US" sz="1100" dirty="0">
                <a:solidFill>
                  <a:srgbClr val="8494A5"/>
                </a:solidFill>
                <a:latin typeface="Calibri" pitchFamily="34" charset="0"/>
                <a:ea typeface="Calibri" pitchFamily="34" charset="-122"/>
                <a:cs typeface="Calibri" pitchFamily="34" charset="-120"/>
              </a:rPr>
              <a:t>Repository:  Online-Shop-Microservices   ·   README.md, docs/api/ and docs/notes/week-02.md, week-03.md hold the long-form versions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Shop Microservices - Weeks 1-3 Review</dc:title>
  <dc:subject>PptxGenJS Presentation</dc:subject>
  <dc:creator>FullStack-AITech</dc:creator>
  <cp:lastModifiedBy>FullStack-AITech</cp:lastModifiedBy>
  <cp:revision>1</cp:revision>
  <dcterms:created xsi:type="dcterms:W3CDTF">2026-09-22T07:00:07Z</dcterms:created>
  <dcterms:modified xsi:type="dcterms:W3CDTF">2026-09-22T07:00:07Z</dcterms:modified>
</cp:coreProperties>
</file>